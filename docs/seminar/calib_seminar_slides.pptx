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9" d="100"/>
          <a:sy n="99" d="100"/>
        </p:scale>
        <p:origin x="612"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0BCD77-C690-4A83-A199-20AED12B3497}" type="datetimeFigureOut">
              <a:rPr kumimoji="1" lang="ja-JP" altLang="en-US" smtClean="0"/>
              <a:t>2026/9/22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13D129-09C4-4FB4-B7A0-E8F1ADC262AB}" type="slidenum">
              <a:rPr kumimoji="1" lang="ja-JP" altLang="en-US" smtClean="0"/>
              <a:t>‹#›</a:t>
            </a:fld>
            <a:endParaRPr kumimoji="1" lang="ja-JP" altLang="en-US"/>
          </a:p>
        </p:txBody>
      </p:sp>
    </p:spTree>
    <p:extLst>
      <p:ext uri="{BB962C8B-B14F-4D97-AF65-F5344CB8AC3E}">
        <p14:creationId xmlns:p14="http://schemas.microsoft.com/office/powerpoint/2010/main" val="109987080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a:t>
            </a:r>
            <a:r>
              <a:rPr kumimoji="1" lang="ja-JP" altLang="en-US"/>
              <a:t>開始の挨拶</a:t>
            </a:r>
            <a:r>
              <a:rPr kumimoji="1" lang="en-US" altLang="ja-JP"/>
              <a:t>】</a:t>
            </a:r>
            <a:r>
              <a:rPr kumimoji="1" lang="ja-JP" altLang="en-US"/>
              <a:t>カメラ較正ツール </a:t>
            </a:r>
            <a:r>
              <a:rPr kumimoji="1" lang="en-US" altLang="ja-JP"/>
              <a:t>calib </a:t>
            </a:r>
            <a:r>
              <a:rPr kumimoji="1" lang="ja-JP" altLang="en-US"/>
              <a:t>を題材として、高品質な標本自動取得アルゴリズムと、</a:t>
            </a:r>
            <a:r>
              <a:rPr kumimoji="1" lang="en-US" altLang="ja-JP"/>
              <a:t>Windows / Linux </a:t>
            </a:r>
            <a:r>
              <a:rPr kumimoji="1" lang="ja-JP" altLang="en-US"/>
              <a:t>それぞれの低レイヤカメラキャプチャ実装を詳しく解説します。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1</a:t>
            </a:fld>
            <a:endParaRPr kumimoji="1" lang="ja-JP" altLang="en-US"/>
          </a:p>
        </p:txBody>
      </p:sp>
    </p:spTree>
    <p:extLst>
      <p:ext uri="{BB962C8B-B14F-4D97-AF65-F5344CB8AC3E}">
        <p14:creationId xmlns:p14="http://schemas.microsoft.com/office/powerpoint/2010/main" val="3851160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本日の</a:t>
            </a:r>
            <a:r>
              <a:rPr kumimoji="1" lang="en-US" altLang="ja-JP"/>
              <a:t>2</a:t>
            </a:r>
            <a:r>
              <a:rPr kumimoji="1" lang="ja-JP" altLang="en-US"/>
              <a:t>時間の構成です。前半でアルゴリズムと数学的背景、後半で </a:t>
            </a:r>
            <a:r>
              <a:rPr kumimoji="1" lang="en-US" altLang="ja-JP"/>
              <a:t>Windows </a:t>
            </a:r>
            <a:r>
              <a:rPr kumimoji="1" lang="ja-JP" altLang="en-US"/>
              <a:t>と </a:t>
            </a:r>
            <a:r>
              <a:rPr kumimoji="1" lang="en-US" altLang="ja-JP"/>
              <a:t>Linux </a:t>
            </a:r>
            <a:r>
              <a:rPr kumimoji="1" lang="ja-JP" altLang="en-US"/>
              <a:t>のネイティブカメラキャプチャの神髄を学びます。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2</a:t>
            </a:fld>
            <a:endParaRPr kumimoji="1" lang="ja-JP" altLang="en-US"/>
          </a:p>
        </p:txBody>
      </p:sp>
    </p:spTree>
    <p:extLst>
      <p:ext uri="{BB962C8B-B14F-4D97-AF65-F5344CB8AC3E}">
        <p14:creationId xmlns:p14="http://schemas.microsoft.com/office/powerpoint/2010/main" val="2986013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プラットフォーム固有の型を </a:t>
            </a:r>
            <a:r>
              <a:rPr kumimoji="1" lang="en-US" altLang="ja-JP"/>
              <a:t>UI </a:t>
            </a:r>
            <a:r>
              <a:rPr kumimoji="1" lang="ja-JP" altLang="en-US"/>
              <a:t>や描画ループに露出させず、</a:t>
            </a:r>
            <a:r>
              <a:rPr kumimoji="1" lang="en-US" altLang="ja-JP"/>
              <a:t>CPU </a:t>
            </a:r>
            <a:r>
              <a:rPr kumimoji="1" lang="ja-JP" altLang="en-US"/>
              <a:t>上の </a:t>
            </a:r>
            <a:r>
              <a:rPr kumimoji="1" lang="en-US" altLang="ja-JP"/>
              <a:t>BGRA </a:t>
            </a:r>
            <a:r>
              <a:rPr kumimoji="1" lang="ja-JP" altLang="en-US"/>
              <a:t>バッファを経由して </a:t>
            </a:r>
            <a:r>
              <a:rPr kumimoji="1" lang="en-US" altLang="ja-JP"/>
              <a:t>OpenGL </a:t>
            </a:r>
            <a:r>
              <a:rPr kumimoji="1" lang="ja-JP" altLang="en-US"/>
              <a:t>テクスチャへ転送する疎結合設計です。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3</a:t>
            </a:fld>
            <a:endParaRPr kumimoji="1" lang="ja-JP" altLang="en-US"/>
          </a:p>
        </p:txBody>
      </p:sp>
    </p:spTree>
    <p:extLst>
      <p:ext uri="{BB962C8B-B14F-4D97-AF65-F5344CB8AC3E}">
        <p14:creationId xmlns:p14="http://schemas.microsoft.com/office/powerpoint/2010/main" val="1282052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第</a:t>
            </a:r>
            <a:r>
              <a:rPr kumimoji="1" lang="en-US" altLang="ja-JP"/>
              <a:t>1</a:t>
            </a:r>
            <a:r>
              <a:rPr kumimoji="1" lang="ja-JP" altLang="en-US"/>
              <a:t>部に入ります。キャリブレーションの品質と作業効率を飛躍的に高める自動取得の仕組みです。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4</a:t>
            </a:fld>
            <a:endParaRPr kumimoji="1" lang="ja-JP" altLang="en-US"/>
          </a:p>
        </p:txBody>
      </p:sp>
    </p:spTree>
    <p:extLst>
      <p:ext uri="{BB962C8B-B14F-4D97-AF65-F5344CB8AC3E}">
        <p14:creationId xmlns:p14="http://schemas.microsoft.com/office/powerpoint/2010/main" val="1042122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ChArUco Board </a:t>
            </a:r>
            <a:r>
              <a:rPr kumimoji="1" lang="ja-JP" altLang="en-US"/>
              <a:t>を採用することで、周辺部の歪みパラメータの推定精度が飛躍的に向上します。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5</a:t>
            </a:fld>
            <a:endParaRPr kumimoji="1" lang="ja-JP" altLang="en-US"/>
          </a:p>
        </p:txBody>
      </p:sp>
    </p:spTree>
    <p:extLst>
      <p:ext uri="{BB962C8B-B14F-4D97-AF65-F5344CB8AC3E}">
        <p14:creationId xmlns:p14="http://schemas.microsoft.com/office/powerpoint/2010/main" val="1803782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a:t>
            </a:r>
            <a:r>
              <a:rPr kumimoji="1" lang="en-US" altLang="ja-JP"/>
              <a:t>2</a:t>
            </a:r>
            <a:r>
              <a:rPr kumimoji="1" lang="ja-JP" altLang="en-US"/>
              <a:t>大課題をアルゴリズムで解決するのが、本日のハイライトである自動取得アルゴリズムです。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6</a:t>
            </a:fld>
            <a:endParaRPr kumimoji="1" lang="ja-JP" altLang="en-US"/>
          </a:p>
        </p:txBody>
      </p:sp>
    </p:spTree>
    <p:extLst>
      <p:ext uri="{BB962C8B-B14F-4D97-AF65-F5344CB8AC3E}">
        <p14:creationId xmlns:p14="http://schemas.microsoft.com/office/powerpoint/2010/main" val="4266121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作業者は画面を見ずに、カメラの前でボードを色々な姿勢で止めて音を聞くだけで較正が完了します。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7</a:t>
            </a:fld>
            <a:endParaRPr kumimoji="1" lang="ja-JP" altLang="en-US"/>
          </a:p>
        </p:txBody>
      </p:sp>
    </p:spTree>
    <p:extLst>
      <p:ext uri="{BB962C8B-B14F-4D97-AF65-F5344CB8AC3E}">
        <p14:creationId xmlns:p14="http://schemas.microsoft.com/office/powerpoint/2010/main" val="3988554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直前フレームと現在のフレームの共通 </a:t>
            </a:r>
            <a:r>
              <a:rPr kumimoji="1" lang="en-US" altLang="ja-JP"/>
              <a:t>ID </a:t>
            </a:r>
            <a:r>
              <a:rPr kumimoji="1" lang="ja-JP" altLang="en-US"/>
              <a:t>を照合することで、ボードの移動による </a:t>
            </a:r>
            <a:r>
              <a:rPr kumimoji="1" lang="en-US" altLang="ja-JP"/>
              <a:t>ID </a:t>
            </a:r>
            <a:r>
              <a:rPr kumimoji="1" lang="ja-JP" altLang="en-US"/>
              <a:t>の入れ替わりにも頑健に対応します。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8</a:t>
            </a:fld>
            <a:endParaRPr kumimoji="1" lang="ja-JP" altLang="en-US"/>
          </a:p>
        </p:txBody>
      </p:sp>
    </p:spTree>
    <p:extLst>
      <p:ext uri="{BB962C8B-B14F-4D97-AF65-F5344CB8AC3E}">
        <p14:creationId xmlns:p14="http://schemas.microsoft.com/office/powerpoint/2010/main" val="202493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cv::moments </a:t>
            </a:r>
            <a:r>
              <a:rPr kumimoji="1" lang="ja-JP" altLang="en-US"/>
              <a:t>を使って得られる重心、慣性半径、主軸角度の</a:t>
            </a:r>
            <a:r>
              <a:rPr kumimoji="1" lang="en-US" altLang="ja-JP"/>
              <a:t>3</a:t>
            </a:r>
            <a:r>
              <a:rPr kumimoji="1" lang="ja-JP" altLang="en-US"/>
              <a:t>つの値でボードの姿勢を要約します。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9</a:t>
            </a:fld>
            <a:endParaRPr kumimoji="1" lang="ja-JP" altLang="en-US"/>
          </a:p>
        </p:txBody>
      </p:sp>
    </p:spTree>
    <p:extLst>
      <p:ext uri="{BB962C8B-B14F-4D97-AF65-F5344CB8AC3E}">
        <p14:creationId xmlns:p14="http://schemas.microsoft.com/office/powerpoint/2010/main" val="1544940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点の総数 </a:t>
            </a:r>
            <a:r>
              <a:rPr kumimoji="1" lang="en-US" altLang="ja-JP"/>
              <a:t>m00 </a:t>
            </a:r>
            <a:r>
              <a:rPr kumimoji="1" lang="ja-JP" altLang="en-US"/>
              <a:t>で正規化された </a:t>
            </a:r>
            <a:r>
              <a:rPr kumimoji="1" lang="en-US" altLang="ja-JP"/>
              <a:t>2 </a:t>
            </a:r>
            <a:r>
              <a:rPr kumimoji="1" lang="ja-JP" altLang="en-US"/>
              <a:t>次中心モーメントから、慣性半径と傾き角度を算出しています。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10</a:t>
            </a:fld>
            <a:endParaRPr kumimoji="1" lang="ja-JP" altLang="en-US"/>
          </a:p>
        </p:txBody>
      </p:sp>
    </p:spTree>
    <p:extLst>
      <p:ext uri="{BB962C8B-B14F-4D97-AF65-F5344CB8AC3E}">
        <p14:creationId xmlns:p14="http://schemas.microsoft.com/office/powerpoint/2010/main" val="13503676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3</a:t>
            </a:r>
            <a:r>
              <a:rPr kumimoji="1" lang="ja-JP" altLang="en-US"/>
              <a:t>つの幾何変化のいずれかが閾値を超えれば </a:t>
            </a:r>
            <a:r>
              <a:rPr kumimoji="1" lang="en-US" altLang="ja-JP"/>
              <a:t>OK </a:t>
            </a:r>
            <a:r>
              <a:rPr kumimoji="1" lang="ja-JP" altLang="en-US"/>
              <a:t>とする </a:t>
            </a:r>
            <a:r>
              <a:rPr kumimoji="1" lang="en-US" altLang="ja-JP"/>
              <a:t>OR </a:t>
            </a:r>
            <a:r>
              <a:rPr kumimoji="1" lang="ja-JP" altLang="en-US"/>
              <a:t>条件が、直感的な操作感を生み出しています。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11</a:t>
            </a:fld>
            <a:endParaRPr kumimoji="1" lang="ja-JP" altLang="en-US"/>
          </a:p>
        </p:txBody>
      </p:sp>
    </p:spTree>
    <p:extLst>
      <p:ext uri="{BB962C8B-B14F-4D97-AF65-F5344CB8AC3E}">
        <p14:creationId xmlns:p14="http://schemas.microsoft.com/office/powerpoint/2010/main" val="35750041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Beep </a:t>
            </a:r>
            <a:r>
              <a:rPr kumimoji="1" lang="ja-JP" altLang="en-US"/>
              <a:t>を別スレッドで鳴らすことで、</a:t>
            </a:r>
            <a:r>
              <a:rPr kumimoji="1" lang="en-US" altLang="ja-JP"/>
              <a:t>UI </a:t>
            </a:r>
            <a:r>
              <a:rPr kumimoji="1" lang="ja-JP" altLang="en-US"/>
              <a:t>や描画ループのフレーム落ちを防いでいます。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12</a:t>
            </a:fld>
            <a:endParaRPr kumimoji="1" lang="ja-JP" altLang="en-US"/>
          </a:p>
        </p:txBody>
      </p:sp>
    </p:spTree>
    <p:extLst>
      <p:ext uri="{BB962C8B-B14F-4D97-AF65-F5344CB8AC3E}">
        <p14:creationId xmlns:p14="http://schemas.microsoft.com/office/powerpoint/2010/main" val="30686594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第</a:t>
            </a:r>
            <a:r>
              <a:rPr kumimoji="1" lang="en-US" altLang="ja-JP"/>
              <a:t>2</a:t>
            </a:r>
            <a:r>
              <a:rPr kumimoji="1" lang="ja-JP" altLang="en-US"/>
              <a:t>部に入ります。</a:t>
            </a:r>
            <a:r>
              <a:rPr kumimoji="1" lang="en-US" altLang="ja-JP"/>
              <a:t>Windows </a:t>
            </a:r>
            <a:r>
              <a:rPr kumimoji="1" lang="ja-JP" altLang="en-US"/>
              <a:t>ネイティブのマルチメディア基盤である </a:t>
            </a:r>
            <a:r>
              <a:rPr kumimoji="1" lang="en-US" altLang="ja-JP"/>
              <a:t>Media Foundation </a:t>
            </a:r>
            <a:r>
              <a:rPr kumimoji="1" lang="ja-JP" altLang="en-US"/>
              <a:t>の詳細解説です。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13</a:t>
            </a:fld>
            <a:endParaRPr kumimoji="1" lang="ja-JP" altLang="en-US"/>
          </a:p>
        </p:txBody>
      </p:sp>
    </p:spTree>
    <p:extLst>
      <p:ext uri="{BB962C8B-B14F-4D97-AF65-F5344CB8AC3E}">
        <p14:creationId xmlns:p14="http://schemas.microsoft.com/office/powerpoint/2010/main" val="15606343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教材としても、</a:t>
            </a:r>
            <a:r>
              <a:rPr kumimoji="1" lang="en-US" altLang="ja-JP"/>
              <a:t>Windows </a:t>
            </a:r>
            <a:r>
              <a:rPr kumimoji="1" lang="ja-JP" altLang="en-US"/>
              <a:t>の本格的なマルチメディア </a:t>
            </a:r>
            <a:r>
              <a:rPr kumimoji="1" lang="en-US" altLang="ja-JP"/>
              <a:t>API </a:t>
            </a:r>
            <a:r>
              <a:rPr kumimoji="1" lang="ja-JP" altLang="en-US"/>
              <a:t>の扱い方を学べる貴重なサンプルになっています。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14</a:t>
            </a:fld>
            <a:endParaRPr kumimoji="1" lang="ja-JP" altLang="en-US"/>
          </a:p>
        </p:txBody>
      </p:sp>
    </p:spTree>
    <p:extLst>
      <p:ext uri="{BB962C8B-B14F-4D97-AF65-F5344CB8AC3E}">
        <p14:creationId xmlns:p14="http://schemas.microsoft.com/office/powerpoint/2010/main" val="768322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MJPG</a:t>
            </a:r>
            <a:r>
              <a:rPr kumimoji="1" lang="ja-JP" altLang="en-US"/>
              <a:t>や</a:t>
            </a:r>
            <a:r>
              <a:rPr kumimoji="1" lang="en-US" altLang="ja-JP"/>
              <a:t>H264</a:t>
            </a:r>
            <a:r>
              <a:rPr kumimoji="1" lang="ja-JP" altLang="en-US"/>
              <a:t>の場合はデコーダとコンバータの</a:t>
            </a:r>
            <a:r>
              <a:rPr kumimoji="1" lang="en-US" altLang="ja-JP"/>
              <a:t>2</a:t>
            </a:r>
            <a:r>
              <a:rPr kumimoji="1" lang="ja-JP" altLang="en-US"/>
              <a:t>段、非圧縮の場合はコンバータの</a:t>
            </a:r>
            <a:r>
              <a:rPr kumimoji="1" lang="en-US" altLang="ja-JP"/>
              <a:t>1</a:t>
            </a:r>
            <a:r>
              <a:rPr kumimoji="1" lang="ja-JP" altLang="en-US"/>
              <a:t>段パイプラインになります。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15</a:t>
            </a:fld>
            <a:endParaRPr kumimoji="1" lang="ja-JP" altLang="en-US"/>
          </a:p>
        </p:txBody>
      </p:sp>
    </p:spTree>
    <p:extLst>
      <p:ext uri="{BB962C8B-B14F-4D97-AF65-F5344CB8AC3E}">
        <p14:creationId xmlns:p14="http://schemas.microsoft.com/office/powerpoint/2010/main" val="32424613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COM</a:t>
            </a:r>
            <a:r>
              <a:rPr kumimoji="1" lang="ja-JP" altLang="en-US"/>
              <a:t>の初期化と</a:t>
            </a:r>
            <a:r>
              <a:rPr kumimoji="1" lang="en-US" altLang="ja-JP"/>
              <a:t>Media Foundation</a:t>
            </a:r>
            <a:r>
              <a:rPr kumimoji="1" lang="ja-JP" altLang="en-US"/>
              <a:t>のシャットダウンはプロセスで</a:t>
            </a:r>
            <a:r>
              <a:rPr kumimoji="1" lang="en-US" altLang="ja-JP"/>
              <a:t>1</a:t>
            </a:r>
            <a:r>
              <a:rPr kumimoji="1" lang="ja-JP" altLang="en-US"/>
              <a:t>回だけ適切に行う必要があります。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16</a:t>
            </a:fld>
            <a:endParaRPr kumimoji="1" lang="ja-JP" altLang="en-US"/>
          </a:p>
        </p:txBody>
      </p:sp>
    </p:spTree>
    <p:extLst>
      <p:ext uri="{BB962C8B-B14F-4D97-AF65-F5344CB8AC3E}">
        <p14:creationId xmlns:p14="http://schemas.microsoft.com/office/powerpoint/2010/main" val="34452300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フォーマット列挙時に重い初期化を行わないのが、</a:t>
            </a:r>
            <a:r>
              <a:rPr kumimoji="1" lang="en-US" altLang="ja-JP"/>
              <a:t>UI </a:t>
            </a:r>
            <a:r>
              <a:rPr kumimoji="1" lang="ja-JP" altLang="en-US"/>
              <a:t>の軽快さを保つ決定的な工夫です。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17</a:t>
            </a:fld>
            <a:endParaRPr kumimoji="1" lang="ja-JP" altLang="en-US"/>
          </a:p>
        </p:txBody>
      </p:sp>
    </p:spTree>
    <p:extLst>
      <p:ext uri="{BB962C8B-B14F-4D97-AF65-F5344CB8AC3E}">
        <p14:creationId xmlns:p14="http://schemas.microsoft.com/office/powerpoint/2010/main" val="30060737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CODECAPI_AVLowLatencyMode </a:t>
            </a:r>
            <a:r>
              <a:rPr kumimoji="1" lang="ja-JP" altLang="en-US"/>
              <a:t>を設定することで、</a:t>
            </a:r>
            <a:r>
              <a:rPr kumimoji="1" lang="en-US" altLang="ja-JP"/>
              <a:t>Web</a:t>
            </a:r>
            <a:r>
              <a:rPr kumimoji="1" lang="ja-JP" altLang="en-US"/>
              <a:t>カメラの映像遅延が劇的に短縮されます。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18</a:t>
            </a:fld>
            <a:endParaRPr kumimoji="1" lang="ja-JP" altLang="en-US"/>
          </a:p>
        </p:txBody>
      </p:sp>
    </p:spTree>
    <p:extLst>
      <p:ext uri="{BB962C8B-B14F-4D97-AF65-F5344CB8AC3E}">
        <p14:creationId xmlns:p14="http://schemas.microsoft.com/office/powerpoint/2010/main" val="33171836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ストリームチェンジ処理を完璧に実装している点が、</a:t>
            </a:r>
            <a:r>
              <a:rPr kumimoji="1" lang="en-US" altLang="ja-JP"/>
              <a:t>CamMf </a:t>
            </a:r>
            <a:r>
              <a:rPr kumimoji="1" lang="ja-JP" altLang="en-US"/>
              <a:t>のコードの非常に高い堅牢性を支えています。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19</a:t>
            </a:fld>
            <a:endParaRPr kumimoji="1" lang="ja-JP" altLang="en-US"/>
          </a:p>
        </p:txBody>
      </p:sp>
    </p:spTree>
    <p:extLst>
      <p:ext uri="{BB962C8B-B14F-4D97-AF65-F5344CB8AC3E}">
        <p14:creationId xmlns:p14="http://schemas.microsoft.com/office/powerpoint/2010/main" val="5435537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MFCreateAlignedMemoryBuffer </a:t>
            </a:r>
            <a:r>
              <a:rPr kumimoji="1" lang="ja-JP" altLang="en-US"/>
              <a:t>を使うことで、ハードウェアが要求するアラインメントを確実に満たせます。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20</a:t>
            </a:fld>
            <a:endParaRPr kumimoji="1" lang="ja-JP" altLang="en-US"/>
          </a:p>
        </p:txBody>
      </p:sp>
    </p:spTree>
    <p:extLst>
      <p:ext uri="{BB962C8B-B14F-4D97-AF65-F5344CB8AC3E}">
        <p14:creationId xmlns:p14="http://schemas.microsoft.com/office/powerpoint/2010/main" val="4223903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排他制御には </a:t>
            </a:r>
            <a:r>
              <a:rPr kumimoji="1" lang="en-US" altLang="ja-JP"/>
              <a:t>std::mutex </a:t>
            </a:r>
            <a:r>
              <a:rPr kumimoji="1" lang="ja-JP" altLang="en-US"/>
              <a:t>を使い、最小限のクリティカルセクションで </a:t>
            </a:r>
            <a:r>
              <a:rPr kumimoji="1" lang="en-US" altLang="ja-JP"/>
              <a:t>memcpy </a:t>
            </a:r>
            <a:r>
              <a:rPr kumimoji="1" lang="ja-JP" altLang="en-US"/>
              <a:t>を行っています。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21</a:t>
            </a:fld>
            <a:endParaRPr kumimoji="1" lang="ja-JP" altLang="en-US"/>
          </a:p>
        </p:txBody>
      </p:sp>
    </p:spTree>
    <p:extLst>
      <p:ext uri="{BB962C8B-B14F-4D97-AF65-F5344CB8AC3E}">
        <p14:creationId xmlns:p14="http://schemas.microsoft.com/office/powerpoint/2010/main" val="16521966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第</a:t>
            </a:r>
            <a:r>
              <a:rPr kumimoji="1" lang="en-US" altLang="ja-JP"/>
              <a:t>3</a:t>
            </a:r>
            <a:r>
              <a:rPr kumimoji="1" lang="ja-JP" altLang="en-US"/>
              <a:t>部に入ります。</a:t>
            </a:r>
            <a:r>
              <a:rPr kumimoji="1" lang="en-US" altLang="ja-JP"/>
              <a:t>Linux / Raspberry Pi </a:t>
            </a:r>
            <a:r>
              <a:rPr kumimoji="1" lang="ja-JP" altLang="en-US"/>
              <a:t>環境における </a:t>
            </a:r>
            <a:r>
              <a:rPr kumimoji="1" lang="en-US" altLang="ja-JP"/>
              <a:t>libcamera </a:t>
            </a:r>
            <a:r>
              <a:rPr kumimoji="1" lang="ja-JP" altLang="en-US"/>
              <a:t>ネイティブ実装の解説です。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22</a:t>
            </a:fld>
            <a:endParaRPr kumimoji="1" lang="ja-JP" altLang="en-US"/>
          </a:p>
        </p:txBody>
      </p:sp>
    </p:spTree>
    <p:extLst>
      <p:ext uri="{BB962C8B-B14F-4D97-AF65-F5344CB8AC3E}">
        <p14:creationId xmlns:p14="http://schemas.microsoft.com/office/powerpoint/2010/main" val="1741977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Raspberry Pi 4 </a:t>
            </a:r>
            <a:r>
              <a:rPr kumimoji="1" lang="ja-JP" altLang="en-US"/>
              <a:t>や </a:t>
            </a:r>
            <a:r>
              <a:rPr kumimoji="1" lang="en-US" altLang="ja-JP"/>
              <a:t>5 </a:t>
            </a:r>
            <a:r>
              <a:rPr kumimoji="1" lang="ja-JP" altLang="en-US"/>
              <a:t>でカメラを扱う場合、</a:t>
            </a:r>
            <a:r>
              <a:rPr kumimoji="1" lang="en-US" altLang="ja-JP"/>
              <a:t>libcamera </a:t>
            </a:r>
            <a:r>
              <a:rPr kumimoji="1" lang="ja-JP" altLang="en-US"/>
              <a:t>ネイティブ対応が現在のデファクトスタンダードです。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23</a:t>
            </a:fld>
            <a:endParaRPr kumimoji="1" lang="ja-JP" altLang="en-US"/>
          </a:p>
        </p:txBody>
      </p:sp>
    </p:spTree>
    <p:extLst>
      <p:ext uri="{BB962C8B-B14F-4D97-AF65-F5344CB8AC3E}">
        <p14:creationId xmlns:p14="http://schemas.microsoft.com/office/powerpoint/2010/main" val="13193040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libcamera </a:t>
            </a:r>
            <a:r>
              <a:rPr kumimoji="1" lang="ja-JP" altLang="en-US"/>
              <a:t>の最大の特徴は、この </a:t>
            </a:r>
            <a:r>
              <a:rPr kumimoji="1" lang="en-US" altLang="ja-JP"/>
              <a:t>Request-Buffer </a:t>
            </a:r>
            <a:r>
              <a:rPr kumimoji="1" lang="ja-JP" altLang="en-US"/>
              <a:t>モデルによる完全な非同期パイプラインです。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24</a:t>
            </a:fld>
            <a:endParaRPr kumimoji="1" lang="ja-JP" altLang="en-US"/>
          </a:p>
        </p:txBody>
      </p:sp>
    </p:spTree>
    <p:extLst>
      <p:ext uri="{BB962C8B-B14F-4D97-AF65-F5344CB8AC3E}">
        <p14:creationId xmlns:p14="http://schemas.microsoft.com/office/powerpoint/2010/main" val="14172735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組込みボードでは、色変換をハードウェア（</a:t>
            </a:r>
            <a:r>
              <a:rPr kumimoji="1" lang="en-US" altLang="ja-JP"/>
              <a:t>ISP</a:t>
            </a:r>
            <a:r>
              <a:rPr kumimoji="1" lang="ja-JP" altLang="en-US"/>
              <a:t>）に任せられるかどうかが極めて重要です。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25</a:t>
            </a:fld>
            <a:endParaRPr kumimoji="1" lang="ja-JP" altLang="en-US"/>
          </a:p>
        </p:txBody>
      </p:sp>
    </p:spTree>
    <p:extLst>
      <p:ext uri="{BB962C8B-B14F-4D97-AF65-F5344CB8AC3E}">
        <p14:creationId xmlns:p14="http://schemas.microsoft.com/office/powerpoint/2010/main" val="8251787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物理メモリ直結の </a:t>
            </a:r>
            <a:r>
              <a:rPr kumimoji="1" lang="en-US" altLang="ja-JP"/>
              <a:t>DMA-BUF </a:t>
            </a:r>
            <a:r>
              <a:rPr kumimoji="1" lang="ja-JP" altLang="en-US"/>
              <a:t>を </a:t>
            </a:r>
            <a:r>
              <a:rPr kumimoji="1" lang="en-US" altLang="ja-JP"/>
              <a:t>mmap </a:t>
            </a:r>
            <a:r>
              <a:rPr kumimoji="1" lang="ja-JP" altLang="en-US"/>
              <a:t>することで、高フレームレートでも </a:t>
            </a:r>
            <a:r>
              <a:rPr kumimoji="1" lang="en-US" altLang="ja-JP"/>
              <a:t>CPU </a:t>
            </a:r>
            <a:r>
              <a:rPr kumimoji="1" lang="ja-JP" altLang="en-US"/>
              <a:t>に負荷をかけません。</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26</a:t>
            </a:fld>
            <a:endParaRPr kumimoji="1" lang="ja-JP" altLang="en-US"/>
          </a:p>
        </p:txBody>
      </p:sp>
    </p:spTree>
    <p:extLst>
      <p:ext uri="{BB962C8B-B14F-4D97-AF65-F5344CB8AC3E}">
        <p14:creationId xmlns:p14="http://schemas.microsoft.com/office/powerpoint/2010/main" val="29670168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reuse() </a:t>
            </a:r>
            <a:r>
              <a:rPr kumimoji="1" lang="ja-JP" altLang="en-US"/>
              <a:t>して </a:t>
            </a:r>
            <a:r>
              <a:rPr kumimoji="1" lang="en-US" altLang="ja-JP"/>
              <a:t>queueRequest() </a:t>
            </a:r>
            <a:r>
              <a:rPr kumimoji="1" lang="ja-JP" altLang="en-US"/>
              <a:t>に戻すのが、</a:t>
            </a:r>
            <a:r>
              <a:rPr kumimoji="1" lang="en-US" altLang="ja-JP"/>
              <a:t>libcamera </a:t>
            </a:r>
            <a:r>
              <a:rPr kumimoji="1" lang="ja-JP" altLang="en-US"/>
              <a:t>でフレームを取りこぼさない必須テクニックです。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27</a:t>
            </a:fld>
            <a:endParaRPr kumimoji="1" lang="ja-JP" altLang="en-US"/>
          </a:p>
        </p:txBody>
      </p:sp>
    </p:spTree>
    <p:extLst>
      <p:ext uri="{BB962C8B-B14F-4D97-AF65-F5344CB8AC3E}">
        <p14:creationId xmlns:p14="http://schemas.microsoft.com/office/powerpoint/2010/main" val="25584383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YUYV </a:t>
            </a:r>
            <a:r>
              <a:rPr kumimoji="1" lang="ja-JP" altLang="en-US"/>
              <a:t>は </a:t>
            </a:r>
            <a:r>
              <a:rPr kumimoji="1" lang="en-US" altLang="ja-JP"/>
              <a:t>USB </a:t>
            </a:r>
            <a:r>
              <a:rPr kumimoji="1" lang="ja-JP" altLang="en-US"/>
              <a:t>カメラ等で最も一般的なフォーマットですが、この整数変換で </a:t>
            </a:r>
            <a:r>
              <a:rPr kumimoji="1" lang="en-US" altLang="ja-JP"/>
              <a:t>CPU </a:t>
            </a:r>
            <a:r>
              <a:rPr kumimoji="1" lang="ja-JP" altLang="en-US"/>
              <a:t>負荷を抑えています。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28</a:t>
            </a:fld>
            <a:endParaRPr kumimoji="1" lang="ja-JP" altLang="en-US"/>
          </a:p>
        </p:txBody>
      </p:sp>
    </p:spTree>
    <p:extLst>
      <p:ext uri="{BB962C8B-B14F-4D97-AF65-F5344CB8AC3E}">
        <p14:creationId xmlns:p14="http://schemas.microsoft.com/office/powerpoint/2010/main" val="32549396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第</a:t>
            </a:r>
            <a:r>
              <a:rPr kumimoji="1" lang="en-US" altLang="ja-JP"/>
              <a:t>4</a:t>
            </a:r>
            <a:r>
              <a:rPr kumimoji="1" lang="ja-JP" altLang="en-US"/>
              <a:t>部、各バックエンドの比較とトラブルシューティングです。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29</a:t>
            </a:fld>
            <a:endParaRPr kumimoji="1" lang="ja-JP" altLang="en-US"/>
          </a:p>
        </p:txBody>
      </p:sp>
    </p:spTree>
    <p:extLst>
      <p:ext uri="{BB962C8B-B14F-4D97-AF65-F5344CB8AC3E}">
        <p14:creationId xmlns:p14="http://schemas.microsoft.com/office/powerpoint/2010/main" val="17219413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それぞれのプラットフォームに最適化されたバックエンドを用意することで、最高のパフォーマンスを発揮します。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30</a:t>
            </a:fld>
            <a:endParaRPr kumimoji="1" lang="ja-JP" altLang="en-US"/>
          </a:p>
        </p:txBody>
      </p:sp>
    </p:spTree>
    <p:extLst>
      <p:ext uri="{BB962C8B-B14F-4D97-AF65-F5344CB8AC3E}">
        <p14:creationId xmlns:p14="http://schemas.microsoft.com/office/powerpoint/2010/main" val="9621964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参加者が実際にキャリブレーションを行う際につまずきやすいポイントを整理しています。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31</a:t>
            </a:fld>
            <a:endParaRPr kumimoji="1" lang="ja-JP" altLang="en-US"/>
          </a:p>
        </p:txBody>
      </p:sp>
    </p:spTree>
    <p:extLst>
      <p:ext uri="{BB962C8B-B14F-4D97-AF65-F5344CB8AC3E}">
        <p14:creationId xmlns:p14="http://schemas.microsoft.com/office/powerpoint/2010/main" val="23738217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以上で講義を終了します。質疑応答に移ります。</a:t>
            </a:r>
          </a:p>
        </p:txBody>
      </p:sp>
      <p:sp>
        <p:nvSpPr>
          <p:cNvPr id="4" name="スライド番号プレースホルダー 3"/>
          <p:cNvSpPr>
            <a:spLocks noGrp="1"/>
          </p:cNvSpPr>
          <p:nvPr>
            <p:ph type="sldNum" sz="quarter" idx="5"/>
          </p:nvPr>
        </p:nvSpPr>
        <p:spPr/>
        <p:txBody>
          <a:bodyPr/>
          <a:lstStyle/>
          <a:p>
            <a:fld id="{B013D129-09C4-4FB4-B7A0-E8F1ADC262AB}" type="slidenum">
              <a:rPr kumimoji="1" lang="ja-JP" altLang="en-US" smtClean="0"/>
              <a:t>32</a:t>
            </a:fld>
            <a:endParaRPr kumimoji="1" lang="ja-JP" altLang="en-US"/>
          </a:p>
        </p:txBody>
      </p:sp>
    </p:spTree>
    <p:extLst>
      <p:ext uri="{BB962C8B-B14F-4D97-AF65-F5344CB8AC3E}">
        <p14:creationId xmlns:p14="http://schemas.microsoft.com/office/powerpoint/2010/main" val="757443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A24C23-839A-7C6A-835B-52E6229A13C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F31635B-AB91-09F2-0A06-69247B3840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0BC4DFEB-3BFE-F13C-C7CA-9ADA1A8DE4DC}"/>
              </a:ext>
            </a:extLst>
          </p:cNvPr>
          <p:cNvSpPr>
            <a:spLocks noGrp="1"/>
          </p:cNvSpPr>
          <p:nvPr>
            <p:ph type="dt" sz="half" idx="10"/>
          </p:nvPr>
        </p:nvSpPr>
        <p:spPr/>
        <p:txBody>
          <a:bodyPr/>
          <a:lstStyle/>
          <a:p>
            <a:fld id="{2EEBC86E-D0B3-49CC-A3B9-637FCA0C3B60}"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CC8D6DF1-5B55-499C-ED06-1990A4D6301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DE1B55A-91B7-BFD3-B09D-63911EA186F0}"/>
              </a:ext>
            </a:extLst>
          </p:cNvPr>
          <p:cNvSpPr>
            <a:spLocks noGrp="1"/>
          </p:cNvSpPr>
          <p:nvPr>
            <p:ph type="sldNum" sz="quarter" idx="12"/>
          </p:nvPr>
        </p:nvSpPr>
        <p:spPr/>
        <p:txBody>
          <a:bodyPr/>
          <a:lstStyle/>
          <a:p>
            <a:fld id="{26027BA8-9A89-4AB3-A140-B16E739D88A5}" type="slidenum">
              <a:rPr kumimoji="1" lang="ja-JP" altLang="en-US" smtClean="0"/>
              <a:t>‹#›</a:t>
            </a:fld>
            <a:endParaRPr kumimoji="1" lang="ja-JP" altLang="en-US"/>
          </a:p>
        </p:txBody>
      </p:sp>
    </p:spTree>
    <p:extLst>
      <p:ext uri="{BB962C8B-B14F-4D97-AF65-F5344CB8AC3E}">
        <p14:creationId xmlns:p14="http://schemas.microsoft.com/office/powerpoint/2010/main" val="2138144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A7BA1D-48AA-213F-DB04-D4B1EB986DA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C39A70A-81C0-952C-316A-0981FF9D9DB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337587F-F0E0-28B8-0DD6-CCE6DF06218F}"/>
              </a:ext>
            </a:extLst>
          </p:cNvPr>
          <p:cNvSpPr>
            <a:spLocks noGrp="1"/>
          </p:cNvSpPr>
          <p:nvPr>
            <p:ph type="dt" sz="half" idx="10"/>
          </p:nvPr>
        </p:nvSpPr>
        <p:spPr/>
        <p:txBody>
          <a:bodyPr/>
          <a:lstStyle/>
          <a:p>
            <a:fld id="{2EEBC86E-D0B3-49CC-A3B9-637FCA0C3B60}"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D8E6A4D6-1909-6302-85F4-46E3939D6D1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53FA8AC-4BA9-8510-06DA-A027016DD969}"/>
              </a:ext>
            </a:extLst>
          </p:cNvPr>
          <p:cNvSpPr>
            <a:spLocks noGrp="1"/>
          </p:cNvSpPr>
          <p:nvPr>
            <p:ph type="sldNum" sz="quarter" idx="12"/>
          </p:nvPr>
        </p:nvSpPr>
        <p:spPr/>
        <p:txBody>
          <a:bodyPr/>
          <a:lstStyle/>
          <a:p>
            <a:fld id="{26027BA8-9A89-4AB3-A140-B16E739D88A5}" type="slidenum">
              <a:rPr kumimoji="1" lang="ja-JP" altLang="en-US" smtClean="0"/>
              <a:t>‹#›</a:t>
            </a:fld>
            <a:endParaRPr kumimoji="1" lang="ja-JP" altLang="en-US"/>
          </a:p>
        </p:txBody>
      </p:sp>
    </p:spTree>
    <p:extLst>
      <p:ext uri="{BB962C8B-B14F-4D97-AF65-F5344CB8AC3E}">
        <p14:creationId xmlns:p14="http://schemas.microsoft.com/office/powerpoint/2010/main" val="918777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D3EB64-5FAD-5D9F-AE33-4085916C873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C94B260-EBD2-8E8C-AC43-086F66F79A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DDC82D7-EB15-EB57-0F4C-6D8C8B3A662B}"/>
              </a:ext>
            </a:extLst>
          </p:cNvPr>
          <p:cNvSpPr>
            <a:spLocks noGrp="1"/>
          </p:cNvSpPr>
          <p:nvPr>
            <p:ph type="dt" sz="half" idx="10"/>
          </p:nvPr>
        </p:nvSpPr>
        <p:spPr/>
        <p:txBody>
          <a:bodyPr/>
          <a:lstStyle/>
          <a:p>
            <a:fld id="{2EEBC86E-D0B3-49CC-A3B9-637FCA0C3B60}"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60DC1397-7DBA-48D7-CF29-F1E3627E504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6CDA6F3-245B-B6B1-8DE4-73CC077B0B86}"/>
              </a:ext>
            </a:extLst>
          </p:cNvPr>
          <p:cNvSpPr>
            <a:spLocks noGrp="1"/>
          </p:cNvSpPr>
          <p:nvPr>
            <p:ph type="sldNum" sz="quarter" idx="12"/>
          </p:nvPr>
        </p:nvSpPr>
        <p:spPr/>
        <p:txBody>
          <a:bodyPr/>
          <a:lstStyle/>
          <a:p>
            <a:fld id="{26027BA8-9A89-4AB3-A140-B16E739D88A5}" type="slidenum">
              <a:rPr kumimoji="1" lang="ja-JP" altLang="en-US" smtClean="0"/>
              <a:t>‹#›</a:t>
            </a:fld>
            <a:endParaRPr kumimoji="1" lang="ja-JP" altLang="en-US"/>
          </a:p>
        </p:txBody>
      </p:sp>
    </p:spTree>
    <p:extLst>
      <p:ext uri="{BB962C8B-B14F-4D97-AF65-F5344CB8AC3E}">
        <p14:creationId xmlns:p14="http://schemas.microsoft.com/office/powerpoint/2010/main" val="337490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0C04DD-CBF8-B9CB-4A68-DFD7EE8B10D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3B55024-B8C9-33D4-2B9C-CA5145201CF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CCDA46B-53C2-FC5E-8BD6-28BF7597543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B89881C-70CE-1700-CF24-4C5ACAEAA070}"/>
              </a:ext>
            </a:extLst>
          </p:cNvPr>
          <p:cNvSpPr>
            <a:spLocks noGrp="1"/>
          </p:cNvSpPr>
          <p:nvPr>
            <p:ph type="dt" sz="half" idx="10"/>
          </p:nvPr>
        </p:nvSpPr>
        <p:spPr/>
        <p:txBody>
          <a:bodyPr/>
          <a:lstStyle/>
          <a:p>
            <a:fld id="{2EEBC86E-D0B3-49CC-A3B9-637FCA0C3B60}" type="datetimeFigureOut">
              <a:rPr kumimoji="1" lang="ja-JP" altLang="en-US" smtClean="0"/>
              <a:t>2026/9/22</a:t>
            </a:fld>
            <a:endParaRPr kumimoji="1" lang="ja-JP" altLang="en-US"/>
          </a:p>
        </p:txBody>
      </p:sp>
      <p:sp>
        <p:nvSpPr>
          <p:cNvPr id="6" name="フッター プレースホルダー 5">
            <a:extLst>
              <a:ext uri="{FF2B5EF4-FFF2-40B4-BE49-F238E27FC236}">
                <a16:creationId xmlns:a16="http://schemas.microsoft.com/office/drawing/2014/main" id="{571608BC-4462-A98E-6198-79FF2815523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52BB0F5-6158-1326-0CE8-1332E2C571E4}"/>
              </a:ext>
            </a:extLst>
          </p:cNvPr>
          <p:cNvSpPr>
            <a:spLocks noGrp="1"/>
          </p:cNvSpPr>
          <p:nvPr>
            <p:ph type="sldNum" sz="quarter" idx="12"/>
          </p:nvPr>
        </p:nvSpPr>
        <p:spPr/>
        <p:txBody>
          <a:bodyPr/>
          <a:lstStyle/>
          <a:p>
            <a:fld id="{26027BA8-9A89-4AB3-A140-B16E739D88A5}" type="slidenum">
              <a:rPr kumimoji="1" lang="ja-JP" altLang="en-US" smtClean="0"/>
              <a:t>‹#›</a:t>
            </a:fld>
            <a:endParaRPr kumimoji="1" lang="ja-JP" altLang="en-US"/>
          </a:p>
        </p:txBody>
      </p:sp>
    </p:spTree>
    <p:extLst>
      <p:ext uri="{BB962C8B-B14F-4D97-AF65-F5344CB8AC3E}">
        <p14:creationId xmlns:p14="http://schemas.microsoft.com/office/powerpoint/2010/main" val="2112670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D86681-F619-E2A5-CB74-4A95F39546F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271B257-85FB-07A4-E370-A986306F4A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4C6224D-5B8C-45E9-C8ED-2C608C9200B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717152F-52C0-A3F8-33C1-CFBB019045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B861CDE-D6C9-E26C-7D62-A4B18BADAF34}"/>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51F9A61-7D84-1352-C9E3-710BA7EF93E6}"/>
              </a:ext>
            </a:extLst>
          </p:cNvPr>
          <p:cNvSpPr>
            <a:spLocks noGrp="1"/>
          </p:cNvSpPr>
          <p:nvPr>
            <p:ph type="dt" sz="half" idx="10"/>
          </p:nvPr>
        </p:nvSpPr>
        <p:spPr/>
        <p:txBody>
          <a:bodyPr/>
          <a:lstStyle/>
          <a:p>
            <a:fld id="{2EEBC86E-D0B3-49CC-A3B9-637FCA0C3B60}" type="datetimeFigureOut">
              <a:rPr kumimoji="1" lang="ja-JP" altLang="en-US" smtClean="0"/>
              <a:t>2026/9/22</a:t>
            </a:fld>
            <a:endParaRPr kumimoji="1" lang="ja-JP" altLang="en-US"/>
          </a:p>
        </p:txBody>
      </p:sp>
      <p:sp>
        <p:nvSpPr>
          <p:cNvPr id="8" name="フッター プレースホルダー 7">
            <a:extLst>
              <a:ext uri="{FF2B5EF4-FFF2-40B4-BE49-F238E27FC236}">
                <a16:creationId xmlns:a16="http://schemas.microsoft.com/office/drawing/2014/main" id="{16FCD234-CE9A-E06A-F01B-79ADF72D3F0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CD77BBC-5A81-7DCC-C60C-3F77A07D4FBF}"/>
              </a:ext>
            </a:extLst>
          </p:cNvPr>
          <p:cNvSpPr>
            <a:spLocks noGrp="1"/>
          </p:cNvSpPr>
          <p:nvPr>
            <p:ph type="sldNum" sz="quarter" idx="12"/>
          </p:nvPr>
        </p:nvSpPr>
        <p:spPr/>
        <p:txBody>
          <a:bodyPr/>
          <a:lstStyle/>
          <a:p>
            <a:fld id="{26027BA8-9A89-4AB3-A140-B16E739D88A5}" type="slidenum">
              <a:rPr kumimoji="1" lang="ja-JP" altLang="en-US" smtClean="0"/>
              <a:t>‹#›</a:t>
            </a:fld>
            <a:endParaRPr kumimoji="1" lang="ja-JP" altLang="en-US"/>
          </a:p>
        </p:txBody>
      </p:sp>
    </p:spTree>
    <p:extLst>
      <p:ext uri="{BB962C8B-B14F-4D97-AF65-F5344CB8AC3E}">
        <p14:creationId xmlns:p14="http://schemas.microsoft.com/office/powerpoint/2010/main" val="449082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69A13C-33AC-2F2B-2132-781627B474B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8EF4D2B-3456-275F-02F4-403661A002B8}"/>
              </a:ext>
            </a:extLst>
          </p:cNvPr>
          <p:cNvSpPr>
            <a:spLocks noGrp="1"/>
          </p:cNvSpPr>
          <p:nvPr>
            <p:ph type="dt" sz="half" idx="10"/>
          </p:nvPr>
        </p:nvSpPr>
        <p:spPr/>
        <p:txBody>
          <a:bodyPr/>
          <a:lstStyle/>
          <a:p>
            <a:fld id="{2EEBC86E-D0B3-49CC-A3B9-637FCA0C3B60}" type="datetimeFigureOut">
              <a:rPr kumimoji="1" lang="ja-JP" altLang="en-US" smtClean="0"/>
              <a:t>2026/9/22</a:t>
            </a:fld>
            <a:endParaRPr kumimoji="1" lang="ja-JP" altLang="en-US"/>
          </a:p>
        </p:txBody>
      </p:sp>
      <p:sp>
        <p:nvSpPr>
          <p:cNvPr id="4" name="フッター プレースホルダー 3">
            <a:extLst>
              <a:ext uri="{FF2B5EF4-FFF2-40B4-BE49-F238E27FC236}">
                <a16:creationId xmlns:a16="http://schemas.microsoft.com/office/drawing/2014/main" id="{FF567F7A-EDB6-1662-9A22-7569270C028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45EEB1B-ECD2-2A46-C70D-E76B5B3A260F}"/>
              </a:ext>
            </a:extLst>
          </p:cNvPr>
          <p:cNvSpPr>
            <a:spLocks noGrp="1"/>
          </p:cNvSpPr>
          <p:nvPr>
            <p:ph type="sldNum" sz="quarter" idx="12"/>
          </p:nvPr>
        </p:nvSpPr>
        <p:spPr/>
        <p:txBody>
          <a:bodyPr/>
          <a:lstStyle/>
          <a:p>
            <a:fld id="{26027BA8-9A89-4AB3-A140-B16E739D88A5}" type="slidenum">
              <a:rPr kumimoji="1" lang="ja-JP" altLang="en-US" smtClean="0"/>
              <a:t>‹#›</a:t>
            </a:fld>
            <a:endParaRPr kumimoji="1" lang="ja-JP" altLang="en-US"/>
          </a:p>
        </p:txBody>
      </p:sp>
    </p:spTree>
    <p:extLst>
      <p:ext uri="{BB962C8B-B14F-4D97-AF65-F5344CB8AC3E}">
        <p14:creationId xmlns:p14="http://schemas.microsoft.com/office/powerpoint/2010/main" val="3540269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5749B99A-5878-F065-D494-646CA204EB03}"/>
              </a:ext>
            </a:extLst>
          </p:cNvPr>
          <p:cNvSpPr>
            <a:spLocks noGrp="1"/>
          </p:cNvSpPr>
          <p:nvPr>
            <p:ph type="dt" sz="half" idx="10"/>
          </p:nvPr>
        </p:nvSpPr>
        <p:spPr/>
        <p:txBody>
          <a:bodyPr/>
          <a:lstStyle/>
          <a:p>
            <a:fld id="{2EEBC86E-D0B3-49CC-A3B9-637FCA0C3B60}" type="datetimeFigureOut">
              <a:rPr kumimoji="1" lang="ja-JP" altLang="en-US" smtClean="0"/>
              <a:t>2026/9/22</a:t>
            </a:fld>
            <a:endParaRPr kumimoji="1" lang="ja-JP" altLang="en-US"/>
          </a:p>
        </p:txBody>
      </p:sp>
      <p:sp>
        <p:nvSpPr>
          <p:cNvPr id="3" name="フッター プレースホルダー 2">
            <a:extLst>
              <a:ext uri="{FF2B5EF4-FFF2-40B4-BE49-F238E27FC236}">
                <a16:creationId xmlns:a16="http://schemas.microsoft.com/office/drawing/2014/main" id="{2B43115D-6706-50ED-2695-AA6F43E24C0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DD0D52B-C471-4E0B-72A5-7C609599ABE6}"/>
              </a:ext>
            </a:extLst>
          </p:cNvPr>
          <p:cNvSpPr>
            <a:spLocks noGrp="1"/>
          </p:cNvSpPr>
          <p:nvPr>
            <p:ph type="sldNum" sz="quarter" idx="12"/>
          </p:nvPr>
        </p:nvSpPr>
        <p:spPr/>
        <p:txBody>
          <a:bodyPr/>
          <a:lstStyle/>
          <a:p>
            <a:fld id="{26027BA8-9A89-4AB3-A140-B16E739D88A5}" type="slidenum">
              <a:rPr kumimoji="1" lang="ja-JP" altLang="en-US" smtClean="0"/>
              <a:t>‹#›</a:t>
            </a:fld>
            <a:endParaRPr kumimoji="1" lang="ja-JP" altLang="en-US"/>
          </a:p>
        </p:txBody>
      </p:sp>
    </p:spTree>
    <p:extLst>
      <p:ext uri="{BB962C8B-B14F-4D97-AF65-F5344CB8AC3E}">
        <p14:creationId xmlns:p14="http://schemas.microsoft.com/office/powerpoint/2010/main" val="2962957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ED2992-4963-E7E8-0A93-D7AA86F2574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7834A3B-D308-67C9-2D9F-C2F8F02F9A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87F0C0A-4561-08E4-D92A-4682AE734C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85BD5EB-25F9-576F-C39D-620B45243522}"/>
              </a:ext>
            </a:extLst>
          </p:cNvPr>
          <p:cNvSpPr>
            <a:spLocks noGrp="1"/>
          </p:cNvSpPr>
          <p:nvPr>
            <p:ph type="dt" sz="half" idx="10"/>
          </p:nvPr>
        </p:nvSpPr>
        <p:spPr/>
        <p:txBody>
          <a:bodyPr/>
          <a:lstStyle/>
          <a:p>
            <a:fld id="{2EEBC86E-D0B3-49CC-A3B9-637FCA0C3B60}" type="datetimeFigureOut">
              <a:rPr kumimoji="1" lang="ja-JP" altLang="en-US" smtClean="0"/>
              <a:t>2026/9/22</a:t>
            </a:fld>
            <a:endParaRPr kumimoji="1" lang="ja-JP" altLang="en-US"/>
          </a:p>
        </p:txBody>
      </p:sp>
      <p:sp>
        <p:nvSpPr>
          <p:cNvPr id="6" name="フッター プレースホルダー 5">
            <a:extLst>
              <a:ext uri="{FF2B5EF4-FFF2-40B4-BE49-F238E27FC236}">
                <a16:creationId xmlns:a16="http://schemas.microsoft.com/office/drawing/2014/main" id="{5AD89BFB-277F-18F5-03B1-151072B4764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41FE15A-143B-A411-672F-B109339D2B04}"/>
              </a:ext>
            </a:extLst>
          </p:cNvPr>
          <p:cNvSpPr>
            <a:spLocks noGrp="1"/>
          </p:cNvSpPr>
          <p:nvPr>
            <p:ph type="sldNum" sz="quarter" idx="12"/>
          </p:nvPr>
        </p:nvSpPr>
        <p:spPr/>
        <p:txBody>
          <a:bodyPr/>
          <a:lstStyle/>
          <a:p>
            <a:fld id="{26027BA8-9A89-4AB3-A140-B16E739D88A5}" type="slidenum">
              <a:rPr kumimoji="1" lang="ja-JP" altLang="en-US" smtClean="0"/>
              <a:t>‹#›</a:t>
            </a:fld>
            <a:endParaRPr kumimoji="1" lang="ja-JP" altLang="en-US"/>
          </a:p>
        </p:txBody>
      </p:sp>
    </p:spTree>
    <p:extLst>
      <p:ext uri="{BB962C8B-B14F-4D97-AF65-F5344CB8AC3E}">
        <p14:creationId xmlns:p14="http://schemas.microsoft.com/office/powerpoint/2010/main" val="3359228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5F785C-28A9-BC24-75DE-3018EEBEE11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BD87D11-F62D-6216-BE18-B4A7901F69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202AF87-3AA5-F69F-168F-10CD629B6E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81CF4D8-63A8-759A-EBAB-3CCD8FDEE6DF}"/>
              </a:ext>
            </a:extLst>
          </p:cNvPr>
          <p:cNvSpPr>
            <a:spLocks noGrp="1"/>
          </p:cNvSpPr>
          <p:nvPr>
            <p:ph type="dt" sz="half" idx="10"/>
          </p:nvPr>
        </p:nvSpPr>
        <p:spPr/>
        <p:txBody>
          <a:bodyPr/>
          <a:lstStyle/>
          <a:p>
            <a:fld id="{2EEBC86E-D0B3-49CC-A3B9-637FCA0C3B60}" type="datetimeFigureOut">
              <a:rPr kumimoji="1" lang="ja-JP" altLang="en-US" smtClean="0"/>
              <a:t>2026/9/22</a:t>
            </a:fld>
            <a:endParaRPr kumimoji="1" lang="ja-JP" altLang="en-US"/>
          </a:p>
        </p:txBody>
      </p:sp>
      <p:sp>
        <p:nvSpPr>
          <p:cNvPr id="6" name="フッター プレースホルダー 5">
            <a:extLst>
              <a:ext uri="{FF2B5EF4-FFF2-40B4-BE49-F238E27FC236}">
                <a16:creationId xmlns:a16="http://schemas.microsoft.com/office/drawing/2014/main" id="{8E25A721-FDE1-408B-AC69-627D7EABD20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6A6B2BA-D8D3-E1E9-5382-D476A7406840}"/>
              </a:ext>
            </a:extLst>
          </p:cNvPr>
          <p:cNvSpPr>
            <a:spLocks noGrp="1"/>
          </p:cNvSpPr>
          <p:nvPr>
            <p:ph type="sldNum" sz="quarter" idx="12"/>
          </p:nvPr>
        </p:nvSpPr>
        <p:spPr/>
        <p:txBody>
          <a:bodyPr/>
          <a:lstStyle/>
          <a:p>
            <a:fld id="{26027BA8-9A89-4AB3-A140-B16E739D88A5}" type="slidenum">
              <a:rPr kumimoji="1" lang="ja-JP" altLang="en-US" smtClean="0"/>
              <a:t>‹#›</a:t>
            </a:fld>
            <a:endParaRPr kumimoji="1" lang="ja-JP" altLang="en-US"/>
          </a:p>
        </p:txBody>
      </p:sp>
    </p:spTree>
    <p:extLst>
      <p:ext uri="{BB962C8B-B14F-4D97-AF65-F5344CB8AC3E}">
        <p14:creationId xmlns:p14="http://schemas.microsoft.com/office/powerpoint/2010/main" val="553472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647118-C3C5-5B8D-3614-FE55AD877E9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EAD9D84-260D-17CA-68C7-326A6832318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2653D03-E08A-23A1-F953-D8B6F58B2A34}"/>
              </a:ext>
            </a:extLst>
          </p:cNvPr>
          <p:cNvSpPr>
            <a:spLocks noGrp="1"/>
          </p:cNvSpPr>
          <p:nvPr>
            <p:ph type="dt" sz="half" idx="10"/>
          </p:nvPr>
        </p:nvSpPr>
        <p:spPr/>
        <p:txBody>
          <a:bodyPr/>
          <a:lstStyle/>
          <a:p>
            <a:fld id="{2EEBC86E-D0B3-49CC-A3B9-637FCA0C3B60}"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8EBE5829-4D26-E82E-3842-EEA869EAB19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BF6964A-3D8D-9D1E-2300-7D408DC83078}"/>
              </a:ext>
            </a:extLst>
          </p:cNvPr>
          <p:cNvSpPr>
            <a:spLocks noGrp="1"/>
          </p:cNvSpPr>
          <p:nvPr>
            <p:ph type="sldNum" sz="quarter" idx="12"/>
          </p:nvPr>
        </p:nvSpPr>
        <p:spPr/>
        <p:txBody>
          <a:bodyPr/>
          <a:lstStyle/>
          <a:p>
            <a:fld id="{26027BA8-9A89-4AB3-A140-B16E739D88A5}" type="slidenum">
              <a:rPr kumimoji="1" lang="ja-JP" altLang="en-US" smtClean="0"/>
              <a:t>‹#›</a:t>
            </a:fld>
            <a:endParaRPr kumimoji="1" lang="ja-JP" altLang="en-US"/>
          </a:p>
        </p:txBody>
      </p:sp>
    </p:spTree>
    <p:extLst>
      <p:ext uri="{BB962C8B-B14F-4D97-AF65-F5344CB8AC3E}">
        <p14:creationId xmlns:p14="http://schemas.microsoft.com/office/powerpoint/2010/main" val="2245664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AD09AFB-8FBD-4E24-96BB-C918B48028F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91A160B-D124-AD86-DA82-37B2BE90210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C90A48E-7D95-C1B5-9068-B5026904F0D8}"/>
              </a:ext>
            </a:extLst>
          </p:cNvPr>
          <p:cNvSpPr>
            <a:spLocks noGrp="1"/>
          </p:cNvSpPr>
          <p:nvPr>
            <p:ph type="dt" sz="half" idx="10"/>
          </p:nvPr>
        </p:nvSpPr>
        <p:spPr/>
        <p:txBody>
          <a:bodyPr/>
          <a:lstStyle/>
          <a:p>
            <a:fld id="{2EEBC86E-D0B3-49CC-A3B9-637FCA0C3B60}"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16A278F2-4AA7-148E-6107-512D2226768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22953A2-0463-D872-DD90-27ECC6249808}"/>
              </a:ext>
            </a:extLst>
          </p:cNvPr>
          <p:cNvSpPr>
            <a:spLocks noGrp="1"/>
          </p:cNvSpPr>
          <p:nvPr>
            <p:ph type="sldNum" sz="quarter" idx="12"/>
          </p:nvPr>
        </p:nvSpPr>
        <p:spPr/>
        <p:txBody>
          <a:bodyPr/>
          <a:lstStyle/>
          <a:p>
            <a:fld id="{26027BA8-9A89-4AB3-A140-B16E739D88A5}" type="slidenum">
              <a:rPr kumimoji="1" lang="ja-JP" altLang="en-US" smtClean="0"/>
              <a:t>‹#›</a:t>
            </a:fld>
            <a:endParaRPr kumimoji="1" lang="ja-JP" altLang="en-US"/>
          </a:p>
        </p:txBody>
      </p:sp>
    </p:spTree>
    <p:extLst>
      <p:ext uri="{BB962C8B-B14F-4D97-AF65-F5344CB8AC3E}">
        <p14:creationId xmlns:p14="http://schemas.microsoft.com/office/powerpoint/2010/main" val="511821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CC53A0A-F328-65B1-2F27-B3A2137059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A166610-887E-434E-1915-6E7438BFE7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434B736-2CEE-0CBA-A8D0-96AF274E2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EBC86E-D0B3-49CC-A3B9-637FCA0C3B60}"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5815E785-A644-D4BB-F3A1-F4FF45DB09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95FCA02-9575-8CDA-42EE-A9345D4904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027BA8-9A89-4AB3-A140-B16E739D88A5}" type="slidenum">
              <a:rPr kumimoji="1" lang="ja-JP" altLang="en-US" smtClean="0"/>
              <a:t>‹#›</a:t>
            </a:fld>
            <a:endParaRPr kumimoji="1" lang="ja-JP" altLang="en-US"/>
          </a:p>
        </p:txBody>
      </p:sp>
    </p:spTree>
    <p:extLst>
      <p:ext uri="{BB962C8B-B14F-4D97-AF65-F5344CB8AC3E}">
        <p14:creationId xmlns:p14="http://schemas.microsoft.com/office/powerpoint/2010/main" val="4288902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CDA6473-DB16-3D55-5724-D423F173295C}"/>
              </a:ext>
            </a:extLst>
          </p:cNvPr>
          <p:cNvSpPr txBox="1"/>
          <p:nvPr/>
        </p:nvSpPr>
        <p:spPr>
          <a:xfrm>
            <a:off x="1016000" y="1778000"/>
            <a:ext cx="10160000" cy="1477328"/>
          </a:xfrm>
          <a:prstGeom prst="rect">
            <a:avLst/>
          </a:prstGeom>
          <a:noFill/>
        </p:spPr>
        <p:txBody>
          <a:bodyPr vert="horz" wrap="square" rtlCol="0">
            <a:spAutoFit/>
          </a:bodyPr>
          <a:lstStyle/>
          <a:p>
            <a:pPr algn="ctr"/>
            <a:r>
              <a:rPr kumimoji="1" lang="en-US" altLang="ja-JP" sz="4000" b="1">
                <a:solidFill>
                  <a:srgbClr val="38BDF8"/>
                </a:solidFill>
                <a:latin typeface="Meiryo" panose="020B0604030504040204" pitchFamily="50" charset="-128"/>
              </a:rPr>
              <a:t>calib </a:t>
            </a:r>
            <a:r>
              <a:rPr kumimoji="1" lang="ja-JP" altLang="en-US" sz="4000" b="1">
                <a:solidFill>
                  <a:srgbClr val="38BDF8"/>
                </a:solidFill>
                <a:latin typeface="Meiryo" panose="020B0604030504040204" pitchFamily="50" charset="-128"/>
              </a:rPr>
              <a:t>勉強会</a:t>
            </a:r>
            <a:r>
              <a:rPr kumimoji="1" lang="ja-JP" altLang="en-US" sz="2200" b="1">
                <a:solidFill>
                  <a:srgbClr val="F8FAFC"/>
                </a:solidFill>
                <a:latin typeface="Meiryo" panose="020B0604030504040204" pitchFamily="50" charset="-128"/>
              </a:rPr>
              <a:t>
</a:t>
            </a:r>
            <a:r>
              <a:rPr kumimoji="1" lang="en-US" altLang="ja-JP" sz="2200" b="1">
                <a:solidFill>
                  <a:srgbClr val="F8FAFC"/>
                </a:solidFill>
                <a:latin typeface="Meiryo" panose="020B0604030504040204" pitchFamily="50" charset="-128"/>
              </a:rPr>
              <a:t>ChArUco </a:t>
            </a:r>
            <a:r>
              <a:rPr kumimoji="1" lang="ja-JP" altLang="en-US" sz="2200" b="1">
                <a:solidFill>
                  <a:srgbClr val="F8FAFC"/>
                </a:solidFill>
                <a:latin typeface="Meiryo" panose="020B0604030504040204" pitchFamily="50" charset="-128"/>
              </a:rPr>
              <a:t>標本自動取得と先進的カメラキャプチャの設計と実装</a:t>
            </a:r>
            <a:r>
              <a:rPr kumimoji="1" lang="ja-JP" altLang="en-US" sz="1400" b="1">
                <a:solidFill>
                  <a:srgbClr val="94A3B8"/>
                </a:solidFill>
                <a:latin typeface="Meiryo" panose="020B0604030504040204" pitchFamily="50" charset="-128"/>
              </a:rPr>
              <a:t>
画像処理プログラミング勉強会（</a:t>
            </a:r>
            <a:r>
              <a:rPr kumimoji="1" lang="en-US" altLang="ja-JP" sz="1400" b="1">
                <a:solidFill>
                  <a:srgbClr val="94A3B8"/>
                </a:solidFill>
                <a:latin typeface="Meiryo" panose="020B0604030504040204" pitchFamily="50" charset="-128"/>
              </a:rPr>
              <a:t>120</a:t>
            </a:r>
            <a:r>
              <a:rPr kumimoji="1" lang="ja-JP" altLang="en-US" sz="1400" b="1">
                <a:solidFill>
                  <a:srgbClr val="94A3B8"/>
                </a:solidFill>
                <a:latin typeface="Meiryo" panose="020B0604030504040204" pitchFamily="50" charset="-128"/>
              </a:rPr>
              <a:t>分） </a:t>
            </a:r>
            <a:r>
              <a:rPr kumimoji="1" lang="en-US" altLang="ja-JP" sz="1400" b="1">
                <a:solidFill>
                  <a:srgbClr val="94A3B8"/>
                </a:solidFill>
                <a:latin typeface="Meiryo" panose="020B0604030504040204" pitchFamily="50" charset="-128"/>
              </a:rPr>
              <a:t>| C++17 / OpenCV / Media Foundation / libcamera</a:t>
            </a:r>
            <a:endParaRPr kumimoji="1" lang="ja-JP" altLang="en-US" sz="1400" b="1">
              <a:solidFill>
                <a:srgbClr val="94A3B8"/>
              </a:solidFill>
              <a:latin typeface="Meiryo" panose="020B0604030504040204" pitchFamily="50" charset="-128"/>
            </a:endParaRPr>
          </a:p>
        </p:txBody>
      </p:sp>
    </p:spTree>
    <p:extLst>
      <p:ext uri="{BB962C8B-B14F-4D97-AF65-F5344CB8AC3E}">
        <p14:creationId xmlns:p14="http://schemas.microsoft.com/office/powerpoint/2010/main" val="2799880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0F780F7-79D8-10B6-CB34-0B443ECAA7D1}"/>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INTRODUCTION</a:t>
            </a:r>
            <a:r>
              <a:rPr kumimoji="1" lang="ja-JP" altLang="en-US" sz="2400" b="1">
                <a:solidFill>
                  <a:srgbClr val="38BDF8"/>
                </a:solidFill>
                <a:latin typeface="Meiryo" panose="020B0604030504040204" pitchFamily="50" charset="-128"/>
              </a:rPr>
              <a:t>
勉強会のタイムテーブル </a:t>
            </a:r>
            <a:r>
              <a:rPr kumimoji="1" lang="en-US" altLang="ja-JP" sz="2400" b="1">
                <a:solidFill>
                  <a:srgbClr val="38BDF8"/>
                </a:solidFill>
                <a:latin typeface="Meiryo" panose="020B0604030504040204" pitchFamily="50" charset="-128"/>
              </a:rPr>
              <a:t>(120</a:t>
            </a:r>
            <a:r>
              <a:rPr kumimoji="1" lang="ja-JP" altLang="en-US" sz="2400" b="1">
                <a:solidFill>
                  <a:srgbClr val="38BDF8"/>
                </a:solidFill>
                <a:latin typeface="Meiryo" panose="020B0604030504040204" pitchFamily="50" charset="-128"/>
              </a:rPr>
              <a:t>分</a:t>
            </a:r>
            <a:r>
              <a:rPr kumimoji="1" lang="en-US" altLang="ja-JP" sz="2400" b="1">
                <a:solidFill>
                  <a:srgbClr val="38BDF8"/>
                </a:solidFill>
                <a:latin typeface="Meiryo" panose="020B0604030504040204" pitchFamily="50" charset="-128"/>
              </a:rPr>
              <a:t>)</a:t>
            </a:r>
            <a:endParaRPr kumimoji="1" lang="ja-JP" altLang="en-US" sz="2400" b="1">
              <a:solidFill>
                <a:srgbClr val="38BDF8"/>
              </a:solidFill>
              <a:latin typeface="Meiryo" panose="020B0604030504040204" pitchFamily="50" charset="-128"/>
            </a:endParaRPr>
          </a:p>
        </p:txBody>
      </p:sp>
      <p:sp>
        <p:nvSpPr>
          <p:cNvPr id="3" name="正方形/長方形 2">
            <a:extLst>
              <a:ext uri="{FF2B5EF4-FFF2-40B4-BE49-F238E27FC236}">
                <a16:creationId xmlns:a16="http://schemas.microsoft.com/office/drawing/2014/main" id="{F5CFD39D-C4B4-4DDE-A9C5-86BF8D77A63D}"/>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前半</a:t>
            </a:r>
            <a:r>
              <a:rPr kumimoji="1" lang="en-US" altLang="ja-JP" sz="1600" b="1">
                <a:solidFill>
                  <a:srgbClr val="38BDF8"/>
                </a:solidFill>
                <a:latin typeface="Meiryo" panose="020B0604030504040204" pitchFamily="50" charset="-128"/>
              </a:rPr>
              <a:t>: </a:t>
            </a:r>
            <a:r>
              <a:rPr kumimoji="1" lang="ja-JP" altLang="en-US" sz="1600" b="1">
                <a:solidFill>
                  <a:srgbClr val="38BDF8"/>
                </a:solidFill>
                <a:latin typeface="Meiryo" panose="020B0604030504040204" pitchFamily="50" charset="-128"/>
              </a:rPr>
              <a:t>理論とアルゴリズム </a:t>
            </a:r>
            <a:r>
              <a:rPr kumimoji="1" lang="en-US" altLang="ja-JP" sz="1600" b="1">
                <a:solidFill>
                  <a:srgbClr val="38BDF8"/>
                </a:solidFill>
                <a:latin typeface="Meiryo" panose="020B0604030504040204" pitchFamily="50" charset="-128"/>
              </a:rPr>
              <a:t>(50</a:t>
            </a:r>
            <a:r>
              <a:rPr kumimoji="1" lang="ja-JP" altLang="en-US" sz="1600" b="1">
                <a:solidFill>
                  <a:srgbClr val="38BDF8"/>
                </a:solidFill>
                <a:latin typeface="Meiryo" panose="020B0604030504040204" pitchFamily="50" charset="-128"/>
              </a:rPr>
              <a:t>分</a:t>
            </a:r>
            <a:r>
              <a:rPr kumimoji="1" lang="en-US" altLang="ja-JP" sz="1600" b="1">
                <a:solidFill>
                  <a:srgbClr val="38BDF8"/>
                </a:solidFill>
                <a:latin typeface="Meiryo" panose="020B0604030504040204" pitchFamily="50" charset="-128"/>
              </a:rPr>
              <a:t>)</a:t>
            </a:r>
            <a:r>
              <a:rPr kumimoji="1" lang="ja-JP" altLang="en-US" sz="1300" b="1">
                <a:solidFill>
                  <a:srgbClr val="F8FAFC"/>
                </a:solidFill>
                <a:latin typeface="Meiryo" panose="020B0604030504040204" pitchFamily="50" charset="-128"/>
              </a:rPr>
              <a:t>
・</a:t>
            </a:r>
            <a:r>
              <a:rPr kumimoji="1" lang="en-US" altLang="ja-JP" sz="1300" b="1">
                <a:solidFill>
                  <a:srgbClr val="F8FAFC"/>
                </a:solidFill>
                <a:latin typeface="Meiryo" panose="020B0604030504040204" pitchFamily="50" charset="-128"/>
              </a:rPr>
              <a:t>00-15</a:t>
            </a:r>
            <a:r>
              <a:rPr kumimoji="1" lang="ja-JP" altLang="en-US" sz="1300" b="1">
                <a:solidFill>
                  <a:srgbClr val="F8FAFC"/>
                </a:solidFill>
                <a:latin typeface="Meiryo" panose="020B0604030504040204" pitchFamily="50" charset="-128"/>
              </a:rPr>
              <a:t>分</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イントロダクションと全体構成
・</a:t>
            </a:r>
            <a:r>
              <a:rPr kumimoji="1" lang="en-US" altLang="ja-JP" sz="1300" b="1">
                <a:solidFill>
                  <a:srgbClr val="F8FAFC"/>
                </a:solidFill>
                <a:latin typeface="Meiryo" panose="020B0604030504040204" pitchFamily="50" charset="-128"/>
              </a:rPr>
              <a:t>15-50</a:t>
            </a:r>
            <a:r>
              <a:rPr kumimoji="1" lang="ja-JP" altLang="en-US" sz="1300" b="1">
                <a:solidFill>
                  <a:srgbClr val="F8FAFC"/>
                </a:solidFill>
                <a:latin typeface="Meiryo" panose="020B0604030504040204" pitchFamily="50" charset="-128"/>
              </a:rPr>
              <a:t>分</a:t>
            </a:r>
            <a:r>
              <a:rPr kumimoji="1" lang="en-US" altLang="ja-JP" sz="1300" b="1">
                <a:solidFill>
                  <a:srgbClr val="F8FAFC"/>
                </a:solidFill>
                <a:latin typeface="Meiryo" panose="020B0604030504040204" pitchFamily="50" charset="-128"/>
              </a:rPr>
              <a:t>: ChArUco Board </a:t>
            </a:r>
            <a:r>
              <a:rPr kumimoji="1" lang="ja-JP" altLang="en-US" sz="1300" b="1">
                <a:solidFill>
                  <a:srgbClr val="F8FAFC"/>
                </a:solidFill>
                <a:latin typeface="Meiryo" panose="020B0604030504040204" pitchFamily="50" charset="-128"/>
              </a:rPr>
              <a:t>と標本自動取得
  </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なぜ </a:t>
            </a:r>
            <a:r>
              <a:rPr kumimoji="1" lang="en-US" altLang="ja-JP" sz="1300" b="1">
                <a:solidFill>
                  <a:srgbClr val="F8FAFC"/>
                </a:solidFill>
                <a:latin typeface="Meiryo" panose="020B0604030504040204" pitchFamily="50" charset="-128"/>
              </a:rPr>
              <a:t>ChArUco </a:t>
            </a:r>
            <a:r>
              <a:rPr kumimoji="1" lang="ja-JP" altLang="en-US" sz="1300" b="1">
                <a:solidFill>
                  <a:srgbClr val="F8FAFC"/>
                </a:solidFill>
                <a:latin typeface="Meiryo" panose="020B0604030504040204" pitchFamily="50" charset="-128"/>
              </a:rPr>
              <a:t>なのか？
  </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手動較正の課題（ブレ・重複）
  </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フレーム間変位追跡 </a:t>
            </a:r>
            <a:r>
              <a:rPr kumimoji="1" lang="en-US" altLang="ja-JP" sz="1300" b="1">
                <a:solidFill>
                  <a:srgbClr val="F8FAFC"/>
                </a:solidFill>
                <a:latin typeface="Meiryo" panose="020B0604030504040204" pitchFamily="50" charset="-128"/>
              </a:rPr>
              <a:t>(updateMotion)
  - </a:t>
            </a:r>
            <a:r>
              <a:rPr kumimoji="1" lang="ja-JP" altLang="en-US" sz="1300" b="1">
                <a:solidFill>
                  <a:srgbClr val="F8FAFC"/>
                </a:solidFill>
                <a:latin typeface="Meiryo" panose="020B0604030504040204" pitchFamily="50" charset="-128"/>
              </a:rPr>
              <a:t>統計モーメント多様性 </a:t>
            </a:r>
            <a:r>
              <a:rPr kumimoji="1" lang="en-US" altLang="ja-JP" sz="1300" b="1">
                <a:solidFill>
                  <a:srgbClr val="F8FAFC"/>
                </a:solidFill>
                <a:latin typeface="Meiryo" panose="020B0604030504040204" pitchFamily="50" charset="-128"/>
              </a:rPr>
              <a:t>(isDiverseEnough)
  - </a:t>
            </a:r>
            <a:r>
              <a:rPr kumimoji="1" lang="ja-JP" altLang="en-US" sz="1300" b="1">
                <a:solidFill>
                  <a:srgbClr val="F8FAFC"/>
                </a:solidFill>
                <a:latin typeface="Meiryo" panose="020B0604030504040204" pitchFamily="50" charset="-128"/>
              </a:rPr>
              <a:t>クールダウンと音響フィードバック</a:t>
            </a:r>
          </a:p>
        </p:txBody>
      </p:sp>
      <p:sp>
        <p:nvSpPr>
          <p:cNvPr id="4" name="正方形/長方形 3">
            <a:extLst>
              <a:ext uri="{FF2B5EF4-FFF2-40B4-BE49-F238E27FC236}">
                <a16:creationId xmlns:a16="http://schemas.microsoft.com/office/drawing/2014/main" id="{7DDA27C7-8ED8-DF32-192C-979555CED3DD}"/>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4D399"/>
                </a:solidFill>
                <a:latin typeface="Meiryo" panose="020B0604030504040204" pitchFamily="50" charset="-128"/>
              </a:rPr>
              <a:t>後半</a:t>
            </a:r>
            <a:r>
              <a:rPr kumimoji="1" lang="en-US" altLang="ja-JP" sz="1600" b="1">
                <a:solidFill>
                  <a:srgbClr val="34D399"/>
                </a:solidFill>
                <a:latin typeface="Meiryo" panose="020B0604030504040204" pitchFamily="50" charset="-128"/>
              </a:rPr>
              <a:t>: </a:t>
            </a:r>
            <a:r>
              <a:rPr kumimoji="1" lang="ja-JP" altLang="en-US" sz="1600" b="1">
                <a:solidFill>
                  <a:srgbClr val="34D399"/>
                </a:solidFill>
                <a:latin typeface="Meiryo" panose="020B0604030504040204" pitchFamily="50" charset="-128"/>
              </a:rPr>
              <a:t>低レイヤキャプチャ </a:t>
            </a:r>
            <a:r>
              <a:rPr kumimoji="1" lang="en-US" altLang="ja-JP" sz="1600" b="1">
                <a:solidFill>
                  <a:srgbClr val="34D399"/>
                </a:solidFill>
                <a:latin typeface="Meiryo" panose="020B0604030504040204" pitchFamily="50" charset="-128"/>
              </a:rPr>
              <a:t>(70</a:t>
            </a:r>
            <a:r>
              <a:rPr kumimoji="1" lang="ja-JP" altLang="en-US" sz="1600" b="1">
                <a:solidFill>
                  <a:srgbClr val="34D399"/>
                </a:solidFill>
                <a:latin typeface="Meiryo" panose="020B0604030504040204" pitchFamily="50" charset="-128"/>
              </a:rPr>
              <a:t>分</a:t>
            </a:r>
            <a:r>
              <a:rPr kumimoji="1" lang="en-US" altLang="ja-JP" sz="1600" b="1">
                <a:solidFill>
                  <a:srgbClr val="34D399"/>
                </a:solidFill>
                <a:latin typeface="Meiryo" panose="020B0604030504040204" pitchFamily="50" charset="-128"/>
              </a:rPr>
              <a:t>)</a:t>
            </a:r>
            <a:r>
              <a:rPr kumimoji="1" lang="ja-JP" altLang="en-US" sz="1300" b="1">
                <a:solidFill>
                  <a:srgbClr val="F8FAFC"/>
                </a:solidFill>
                <a:latin typeface="Meiryo" panose="020B0604030504040204" pitchFamily="50" charset="-128"/>
              </a:rPr>
              <a:t>
・</a:t>
            </a:r>
            <a:r>
              <a:rPr kumimoji="1" lang="en-US" altLang="ja-JP" sz="1300" b="1">
                <a:solidFill>
                  <a:srgbClr val="F8FAFC"/>
                </a:solidFill>
                <a:latin typeface="Meiryo" panose="020B0604030504040204" pitchFamily="50" charset="-128"/>
              </a:rPr>
              <a:t>50-85</a:t>
            </a:r>
            <a:r>
              <a:rPr kumimoji="1" lang="ja-JP" altLang="en-US" sz="1300" b="1">
                <a:solidFill>
                  <a:srgbClr val="F8FAFC"/>
                </a:solidFill>
                <a:latin typeface="Meiryo" panose="020B0604030504040204" pitchFamily="50" charset="-128"/>
              </a:rPr>
              <a:t>分</a:t>
            </a:r>
            <a:r>
              <a:rPr kumimoji="1" lang="en-US" altLang="ja-JP" sz="1300" b="1">
                <a:solidFill>
                  <a:srgbClr val="F8FAFC"/>
                </a:solidFill>
                <a:latin typeface="Meiryo" panose="020B0604030504040204" pitchFamily="50" charset="-128"/>
              </a:rPr>
              <a:t>: Media Foundation (CamMf)
  - COM/MF </a:t>
            </a:r>
            <a:r>
              <a:rPr kumimoji="1" lang="ja-JP" altLang="en-US" sz="1300" b="1">
                <a:solidFill>
                  <a:srgbClr val="F8FAFC"/>
                </a:solidFill>
                <a:latin typeface="Meiryo" panose="020B0604030504040204" pitchFamily="50" charset="-128"/>
              </a:rPr>
              <a:t>初期化と遅延初期化
  </a:t>
            </a:r>
            <a:r>
              <a:rPr kumimoji="1" lang="en-US" altLang="ja-JP" sz="1300" b="1">
                <a:solidFill>
                  <a:srgbClr val="F8FAFC"/>
                </a:solidFill>
                <a:latin typeface="Meiryo" panose="020B0604030504040204" pitchFamily="50" charset="-128"/>
              </a:rPr>
              <a:t>- MFT </a:t>
            </a:r>
            <a:r>
              <a:rPr kumimoji="1" lang="ja-JP" altLang="en-US" sz="1300" b="1">
                <a:solidFill>
                  <a:srgbClr val="F8FAFC"/>
                </a:solidFill>
                <a:latin typeface="Meiryo" panose="020B0604030504040204" pitchFamily="50" charset="-128"/>
              </a:rPr>
              <a:t>デコーダと低遅延強制設定
  </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動的ストリームチェンジへの対応
・</a:t>
            </a:r>
            <a:r>
              <a:rPr kumimoji="1" lang="en-US" altLang="ja-JP" sz="1300" b="1">
                <a:solidFill>
                  <a:srgbClr val="F8FAFC"/>
                </a:solidFill>
                <a:latin typeface="Meiryo" panose="020B0604030504040204" pitchFamily="50" charset="-128"/>
              </a:rPr>
              <a:t>85-115</a:t>
            </a:r>
            <a:r>
              <a:rPr kumimoji="1" lang="ja-JP" altLang="en-US" sz="1300" b="1">
                <a:solidFill>
                  <a:srgbClr val="F8FAFC"/>
                </a:solidFill>
                <a:latin typeface="Meiryo" panose="020B0604030504040204" pitchFamily="50" charset="-128"/>
              </a:rPr>
              <a:t>分</a:t>
            </a:r>
            <a:r>
              <a:rPr kumimoji="1" lang="en-US" altLang="ja-JP" sz="1300" b="1">
                <a:solidFill>
                  <a:srgbClr val="F8FAFC"/>
                </a:solidFill>
                <a:latin typeface="Meiryo" panose="020B0604030504040204" pitchFamily="50" charset="-128"/>
              </a:rPr>
              <a:t>: libcamera (CamLibcam)
  - Linux </a:t>
            </a:r>
            <a:r>
              <a:rPr kumimoji="1" lang="ja-JP" altLang="en-US" sz="1300" b="1">
                <a:solidFill>
                  <a:srgbClr val="F8FAFC"/>
                </a:solidFill>
                <a:latin typeface="Meiryo" panose="020B0604030504040204" pitchFamily="50" charset="-128"/>
              </a:rPr>
              <a:t>カメラスタックの変遷
  </a:t>
            </a:r>
            <a:r>
              <a:rPr kumimoji="1" lang="en-US" altLang="ja-JP" sz="1300" b="1">
                <a:solidFill>
                  <a:srgbClr val="F8FAFC"/>
                </a:solidFill>
                <a:latin typeface="Meiryo" panose="020B0604030504040204" pitchFamily="50" charset="-128"/>
              </a:rPr>
              <a:t>- DMA </a:t>
            </a:r>
            <a:r>
              <a:rPr kumimoji="1" lang="ja-JP" altLang="en-US" sz="1300" b="1">
                <a:solidFill>
                  <a:srgbClr val="F8FAFC"/>
                </a:solidFill>
                <a:latin typeface="Meiryo" panose="020B0604030504040204" pitchFamily="50" charset="-128"/>
              </a:rPr>
              <a:t>バッファ確保と </a:t>
            </a:r>
            <a:r>
              <a:rPr kumimoji="1" lang="en-US" altLang="ja-JP" sz="1300" b="1">
                <a:solidFill>
                  <a:srgbClr val="F8FAFC"/>
                </a:solidFill>
                <a:latin typeface="Meiryo" panose="020B0604030504040204" pitchFamily="50" charset="-128"/>
              </a:rPr>
              <a:t>mmap
  - XBGR8888 </a:t>
            </a:r>
            <a:r>
              <a:rPr kumimoji="1" lang="ja-JP" altLang="en-US" sz="1300" b="1">
                <a:solidFill>
                  <a:srgbClr val="F8FAFC"/>
                </a:solidFill>
                <a:latin typeface="Meiryo" panose="020B0604030504040204" pitchFamily="50" charset="-128"/>
              </a:rPr>
              <a:t>ゼロコピー最適化
・</a:t>
            </a:r>
            <a:r>
              <a:rPr kumimoji="1" lang="en-US" altLang="ja-JP" sz="1300" b="1">
                <a:solidFill>
                  <a:srgbClr val="F8FAFC"/>
                </a:solidFill>
                <a:latin typeface="Meiryo" panose="020B0604030504040204" pitchFamily="50" charset="-128"/>
              </a:rPr>
              <a:t>115-120</a:t>
            </a:r>
            <a:r>
              <a:rPr kumimoji="1" lang="ja-JP" altLang="en-US" sz="1300" b="1">
                <a:solidFill>
                  <a:srgbClr val="F8FAFC"/>
                </a:solidFill>
                <a:latin typeface="Meiryo" panose="020B0604030504040204" pitchFamily="50" charset="-128"/>
              </a:rPr>
              <a:t>分</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比較まとめと質疑応答</a:t>
            </a:r>
          </a:p>
        </p:txBody>
      </p:sp>
    </p:spTree>
    <p:extLst>
      <p:ext uri="{BB962C8B-B14F-4D97-AF65-F5344CB8AC3E}">
        <p14:creationId xmlns:p14="http://schemas.microsoft.com/office/powerpoint/2010/main" val="1668346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175122A-0FF0-3A7E-2A9B-852FA7FA3309}"/>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ARCHITECTURE</a:t>
            </a:r>
            <a:r>
              <a:rPr kumimoji="1" lang="ja-JP" altLang="en-US" sz="2400" b="1">
                <a:solidFill>
                  <a:srgbClr val="38BDF8"/>
                </a:solidFill>
                <a:latin typeface="Meiryo" panose="020B0604030504040204" pitchFamily="50" charset="-128"/>
              </a:rPr>
              <a:t>
</a:t>
            </a:r>
            <a:r>
              <a:rPr kumimoji="1" lang="en-US" altLang="ja-JP" sz="2400" b="1">
                <a:solidFill>
                  <a:srgbClr val="38BDF8"/>
                </a:solidFill>
                <a:latin typeface="Meiryo" panose="020B0604030504040204" pitchFamily="50" charset="-128"/>
              </a:rPr>
              <a:t>calib </a:t>
            </a:r>
            <a:r>
              <a:rPr kumimoji="1" lang="ja-JP" altLang="en-US" sz="2400" b="1">
                <a:solidFill>
                  <a:srgbClr val="38BDF8"/>
                </a:solidFill>
                <a:latin typeface="Meiryo" panose="020B0604030504040204" pitchFamily="50" charset="-128"/>
              </a:rPr>
              <a:t>の全体像</a:t>
            </a:r>
            <a:r>
              <a:rPr kumimoji="1" lang="en-US" altLang="ja-JP" sz="2400" b="1">
                <a:solidFill>
                  <a:srgbClr val="38BDF8"/>
                </a:solidFill>
                <a:latin typeface="Meiryo" panose="020B0604030504040204" pitchFamily="50" charset="-128"/>
              </a:rPr>
              <a:t>: CPU </a:t>
            </a:r>
            <a:r>
              <a:rPr kumimoji="1" lang="ja-JP" altLang="en-US" sz="2400" b="1">
                <a:solidFill>
                  <a:srgbClr val="38BDF8"/>
                </a:solidFill>
                <a:latin typeface="Meiryo" panose="020B0604030504040204" pitchFamily="50" charset="-128"/>
              </a:rPr>
              <a:t>と </a:t>
            </a:r>
            <a:r>
              <a:rPr kumimoji="1" lang="en-US" altLang="ja-JP" sz="2400" b="1">
                <a:solidFill>
                  <a:srgbClr val="38BDF8"/>
                </a:solidFill>
                <a:latin typeface="Meiryo" panose="020B0604030504040204" pitchFamily="50" charset="-128"/>
              </a:rPr>
              <a:t>GPU </a:t>
            </a:r>
            <a:r>
              <a:rPr kumimoji="1" lang="ja-JP" altLang="en-US" sz="2400" b="1">
                <a:solidFill>
                  <a:srgbClr val="38BDF8"/>
                </a:solidFill>
                <a:latin typeface="Meiryo" panose="020B0604030504040204" pitchFamily="50" charset="-128"/>
              </a:rPr>
              <a:t>の役割分担</a:t>
            </a:r>
          </a:p>
        </p:txBody>
      </p:sp>
      <p:sp>
        <p:nvSpPr>
          <p:cNvPr id="3" name="正方形/長方形 2">
            <a:extLst>
              <a:ext uri="{FF2B5EF4-FFF2-40B4-BE49-F238E27FC236}">
                <a16:creationId xmlns:a16="http://schemas.microsoft.com/office/drawing/2014/main" id="{99B15722-CC0E-32BA-9248-C2BDBF6AEA22}"/>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8BDF8"/>
                </a:solidFill>
                <a:latin typeface="Meiryo" panose="020B0604030504040204" pitchFamily="50" charset="-128"/>
              </a:rPr>
              <a:t>CPU </a:t>
            </a:r>
            <a:r>
              <a:rPr kumimoji="1" lang="ja-JP" altLang="en-US" sz="1600" b="1">
                <a:solidFill>
                  <a:srgbClr val="38BDF8"/>
                </a:solidFill>
                <a:latin typeface="Meiryo" panose="020B0604030504040204" pitchFamily="50" charset="-128"/>
              </a:rPr>
              <a:t>側 </a:t>
            </a:r>
            <a:r>
              <a:rPr kumimoji="1" lang="en-US" altLang="ja-JP" sz="1600" b="1">
                <a:solidFill>
                  <a:srgbClr val="38BDF8"/>
                </a:solidFill>
                <a:latin typeface="Meiryo" panose="020B0604030504040204" pitchFamily="50" charset="-128"/>
              </a:rPr>
              <a:t>(OpenCV </a:t>
            </a:r>
            <a:r>
              <a:rPr kumimoji="1" lang="ja-JP" altLang="en-US" sz="1600" b="1">
                <a:solidFill>
                  <a:srgbClr val="38BDF8"/>
                </a:solidFill>
                <a:latin typeface="Meiryo" panose="020B0604030504040204" pitchFamily="50" charset="-128"/>
              </a:rPr>
              <a:t>とキャプチャ</a:t>
            </a:r>
            <a:r>
              <a:rPr kumimoji="1" lang="en-US" altLang="ja-JP" sz="1600" b="1">
                <a:solidFill>
                  <a:srgbClr val="38BDF8"/>
                </a:solidFill>
                <a:latin typeface="Meiryo" panose="020B0604030504040204" pitchFamily="50" charset="-128"/>
              </a:rPr>
              <a:t>)</a:t>
            </a:r>
            <a:r>
              <a:rPr kumimoji="1" lang="ja-JP" altLang="en-US" sz="1300" b="1">
                <a:solidFill>
                  <a:srgbClr val="F8FAFC"/>
                </a:solidFill>
                <a:latin typeface="Meiryo" panose="020B0604030504040204" pitchFamily="50" charset="-128"/>
              </a:rPr>
              <a:t>
・入力取得</a:t>
            </a:r>
            <a:r>
              <a:rPr kumimoji="1" lang="en-US" altLang="ja-JP" sz="1300" b="1">
                <a:solidFill>
                  <a:srgbClr val="F8FAFC"/>
                </a:solidFill>
                <a:latin typeface="Meiryo" panose="020B0604030504040204" pitchFamily="50" charset="-128"/>
              </a:rPr>
              <a:t>: CamMf / CamLibcam / CamCv </a:t>
            </a:r>
            <a:r>
              <a:rPr kumimoji="1" lang="ja-JP" altLang="en-US" sz="1300" b="1">
                <a:solidFill>
                  <a:srgbClr val="F8FAFC"/>
                </a:solidFill>
                <a:latin typeface="Meiryo" panose="020B0604030504040204" pitchFamily="50" charset="-128"/>
              </a:rPr>
              <a:t>による非同期取得
・</a:t>
            </a:r>
            <a:r>
              <a:rPr kumimoji="1" lang="en-US" altLang="ja-JP" sz="1300" b="1">
                <a:solidFill>
                  <a:srgbClr val="F8FAFC"/>
                </a:solidFill>
                <a:latin typeface="Meiryo" panose="020B0604030504040204" pitchFamily="50" charset="-128"/>
              </a:rPr>
              <a:t>ChArUco </a:t>
            </a:r>
            <a:r>
              <a:rPr kumimoji="1" lang="ja-JP" altLang="en-US" sz="1300" b="1">
                <a:solidFill>
                  <a:srgbClr val="F8FAFC"/>
                </a:solidFill>
                <a:latin typeface="Meiryo" panose="020B0604030504040204" pitchFamily="50" charset="-128"/>
              </a:rPr>
              <a:t>検出</a:t>
            </a:r>
            <a:r>
              <a:rPr kumimoji="1" lang="en-US" altLang="ja-JP" sz="1300" b="1">
                <a:solidFill>
                  <a:srgbClr val="F8FAFC"/>
                </a:solidFill>
                <a:latin typeface="Meiryo" panose="020B0604030504040204" pitchFamily="50" charset="-128"/>
              </a:rPr>
              <a:t>: cv::aruco::CharucoDetector
</a:t>
            </a:r>
            <a:r>
              <a:rPr kumimoji="1" lang="ja-JP" altLang="en-US" sz="1300" b="1">
                <a:solidFill>
                  <a:srgbClr val="F8FAFC"/>
                </a:solidFill>
                <a:latin typeface="Meiryo" panose="020B0604030504040204" pitchFamily="50" charset="-128"/>
              </a:rPr>
              <a:t>・自動取得判定</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変位追跡 ＋ 幾何モーメント解析
・較正計算</a:t>
            </a:r>
            <a:r>
              <a:rPr kumimoji="1" lang="en-US" altLang="ja-JP" sz="1300" b="1">
                <a:solidFill>
                  <a:srgbClr val="F8FAFC"/>
                </a:solidFill>
                <a:latin typeface="Meiryo" panose="020B0604030504040204" pitchFamily="50" charset="-128"/>
              </a:rPr>
              <a:t>: calibrateCamera (</a:t>
            </a:r>
            <a:r>
              <a:rPr kumimoji="1" lang="ja-JP" altLang="en-US" sz="1300" b="1">
                <a:solidFill>
                  <a:srgbClr val="F8FAFC"/>
                </a:solidFill>
                <a:latin typeface="Meiryo" panose="020B0604030504040204" pitchFamily="50" charset="-128"/>
              </a:rPr>
              <a:t>カメラ行列 </a:t>
            </a:r>
            <a:r>
              <a:rPr kumimoji="1" lang="en-US" altLang="ja-JP" sz="1300" b="1">
                <a:solidFill>
                  <a:srgbClr val="F8FAFC"/>
                </a:solidFill>
                <a:latin typeface="Meiryo" panose="020B0604030504040204" pitchFamily="50" charset="-128"/>
              </a:rPr>
              <a:t>K, </a:t>
            </a:r>
            <a:r>
              <a:rPr kumimoji="1" lang="ja-JP" altLang="en-US" sz="1300" b="1">
                <a:solidFill>
                  <a:srgbClr val="F8FAFC"/>
                </a:solidFill>
                <a:latin typeface="Meiryo" panose="020B0604030504040204" pitchFamily="50" charset="-128"/>
              </a:rPr>
              <a:t>歪み係数 </a:t>
            </a:r>
            <a:r>
              <a:rPr kumimoji="1" lang="en-US" altLang="ja-JP" sz="1300" b="1">
                <a:solidFill>
                  <a:srgbClr val="F8FAFC"/>
                </a:solidFill>
                <a:latin typeface="Meiryo" panose="020B0604030504040204" pitchFamily="50" charset="-128"/>
              </a:rPr>
              <a:t>D)</a:t>
            </a:r>
            <a:endParaRPr kumimoji="1" lang="ja-JP" altLang="en-US" sz="1300" b="1">
              <a:solidFill>
                <a:srgbClr val="F8FAFC"/>
              </a:solidFill>
              <a:latin typeface="Meiryo" panose="020B0604030504040204" pitchFamily="50" charset="-128"/>
            </a:endParaRPr>
          </a:p>
        </p:txBody>
      </p:sp>
      <p:sp>
        <p:nvSpPr>
          <p:cNvPr id="4" name="正方形/長方形 3">
            <a:extLst>
              <a:ext uri="{FF2B5EF4-FFF2-40B4-BE49-F238E27FC236}">
                <a16:creationId xmlns:a16="http://schemas.microsoft.com/office/drawing/2014/main" id="{EBC3E02F-D7F8-C4E5-3732-39F5E5563B22}"/>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4D399"/>
                </a:solidFill>
                <a:latin typeface="Meiryo" panose="020B0604030504040204" pitchFamily="50" charset="-128"/>
              </a:rPr>
              <a:t>GPU </a:t>
            </a:r>
            <a:r>
              <a:rPr kumimoji="1" lang="ja-JP" altLang="en-US" sz="1600" b="1">
                <a:solidFill>
                  <a:srgbClr val="34D399"/>
                </a:solidFill>
                <a:latin typeface="Meiryo" panose="020B0604030504040204" pitchFamily="50" charset="-128"/>
              </a:rPr>
              <a:t>側 </a:t>
            </a:r>
            <a:r>
              <a:rPr kumimoji="1" lang="en-US" altLang="ja-JP" sz="1600" b="1">
                <a:solidFill>
                  <a:srgbClr val="34D399"/>
                </a:solidFill>
                <a:latin typeface="Meiryo" panose="020B0604030504040204" pitchFamily="50" charset="-128"/>
              </a:rPr>
              <a:t>(OpenGL / GLSL)</a:t>
            </a:r>
            <a:r>
              <a:rPr kumimoji="1" lang="ja-JP" altLang="en-US" sz="1300" b="1">
                <a:solidFill>
                  <a:srgbClr val="F8FAFC"/>
                </a:solidFill>
                <a:latin typeface="Meiryo" panose="020B0604030504040204" pitchFamily="50" charset="-128"/>
              </a:rPr>
              <a:t>
・第</a:t>
            </a:r>
            <a:r>
              <a:rPr kumimoji="1" lang="en-US" altLang="ja-JP" sz="1300" b="1">
                <a:solidFill>
                  <a:srgbClr val="F8FAFC"/>
                </a:solidFill>
                <a:latin typeface="Meiryo" panose="020B0604030504040204" pitchFamily="50" charset="-128"/>
              </a:rPr>
              <a:t>1</a:t>
            </a:r>
            <a:r>
              <a:rPr kumimoji="1" lang="ja-JP" altLang="en-US" sz="1300" b="1">
                <a:solidFill>
                  <a:srgbClr val="F8FAFC"/>
                </a:solidFill>
                <a:latin typeface="Meiryo" panose="020B0604030504040204" pitchFamily="50" charset="-128"/>
              </a:rPr>
              <a:t>パス </a:t>
            </a:r>
            <a:r>
              <a:rPr kumimoji="1" lang="en-US" altLang="ja-JP" sz="1300" b="1">
                <a:solidFill>
                  <a:srgbClr val="F8FAFC"/>
                </a:solidFill>
                <a:latin typeface="Meiryo" panose="020B0604030504040204" pitchFamily="50" charset="-128"/>
              </a:rPr>
              <a:t>(</a:t>
            </a:r>
            <a:r>
              <a:rPr kumimoji="1" lang="ja-JP" altLang="en-US" sz="1300" b="1">
                <a:solidFill>
                  <a:srgbClr val="F8FAFC"/>
                </a:solidFill>
                <a:latin typeface="Meiryo" panose="020B0604030504040204" pitchFamily="50" charset="-128"/>
              </a:rPr>
              <a:t>歪み補正</a:t>
            </a:r>
            <a:r>
              <a:rPr kumimoji="1" lang="en-US" altLang="ja-JP" sz="1300" b="1">
                <a:solidFill>
                  <a:srgbClr val="F8FAFC"/>
                </a:solidFill>
                <a:latin typeface="Meiryo" panose="020B0604030504040204" pitchFamily="50" charset="-128"/>
              </a:rPr>
              <a:t>): undistortion.frag </a:t>
            </a:r>
            <a:r>
              <a:rPr kumimoji="1" lang="ja-JP" altLang="en-US" sz="1300" b="1">
                <a:solidFill>
                  <a:srgbClr val="F8FAFC"/>
                </a:solidFill>
                <a:latin typeface="Meiryo" panose="020B0604030504040204" pitchFamily="50" charset="-128"/>
              </a:rPr>
              <a:t>による補正描画
・第</a:t>
            </a:r>
            <a:r>
              <a:rPr kumimoji="1" lang="en-US" altLang="ja-JP" sz="1300" b="1">
                <a:solidFill>
                  <a:srgbClr val="F8FAFC"/>
                </a:solidFill>
                <a:latin typeface="Meiryo" panose="020B0604030504040204" pitchFamily="50" charset="-128"/>
              </a:rPr>
              <a:t>2</a:t>
            </a:r>
            <a:r>
              <a:rPr kumimoji="1" lang="ja-JP" altLang="en-US" sz="1300" b="1">
                <a:solidFill>
                  <a:srgbClr val="F8FAFC"/>
                </a:solidFill>
                <a:latin typeface="Meiryo" panose="020B0604030504040204" pitchFamily="50" charset="-128"/>
              </a:rPr>
              <a:t>パス </a:t>
            </a:r>
            <a:r>
              <a:rPr kumimoji="1" lang="en-US" altLang="ja-JP" sz="1300" b="1">
                <a:solidFill>
                  <a:srgbClr val="F8FAFC"/>
                </a:solidFill>
                <a:latin typeface="Meiryo" panose="020B0604030504040204" pitchFamily="50" charset="-128"/>
              </a:rPr>
              <a:t>(</a:t>
            </a:r>
            <a:r>
              <a:rPr kumimoji="1" lang="ja-JP" altLang="en-US" sz="1300" b="1">
                <a:solidFill>
                  <a:srgbClr val="F8FAFC"/>
                </a:solidFill>
                <a:latin typeface="Meiryo" panose="020B0604030504040204" pitchFamily="50" charset="-128"/>
              </a:rPr>
              <a:t>展開表示</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正射影、立体射影、正距円筒射影
・最終描画</a:t>
            </a:r>
            <a:r>
              <a:rPr kumimoji="1" lang="en-US" altLang="ja-JP" sz="1300" b="1">
                <a:solidFill>
                  <a:srgbClr val="F8FAFC"/>
                </a:solidFill>
                <a:latin typeface="Meiryo" panose="020B0604030504040204" pitchFamily="50" charset="-128"/>
              </a:rPr>
              <a:t>: Dear ImGui UI </a:t>
            </a:r>
            <a:r>
              <a:rPr kumimoji="1" lang="ja-JP" altLang="en-US" sz="1300" b="1">
                <a:solidFill>
                  <a:srgbClr val="F8FAFC"/>
                </a:solidFill>
                <a:latin typeface="Meiryo" panose="020B0604030504040204" pitchFamily="50" charset="-128"/>
              </a:rPr>
              <a:t>描画 ＋ </a:t>
            </a:r>
            <a:r>
              <a:rPr kumimoji="1" lang="en-US" altLang="ja-JP" sz="1300" b="1">
                <a:solidFill>
                  <a:srgbClr val="F8FAFC"/>
                </a:solidFill>
                <a:latin typeface="Meiryo" panose="020B0604030504040204" pitchFamily="50" charset="-128"/>
              </a:rPr>
              <a:t>contain </a:t>
            </a:r>
            <a:r>
              <a:rPr kumimoji="1" lang="ja-JP" altLang="en-US" sz="1300" b="1">
                <a:solidFill>
                  <a:srgbClr val="F8FAFC"/>
                </a:solidFill>
                <a:latin typeface="Meiryo" panose="020B0604030504040204" pitchFamily="50" charset="-128"/>
              </a:rPr>
              <a:t>方式中央表示</a:t>
            </a:r>
          </a:p>
        </p:txBody>
      </p:sp>
    </p:spTree>
    <p:extLst>
      <p:ext uri="{BB962C8B-B14F-4D97-AF65-F5344CB8AC3E}">
        <p14:creationId xmlns:p14="http://schemas.microsoft.com/office/powerpoint/2010/main" val="3543769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8E91C1F-5A87-7BC3-4962-D2FE300D2650}"/>
              </a:ext>
            </a:extLst>
          </p:cNvPr>
          <p:cNvSpPr txBox="1"/>
          <p:nvPr/>
        </p:nvSpPr>
        <p:spPr>
          <a:xfrm>
            <a:off x="1016000" y="2032000"/>
            <a:ext cx="10160000" cy="2123658"/>
          </a:xfrm>
          <a:prstGeom prst="rect">
            <a:avLst/>
          </a:prstGeom>
          <a:noFill/>
        </p:spPr>
        <p:txBody>
          <a:bodyPr vert="horz" wrap="square" rtlCol="0">
            <a:spAutoFit/>
          </a:bodyPr>
          <a:lstStyle/>
          <a:p>
            <a:pPr algn="ctr"/>
            <a:r>
              <a:rPr kumimoji="1" lang="en-US" altLang="ja-JP" sz="1600" b="1">
                <a:solidFill>
                  <a:srgbClr val="34D399"/>
                </a:solidFill>
                <a:latin typeface="Meiryo" panose="020B0604030504040204" pitchFamily="50" charset="-128"/>
              </a:rPr>
              <a:t>Part 1</a:t>
            </a:r>
            <a:r>
              <a:rPr kumimoji="1" lang="ja-JP" altLang="en-US" sz="3400" b="1">
                <a:solidFill>
                  <a:srgbClr val="F8FAFC"/>
                </a:solidFill>
                <a:latin typeface="Meiryo" panose="020B0604030504040204" pitchFamily="50" charset="-128"/>
              </a:rPr>
              <a:t>
</a:t>
            </a:r>
            <a:r>
              <a:rPr kumimoji="1" lang="en-US" altLang="ja-JP" sz="3400" b="1">
                <a:solidFill>
                  <a:srgbClr val="F8FAFC"/>
                </a:solidFill>
                <a:latin typeface="Meiryo" panose="020B0604030504040204" pitchFamily="50" charset="-128"/>
              </a:rPr>
              <a:t>ChArUco Board </a:t>
            </a:r>
            <a:r>
              <a:rPr kumimoji="1" lang="ja-JP" altLang="en-US" sz="3400" b="1">
                <a:solidFill>
                  <a:srgbClr val="F8FAFC"/>
                </a:solidFill>
                <a:latin typeface="Meiryo" panose="020B0604030504040204" pitchFamily="50" charset="-128"/>
              </a:rPr>
              <a:t>によるカメラ較正と
標本自動取得アルゴリズム</a:t>
            </a:r>
            <a:r>
              <a:rPr kumimoji="1" lang="ja-JP" altLang="en-US" sz="1500" b="1">
                <a:solidFill>
                  <a:srgbClr val="38BDF8"/>
                </a:solidFill>
                <a:latin typeface="Meiryo" panose="020B0604030504040204" pitchFamily="50" charset="-128"/>
              </a:rPr>
              <a:t>
モーション検出・画像モーメント・幾何多様性チェック</a:t>
            </a:r>
          </a:p>
        </p:txBody>
      </p:sp>
    </p:spTree>
    <p:extLst>
      <p:ext uri="{BB962C8B-B14F-4D97-AF65-F5344CB8AC3E}">
        <p14:creationId xmlns:p14="http://schemas.microsoft.com/office/powerpoint/2010/main" val="4161554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91CCDD4-9C62-8B90-FF0F-3E3F804DBA88}"/>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1: CHARUCO CALIBRATION</a:t>
            </a:r>
            <a:r>
              <a:rPr kumimoji="1" lang="ja-JP" altLang="en-US" sz="2400" b="1">
                <a:solidFill>
                  <a:srgbClr val="38BDF8"/>
                </a:solidFill>
                <a:latin typeface="Meiryo" panose="020B0604030504040204" pitchFamily="50" charset="-128"/>
              </a:rPr>
              <a:t>
なぜ </a:t>
            </a:r>
            <a:r>
              <a:rPr kumimoji="1" lang="en-US" altLang="ja-JP" sz="2400" b="1">
                <a:solidFill>
                  <a:srgbClr val="38BDF8"/>
                </a:solidFill>
                <a:latin typeface="Meiryo" panose="020B0604030504040204" pitchFamily="50" charset="-128"/>
              </a:rPr>
              <a:t>ChArUco Board </a:t>
            </a:r>
            <a:r>
              <a:rPr kumimoji="1" lang="ja-JP" altLang="en-US" sz="2400" b="1">
                <a:solidFill>
                  <a:srgbClr val="38BDF8"/>
                </a:solidFill>
                <a:latin typeface="Meiryo" panose="020B0604030504040204" pitchFamily="50" charset="-128"/>
              </a:rPr>
              <a:t>なのか？</a:t>
            </a:r>
          </a:p>
        </p:txBody>
      </p:sp>
      <p:sp>
        <p:nvSpPr>
          <p:cNvPr id="3" name="正方形/長方形 2">
            <a:extLst>
              <a:ext uri="{FF2B5EF4-FFF2-40B4-BE49-F238E27FC236}">
                <a16:creationId xmlns:a16="http://schemas.microsoft.com/office/drawing/2014/main" id="{535C1043-03A5-AA04-939F-195EAFEE027C}"/>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8BDF8"/>
                </a:solidFill>
                <a:latin typeface="Meiryo" panose="020B0604030504040204" pitchFamily="50" charset="-128"/>
              </a:rPr>
              <a:t>Chessboard </a:t>
            </a:r>
            <a:r>
              <a:rPr kumimoji="1" lang="ja-JP" altLang="en-US" sz="1600" b="1">
                <a:solidFill>
                  <a:srgbClr val="38BDF8"/>
                </a:solidFill>
                <a:latin typeface="Meiryo" panose="020B0604030504040204" pitchFamily="50" charset="-128"/>
              </a:rPr>
              <a:t>と </a:t>
            </a:r>
            <a:r>
              <a:rPr kumimoji="1" lang="en-US" altLang="ja-JP" sz="1600" b="1">
                <a:solidFill>
                  <a:srgbClr val="38BDF8"/>
                </a:solidFill>
                <a:latin typeface="Meiryo" panose="020B0604030504040204" pitchFamily="50" charset="-128"/>
              </a:rPr>
              <a:t>ArUco </a:t>
            </a:r>
            <a:r>
              <a:rPr kumimoji="1" lang="ja-JP" altLang="en-US" sz="1600" b="1">
                <a:solidFill>
                  <a:srgbClr val="38BDF8"/>
                </a:solidFill>
                <a:latin typeface="Meiryo" panose="020B0604030504040204" pitchFamily="50" charset="-128"/>
              </a:rPr>
              <a:t>の融合</a:t>
            </a:r>
            <a:r>
              <a:rPr kumimoji="1" lang="ja-JP" altLang="en-US" sz="1300" b="1">
                <a:solidFill>
                  <a:srgbClr val="F8FAFC"/>
                </a:solidFill>
                <a:latin typeface="Meiryo" panose="020B0604030504040204" pitchFamily="50" charset="-128"/>
              </a:rPr>
              <a:t>
・チェッカーボード</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交点精度は極めて高いが、一部が見切れると全交点の認識に失敗し </a:t>
            </a:r>
            <a:r>
              <a:rPr kumimoji="1" lang="en-US" altLang="ja-JP" sz="1300" b="1">
                <a:solidFill>
                  <a:srgbClr val="F8FAFC"/>
                </a:solidFill>
                <a:latin typeface="Meiryo" panose="020B0604030504040204" pitchFamily="50" charset="-128"/>
              </a:rPr>
              <a:t>1 </a:t>
            </a:r>
            <a:r>
              <a:rPr kumimoji="1" lang="ja-JP" altLang="en-US" sz="1300" b="1">
                <a:solidFill>
                  <a:srgbClr val="F8FAFC"/>
                </a:solidFill>
                <a:latin typeface="Meiryo" panose="020B0604030504040204" pitchFamily="50" charset="-128"/>
              </a:rPr>
              <a:t>点も検出できない。
・</a:t>
            </a:r>
            <a:r>
              <a:rPr kumimoji="1" lang="en-US" altLang="ja-JP" sz="1300" b="1">
                <a:solidFill>
                  <a:srgbClr val="F8FAFC"/>
                </a:solidFill>
                <a:latin typeface="Meiryo" panose="020B0604030504040204" pitchFamily="50" charset="-128"/>
              </a:rPr>
              <a:t>ArUco </a:t>
            </a:r>
            <a:r>
              <a:rPr kumimoji="1" lang="ja-JP" altLang="en-US" sz="1300" b="1">
                <a:solidFill>
                  <a:srgbClr val="F8FAFC"/>
                </a:solidFill>
                <a:latin typeface="Meiryo" panose="020B0604030504040204" pitchFamily="50" charset="-128"/>
              </a:rPr>
              <a:t>マーカー</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固有 </a:t>
            </a:r>
            <a:r>
              <a:rPr kumimoji="1" lang="en-US" altLang="ja-JP" sz="1300" b="1">
                <a:solidFill>
                  <a:srgbClr val="F8FAFC"/>
                </a:solidFill>
                <a:latin typeface="Meiryo" panose="020B0604030504040204" pitchFamily="50" charset="-128"/>
              </a:rPr>
              <a:t>ID </a:t>
            </a:r>
            <a:r>
              <a:rPr kumimoji="1" lang="ja-JP" altLang="en-US" sz="1300" b="1">
                <a:solidFill>
                  <a:srgbClr val="F8FAFC"/>
                </a:solidFill>
                <a:latin typeface="Meiryo" panose="020B0604030504040204" pitchFamily="50" charset="-128"/>
              </a:rPr>
              <a:t>を持ち隠れに強いが、四隅のコーナー精度が低く較正には不向き。
・</a:t>
            </a:r>
            <a:r>
              <a:rPr kumimoji="1" lang="en-US" altLang="ja-JP" sz="1300" b="1">
                <a:solidFill>
                  <a:srgbClr val="F8FAFC"/>
                </a:solidFill>
                <a:latin typeface="Meiryo" panose="020B0604030504040204" pitchFamily="50" charset="-128"/>
              </a:rPr>
              <a:t>ChArUco Board:
  </a:t>
            </a:r>
            <a:r>
              <a:rPr kumimoji="1" lang="ja-JP" altLang="en-US" sz="1300" b="1">
                <a:solidFill>
                  <a:srgbClr val="F8FAFC"/>
                </a:solidFill>
                <a:latin typeface="Meiryo" panose="020B0604030504040204" pitchFamily="50" charset="-128"/>
              </a:rPr>
              <a:t>マーカーから各交点の絶対 </a:t>
            </a:r>
            <a:r>
              <a:rPr kumimoji="1" lang="en-US" altLang="ja-JP" sz="1300" b="1">
                <a:solidFill>
                  <a:srgbClr val="F8FAFC"/>
                </a:solidFill>
                <a:latin typeface="Meiryo" panose="020B0604030504040204" pitchFamily="50" charset="-128"/>
              </a:rPr>
              <a:t>ID </a:t>
            </a:r>
            <a:r>
              <a:rPr kumimoji="1" lang="ja-JP" altLang="en-US" sz="1300" b="1">
                <a:solidFill>
                  <a:srgbClr val="F8FAFC"/>
                </a:solidFill>
                <a:latin typeface="Meiryo" panose="020B0604030504040204" pitchFamily="50" charset="-128"/>
              </a:rPr>
              <a:t>を特定するため、画面端で見切れても検出可能！交点自体は高精度なチェッカー交点を採用。</a:t>
            </a:r>
          </a:p>
        </p:txBody>
      </p:sp>
      <p:sp>
        <p:nvSpPr>
          <p:cNvPr id="4" name="正方形/長方形 3">
            <a:extLst>
              <a:ext uri="{FF2B5EF4-FFF2-40B4-BE49-F238E27FC236}">
                <a16:creationId xmlns:a16="http://schemas.microsoft.com/office/drawing/2014/main" id="{18D8E116-6E57-4A78-EC1B-CEDF1C14E172}"/>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4D399"/>
                </a:solidFill>
                <a:latin typeface="Meiryo" panose="020B0604030504040204" pitchFamily="50" charset="-128"/>
              </a:rPr>
              <a:t>歪み補正における決定的な利点</a:t>
            </a:r>
            <a:r>
              <a:rPr kumimoji="1" lang="ja-JP" altLang="en-US" sz="1300" b="1">
                <a:solidFill>
                  <a:srgbClr val="F8FAFC"/>
                </a:solidFill>
                <a:latin typeface="Meiryo" panose="020B0604030504040204" pitchFamily="50" charset="-128"/>
              </a:rPr>
              <a:t>
広角・魚眼レンズでは、画面の最周辺部（四隅）で歪みが最大になります。
従来のチェッカーボードでは四隅にボードを配置すると見切れて検出不能になりがちでしたが、</a:t>
            </a:r>
            <a:r>
              <a:rPr kumimoji="1" lang="en-US" altLang="ja-JP" sz="1300" b="1">
                <a:solidFill>
                  <a:srgbClr val="F8FAFC"/>
                </a:solidFill>
                <a:latin typeface="Meiryo" panose="020B0604030504040204" pitchFamily="50" charset="-128"/>
              </a:rPr>
              <a:t>ChArUco </a:t>
            </a:r>
            <a:r>
              <a:rPr kumimoji="1" lang="ja-JP" altLang="en-US" sz="1300" b="1">
                <a:solidFill>
                  <a:srgbClr val="F8FAFC"/>
                </a:solidFill>
                <a:latin typeface="Meiryo" panose="020B0604030504040204" pitchFamily="50" charset="-128"/>
              </a:rPr>
              <a:t>なら半分画面外にはみ出しても周辺部の標本を確実に採取できます。</a:t>
            </a:r>
          </a:p>
        </p:txBody>
      </p:sp>
    </p:spTree>
    <p:extLst>
      <p:ext uri="{BB962C8B-B14F-4D97-AF65-F5344CB8AC3E}">
        <p14:creationId xmlns:p14="http://schemas.microsoft.com/office/powerpoint/2010/main" val="1785373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078D08D-A21F-AE0B-6DAC-01C5F3CA1826}"/>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1: CHARUCO CALIBRATION</a:t>
            </a:r>
            <a:r>
              <a:rPr kumimoji="1" lang="ja-JP" altLang="en-US" sz="2400" b="1">
                <a:solidFill>
                  <a:srgbClr val="38BDF8"/>
                </a:solidFill>
                <a:latin typeface="Meiryo" panose="020B0604030504040204" pitchFamily="50" charset="-128"/>
              </a:rPr>
              <a:t>
手動較正の課題</a:t>
            </a:r>
            <a:r>
              <a:rPr kumimoji="1" lang="en-US" altLang="ja-JP" sz="2400" b="1">
                <a:solidFill>
                  <a:srgbClr val="38BDF8"/>
                </a:solidFill>
                <a:latin typeface="Meiryo" panose="020B0604030504040204" pitchFamily="50" charset="-128"/>
              </a:rPr>
              <a:t>: </a:t>
            </a:r>
            <a:r>
              <a:rPr kumimoji="1" lang="ja-JP" altLang="en-US" sz="2400" b="1">
                <a:solidFill>
                  <a:srgbClr val="38BDF8"/>
                </a:solidFill>
                <a:latin typeface="Meiryo" panose="020B0604030504040204" pitchFamily="50" charset="-128"/>
              </a:rPr>
              <a:t>「ブレ」と「重複」</a:t>
            </a:r>
          </a:p>
        </p:txBody>
      </p:sp>
      <p:sp>
        <p:nvSpPr>
          <p:cNvPr id="3" name="正方形/長方形 2">
            <a:extLst>
              <a:ext uri="{FF2B5EF4-FFF2-40B4-BE49-F238E27FC236}">
                <a16:creationId xmlns:a16="http://schemas.microsoft.com/office/drawing/2014/main" id="{772FC016-451B-2905-E96C-B03B9E957A5B}"/>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課題 </a:t>
            </a:r>
            <a:r>
              <a:rPr kumimoji="1" lang="en-US" altLang="ja-JP" sz="1600" b="1">
                <a:solidFill>
                  <a:srgbClr val="38BDF8"/>
                </a:solidFill>
                <a:latin typeface="Meiryo" panose="020B0604030504040204" pitchFamily="50" charset="-128"/>
              </a:rPr>
              <a:t>1: </a:t>
            </a:r>
            <a:r>
              <a:rPr kumimoji="1" lang="ja-JP" altLang="en-US" sz="1600" b="1">
                <a:solidFill>
                  <a:srgbClr val="38BDF8"/>
                </a:solidFill>
                <a:latin typeface="Meiryo" panose="020B0604030504040204" pitchFamily="50" charset="-128"/>
              </a:rPr>
              <a:t>モーションブラー </a:t>
            </a:r>
            <a:r>
              <a:rPr kumimoji="1" lang="en-US" altLang="ja-JP" sz="1600" b="1">
                <a:solidFill>
                  <a:srgbClr val="38BDF8"/>
                </a:solidFill>
                <a:latin typeface="Meiryo" panose="020B0604030504040204" pitchFamily="50" charset="-128"/>
              </a:rPr>
              <a:t>(</a:t>
            </a:r>
            <a:r>
              <a:rPr kumimoji="1" lang="ja-JP" altLang="en-US" sz="1600" b="1">
                <a:solidFill>
                  <a:srgbClr val="38BDF8"/>
                </a:solidFill>
                <a:latin typeface="Meiryo" panose="020B0604030504040204" pitchFamily="50" charset="-128"/>
              </a:rPr>
              <a:t>ブレ</a:t>
            </a:r>
            <a:r>
              <a:rPr kumimoji="1" lang="en-US" altLang="ja-JP" sz="1600" b="1">
                <a:solidFill>
                  <a:srgbClr val="38BDF8"/>
                </a:solidFill>
                <a:latin typeface="Meiryo" panose="020B0604030504040204" pitchFamily="50" charset="-128"/>
              </a:rPr>
              <a:t>)</a:t>
            </a:r>
            <a:r>
              <a:rPr kumimoji="1" lang="ja-JP" altLang="en-US" sz="1300" b="1">
                <a:solidFill>
                  <a:srgbClr val="F8FAFC"/>
                </a:solidFill>
                <a:latin typeface="Meiryo" panose="020B0604030504040204" pitchFamily="50" charset="-128"/>
              </a:rPr>
              <a:t>
・片手でボードを持ち、もう片手でキーボードやマウスを押すと必ず手振れが発生。
・ブレた画像ではコーナー検出位置が数ピクセル狂い、再投影誤差が大幅に悪化する。</a:t>
            </a:r>
          </a:p>
        </p:txBody>
      </p:sp>
      <p:sp>
        <p:nvSpPr>
          <p:cNvPr id="4" name="正方形/長方形 3">
            <a:extLst>
              <a:ext uri="{FF2B5EF4-FFF2-40B4-BE49-F238E27FC236}">
                <a16:creationId xmlns:a16="http://schemas.microsoft.com/office/drawing/2014/main" id="{A3CDD1E0-1535-F4F3-0E5B-154714D7C1EE}"/>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4D399"/>
                </a:solidFill>
                <a:latin typeface="Meiryo" panose="020B0604030504040204" pitchFamily="50" charset="-128"/>
              </a:rPr>
              <a:t>課題 </a:t>
            </a:r>
            <a:r>
              <a:rPr kumimoji="1" lang="en-US" altLang="ja-JP" sz="1600" b="1">
                <a:solidFill>
                  <a:srgbClr val="34D399"/>
                </a:solidFill>
                <a:latin typeface="Meiryo" panose="020B0604030504040204" pitchFamily="50" charset="-128"/>
              </a:rPr>
              <a:t>2: </a:t>
            </a:r>
            <a:r>
              <a:rPr kumimoji="1" lang="ja-JP" altLang="en-US" sz="1600" b="1">
                <a:solidFill>
                  <a:srgbClr val="34D399"/>
                </a:solidFill>
                <a:latin typeface="Meiryo" panose="020B0604030504040204" pitchFamily="50" charset="-128"/>
              </a:rPr>
              <a:t>構図の偏り </a:t>
            </a:r>
            <a:r>
              <a:rPr kumimoji="1" lang="en-US" altLang="ja-JP" sz="1600" b="1">
                <a:solidFill>
                  <a:srgbClr val="34D399"/>
                </a:solidFill>
                <a:latin typeface="Meiryo" panose="020B0604030504040204" pitchFamily="50" charset="-128"/>
              </a:rPr>
              <a:t>(</a:t>
            </a:r>
            <a:r>
              <a:rPr kumimoji="1" lang="ja-JP" altLang="en-US" sz="1600" b="1">
                <a:solidFill>
                  <a:srgbClr val="34D399"/>
                </a:solidFill>
                <a:latin typeface="Meiryo" panose="020B0604030504040204" pitchFamily="50" charset="-128"/>
              </a:rPr>
              <a:t>重複姿勢</a:t>
            </a:r>
            <a:r>
              <a:rPr kumimoji="1" lang="en-US" altLang="ja-JP" sz="1600" b="1">
                <a:solidFill>
                  <a:srgbClr val="34D399"/>
                </a:solidFill>
                <a:latin typeface="Meiryo" panose="020B0604030504040204" pitchFamily="50" charset="-128"/>
              </a:rPr>
              <a:t>)</a:t>
            </a:r>
            <a:r>
              <a:rPr kumimoji="1" lang="ja-JP" altLang="en-US" sz="1300" b="1">
                <a:solidFill>
                  <a:srgbClr val="F8FAFC"/>
                </a:solidFill>
                <a:latin typeface="Meiryo" panose="020B0604030504040204" pitchFamily="50" charset="-128"/>
              </a:rPr>
              <a:t>
・画面中央ばかり、あるいは同じ距離・同じ傾きで何枚記録しても較正行列のランクは上がらない。
・周辺部で歪み補正が破綻する過学習を引き起こす。</a:t>
            </a:r>
          </a:p>
        </p:txBody>
      </p:sp>
    </p:spTree>
    <p:extLst>
      <p:ext uri="{BB962C8B-B14F-4D97-AF65-F5344CB8AC3E}">
        <p14:creationId xmlns:p14="http://schemas.microsoft.com/office/powerpoint/2010/main" val="450270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BE64C1E-E7E3-E5D2-75D4-ECB53005E2C4}"/>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1: CHARUCO CALIBRATION</a:t>
            </a:r>
            <a:r>
              <a:rPr kumimoji="1" lang="ja-JP" altLang="en-US" sz="2400" b="1">
                <a:solidFill>
                  <a:srgbClr val="38BDF8"/>
                </a:solidFill>
                <a:latin typeface="Meiryo" panose="020B0604030504040204" pitchFamily="50" charset="-128"/>
              </a:rPr>
              <a:t>
標本自動取得の毎フレーム評価シーケンス</a:t>
            </a:r>
          </a:p>
        </p:txBody>
      </p:sp>
      <p:sp>
        <p:nvSpPr>
          <p:cNvPr id="3" name="正方形/長方形 2">
            <a:extLst>
              <a:ext uri="{FF2B5EF4-FFF2-40B4-BE49-F238E27FC236}">
                <a16:creationId xmlns:a16="http://schemas.microsoft.com/office/drawing/2014/main" id="{2F10AAE2-792F-57C5-CA67-E814819E2C98}"/>
              </a:ext>
            </a:extLst>
          </p:cNvPr>
          <p:cNvSpPr/>
          <p:nvPr/>
        </p:nvSpPr>
        <p:spPr>
          <a:xfrm>
            <a:off x="635000" y="1270000"/>
            <a:ext cx="10922000" cy="4826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254000" tIns="254000" rIns="254000" bIns="254000" rtlCol="0" anchor="ctr"/>
          <a:lstStyle/>
          <a:p>
            <a:pPr algn="ctr"/>
            <a:r>
              <a:rPr kumimoji="1" lang="ja-JP" altLang="en-US" sz="1700" b="1">
                <a:solidFill>
                  <a:srgbClr val="38BDF8"/>
                </a:solidFill>
                <a:latin typeface="Meiryo" panose="020B0604030504040204" pitchFamily="50" charset="-128"/>
              </a:rPr>
              <a:t>処理パイプライン </a:t>
            </a:r>
            <a:r>
              <a:rPr kumimoji="1" lang="en-US" altLang="ja-JP" sz="1700" b="1">
                <a:solidFill>
                  <a:srgbClr val="38BDF8"/>
                </a:solidFill>
                <a:latin typeface="Meiryo" panose="020B0604030504040204" pitchFamily="50" charset="-128"/>
              </a:rPr>
              <a:t>(Menu::updateAutoCapture)</a:t>
            </a:r>
            <a:r>
              <a:rPr kumimoji="1" lang="ja-JP" altLang="en-US" sz="1350" b="1">
                <a:solidFill>
                  <a:srgbClr val="F8FAFC"/>
                </a:solidFill>
                <a:latin typeface="Meiryo" panose="020B0604030504040204" pitchFamily="50" charset="-128"/>
              </a:rPr>
              <a:t>
</a:t>
            </a:r>
            <a:r>
              <a:rPr kumimoji="1" lang="en-US" altLang="ja-JP" sz="1350" b="1">
                <a:solidFill>
                  <a:srgbClr val="F8FAFC"/>
                </a:solidFill>
                <a:latin typeface="Meiryo" panose="020B0604030504040204" pitchFamily="50" charset="-128"/>
              </a:rPr>
              <a:t>1. ChArUco </a:t>
            </a:r>
            <a:r>
              <a:rPr kumimoji="1" lang="ja-JP" altLang="en-US" sz="1350" b="1">
                <a:solidFill>
                  <a:srgbClr val="F8FAFC"/>
                </a:solidFill>
                <a:latin typeface="Meiryo" panose="020B0604030504040204" pitchFamily="50" charset="-128"/>
              </a:rPr>
              <a:t>検出</a:t>
            </a:r>
            <a:r>
              <a:rPr kumimoji="1" lang="en-US" altLang="ja-JP" sz="1350" b="1">
                <a:solidFill>
                  <a:srgbClr val="F8FAFC"/>
                </a:solidFill>
                <a:latin typeface="Meiryo" panose="020B0604030504040204" pitchFamily="50" charset="-128"/>
              </a:rPr>
              <a:t>: </a:t>
            </a:r>
            <a:r>
              <a:rPr kumimoji="1" lang="ja-JP" altLang="en-US" sz="1350" b="1">
                <a:solidFill>
                  <a:srgbClr val="F8FAFC"/>
                </a:solidFill>
                <a:latin typeface="Meiryo" panose="020B0604030504040204" pitchFamily="50" charset="-128"/>
              </a:rPr>
              <a:t>コーナー数が </a:t>
            </a:r>
            <a:r>
              <a:rPr kumimoji="1" lang="en-US" altLang="ja-JP" sz="1350" b="1">
                <a:solidFill>
                  <a:srgbClr val="F8FAFC"/>
                </a:solidFill>
                <a:latin typeface="Meiryo" panose="020B0604030504040204" pitchFamily="50" charset="-128"/>
              </a:rPr>
              <a:t>6 </a:t>
            </a:r>
            <a:r>
              <a:rPr kumimoji="1" lang="ja-JP" altLang="en-US" sz="1350" b="1">
                <a:solidFill>
                  <a:srgbClr val="F8FAFC"/>
                </a:solidFill>
                <a:latin typeface="Meiryo" panose="020B0604030504040204" pitchFamily="50" charset="-128"/>
              </a:rPr>
              <a:t>点未満なら何もしない
</a:t>
            </a:r>
            <a:r>
              <a:rPr kumimoji="1" lang="en-US" altLang="ja-JP" sz="1350" b="1">
                <a:solidFill>
                  <a:srgbClr val="F8FAFC"/>
                </a:solidFill>
                <a:latin typeface="Meiryo" panose="020B0604030504040204" pitchFamily="50" charset="-128"/>
              </a:rPr>
              <a:t>2. </a:t>
            </a:r>
            <a:r>
              <a:rPr kumimoji="1" lang="ja-JP" altLang="en-US" sz="1350" b="1">
                <a:solidFill>
                  <a:srgbClr val="F8FAFC"/>
                </a:solidFill>
                <a:latin typeface="Meiryo" panose="020B0604030504040204" pitchFamily="50" charset="-128"/>
              </a:rPr>
              <a:t>静止判定 </a:t>
            </a:r>
            <a:r>
              <a:rPr kumimoji="1" lang="en-US" altLang="ja-JP" sz="1350" b="1">
                <a:solidFill>
                  <a:srgbClr val="F8FAFC"/>
                </a:solidFill>
                <a:latin typeface="Meiryo" panose="020B0604030504040204" pitchFamily="50" charset="-128"/>
              </a:rPr>
              <a:t>(updateMotion):
   - </a:t>
            </a:r>
            <a:r>
              <a:rPr kumimoji="1" lang="ja-JP" altLang="en-US" sz="1350" b="1">
                <a:solidFill>
                  <a:srgbClr val="F8FAFC"/>
                </a:solidFill>
                <a:latin typeface="Meiryo" panose="020B0604030504040204" pitchFamily="50" charset="-128"/>
              </a:rPr>
              <a:t>直前フレームと共通するコーナー </a:t>
            </a:r>
            <a:r>
              <a:rPr kumimoji="1" lang="en-US" altLang="ja-JP" sz="1350" b="1">
                <a:solidFill>
                  <a:srgbClr val="F8FAFC"/>
                </a:solidFill>
                <a:latin typeface="Meiryo" panose="020B0604030504040204" pitchFamily="50" charset="-128"/>
              </a:rPr>
              <a:t>ID </a:t>
            </a:r>
            <a:r>
              <a:rPr kumimoji="1" lang="ja-JP" altLang="en-US" sz="1350" b="1">
                <a:solidFill>
                  <a:srgbClr val="F8FAFC"/>
                </a:solidFill>
                <a:latin typeface="Meiryo" panose="020B0604030504040204" pitchFamily="50" charset="-128"/>
              </a:rPr>
              <a:t>を照合
   </a:t>
            </a:r>
            <a:r>
              <a:rPr kumimoji="1" lang="en-US" altLang="ja-JP" sz="1350" b="1">
                <a:solidFill>
                  <a:srgbClr val="F8FAFC"/>
                </a:solidFill>
                <a:latin typeface="Meiryo" panose="020B0604030504040204" pitchFamily="50" charset="-128"/>
              </a:rPr>
              <a:t>- </a:t>
            </a:r>
            <a:r>
              <a:rPr kumimoji="1" lang="ja-JP" altLang="en-US" sz="1350" b="1">
                <a:solidFill>
                  <a:srgbClr val="F8FAFC"/>
                </a:solidFill>
                <a:latin typeface="Meiryo" panose="020B0604030504040204" pitchFamily="50" charset="-128"/>
              </a:rPr>
              <a:t>平均変位量 ≦ </a:t>
            </a:r>
            <a:r>
              <a:rPr kumimoji="1" lang="en-US" altLang="ja-JP" sz="1350" b="1">
                <a:solidFill>
                  <a:srgbClr val="F8FAFC"/>
                </a:solidFill>
                <a:latin typeface="Meiryo" panose="020B0604030504040204" pitchFamily="50" charset="-128"/>
              </a:rPr>
              <a:t>2.0px </a:t>
            </a:r>
            <a:r>
              <a:rPr kumimoji="1" lang="ja-JP" altLang="en-US" sz="1350" b="1">
                <a:solidFill>
                  <a:srgbClr val="F8FAFC"/>
                </a:solidFill>
                <a:latin typeface="Meiryo" panose="020B0604030504040204" pitchFamily="50" charset="-128"/>
              </a:rPr>
              <a:t>が </a:t>
            </a:r>
            <a:r>
              <a:rPr kumimoji="1" lang="en-US" altLang="ja-JP" sz="1350" b="1">
                <a:solidFill>
                  <a:srgbClr val="F8FAFC"/>
                </a:solidFill>
                <a:latin typeface="Meiryo" panose="020B0604030504040204" pitchFamily="50" charset="-128"/>
              </a:rPr>
              <a:t>0.6 </a:t>
            </a:r>
            <a:r>
              <a:rPr kumimoji="1" lang="ja-JP" altLang="en-US" sz="1350" b="1">
                <a:solidFill>
                  <a:srgbClr val="F8FAFC"/>
                </a:solidFill>
                <a:latin typeface="Meiryo" panose="020B0604030504040204" pitchFamily="50" charset="-128"/>
              </a:rPr>
              <a:t>秒継続したか？
</a:t>
            </a:r>
            <a:r>
              <a:rPr kumimoji="1" lang="en-US" altLang="ja-JP" sz="1350" b="1">
                <a:solidFill>
                  <a:srgbClr val="F8FAFC"/>
                </a:solidFill>
                <a:latin typeface="Meiryo" panose="020B0604030504040204" pitchFamily="50" charset="-128"/>
              </a:rPr>
              <a:t>3. </a:t>
            </a:r>
            <a:r>
              <a:rPr kumimoji="1" lang="ja-JP" altLang="en-US" sz="1350" b="1">
                <a:solidFill>
                  <a:srgbClr val="F8FAFC"/>
                </a:solidFill>
                <a:latin typeface="Meiryo" panose="020B0604030504040204" pitchFamily="50" charset="-128"/>
              </a:rPr>
              <a:t>幾何多様性判定 </a:t>
            </a:r>
            <a:r>
              <a:rPr kumimoji="1" lang="en-US" altLang="ja-JP" sz="1350" b="1">
                <a:solidFill>
                  <a:srgbClr val="F8FAFC"/>
                </a:solidFill>
                <a:latin typeface="Meiryo" panose="020B0604030504040204" pitchFamily="50" charset="-128"/>
              </a:rPr>
              <a:t>(isDiverseEnough):
   - </a:t>
            </a:r>
            <a:r>
              <a:rPr kumimoji="1" lang="ja-JP" altLang="en-US" sz="1350" b="1">
                <a:solidFill>
                  <a:srgbClr val="F8FAFC"/>
                </a:solidFill>
                <a:latin typeface="Meiryo" panose="020B0604030504040204" pitchFamily="50" charset="-128"/>
              </a:rPr>
              <a:t>直前記録ショットと比べ「位置」「距離」「傾き」に十分な差異があるか？
</a:t>
            </a:r>
            <a:r>
              <a:rPr kumimoji="1" lang="en-US" altLang="ja-JP" sz="1350" b="1">
                <a:solidFill>
                  <a:srgbClr val="F8FAFC"/>
                </a:solidFill>
                <a:latin typeface="Meiryo" panose="020B0604030504040204" pitchFamily="50" charset="-128"/>
              </a:rPr>
              <a:t>4. </a:t>
            </a:r>
            <a:r>
              <a:rPr kumimoji="1" lang="ja-JP" altLang="en-US" sz="1350" b="1">
                <a:solidFill>
                  <a:srgbClr val="F8FAFC"/>
                </a:solidFill>
                <a:latin typeface="Meiryo" panose="020B0604030504040204" pitchFamily="50" charset="-128"/>
              </a:rPr>
              <a:t>自動トリガー</a:t>
            </a:r>
            <a:r>
              <a:rPr kumimoji="1" lang="en-US" altLang="ja-JP" sz="1350" b="1">
                <a:solidFill>
                  <a:srgbClr val="F8FAFC"/>
                </a:solidFill>
                <a:latin typeface="Meiryo" panose="020B0604030504040204" pitchFamily="50" charset="-128"/>
              </a:rPr>
              <a:t>:
   - recordCorners() </a:t>
            </a:r>
            <a:r>
              <a:rPr kumimoji="1" lang="ja-JP" altLang="en-US" sz="1350" b="1">
                <a:solidFill>
                  <a:srgbClr val="F8FAFC"/>
                </a:solidFill>
                <a:latin typeface="Meiryo" panose="020B0604030504040204" pitchFamily="50" charset="-128"/>
              </a:rPr>
              <a:t>で標本保存 ＋ クールダウン </a:t>
            </a:r>
            <a:r>
              <a:rPr kumimoji="1" lang="en-US" altLang="ja-JP" sz="1350" b="1">
                <a:solidFill>
                  <a:srgbClr val="F8FAFC"/>
                </a:solidFill>
                <a:latin typeface="Meiryo" panose="020B0604030504040204" pitchFamily="50" charset="-128"/>
              </a:rPr>
              <a:t>(1.5s) </a:t>
            </a:r>
            <a:r>
              <a:rPr kumimoji="1" lang="ja-JP" altLang="en-US" sz="1350" b="1">
                <a:solidFill>
                  <a:srgbClr val="F8FAFC"/>
                </a:solidFill>
                <a:latin typeface="Meiryo" panose="020B0604030504040204" pitchFamily="50" charset="-128"/>
              </a:rPr>
              <a:t>＋ 音響フィードバック</a:t>
            </a:r>
          </a:p>
        </p:txBody>
      </p:sp>
    </p:spTree>
    <p:extLst>
      <p:ext uri="{BB962C8B-B14F-4D97-AF65-F5344CB8AC3E}">
        <p14:creationId xmlns:p14="http://schemas.microsoft.com/office/powerpoint/2010/main" val="1972528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BD0F27E-83B4-A41C-60A3-CE2EF8A72886}"/>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1: CHARUCO CALIBRATION</a:t>
            </a:r>
            <a:r>
              <a:rPr kumimoji="1" lang="ja-JP" altLang="en-US" sz="2400" b="1">
                <a:solidFill>
                  <a:srgbClr val="38BDF8"/>
                </a:solidFill>
                <a:latin typeface="Meiryo" panose="020B0604030504040204" pitchFamily="50" charset="-128"/>
              </a:rPr>
              <a:t>
静止判定</a:t>
            </a:r>
            <a:r>
              <a:rPr kumimoji="1" lang="en-US" altLang="ja-JP" sz="2400" b="1">
                <a:solidFill>
                  <a:srgbClr val="38BDF8"/>
                </a:solidFill>
                <a:latin typeface="Meiryo" panose="020B0604030504040204" pitchFamily="50" charset="-128"/>
              </a:rPr>
              <a:t>: </a:t>
            </a:r>
            <a:r>
              <a:rPr kumimoji="1" lang="ja-JP" altLang="en-US" sz="2400" b="1">
                <a:solidFill>
                  <a:srgbClr val="38BDF8"/>
                </a:solidFill>
                <a:latin typeface="Meiryo" panose="020B0604030504040204" pitchFamily="50" charset="-128"/>
              </a:rPr>
              <a:t>フレーム間変位追跡 </a:t>
            </a:r>
            <a:r>
              <a:rPr kumimoji="1" lang="en-US" altLang="ja-JP" sz="2400" b="1">
                <a:solidFill>
                  <a:srgbClr val="38BDF8"/>
                </a:solidFill>
                <a:latin typeface="Meiryo" panose="020B0604030504040204" pitchFamily="50" charset="-128"/>
              </a:rPr>
              <a:t>(updateMotion)</a:t>
            </a:r>
            <a:endParaRPr kumimoji="1" lang="ja-JP" altLang="en-US" sz="2400" b="1">
              <a:solidFill>
                <a:srgbClr val="38BDF8"/>
              </a:solidFill>
              <a:latin typeface="Meiryo" panose="020B0604030504040204" pitchFamily="50" charset="-128"/>
            </a:endParaRPr>
          </a:p>
        </p:txBody>
      </p:sp>
      <p:sp>
        <p:nvSpPr>
          <p:cNvPr id="3" name="正方形/長方形 2">
            <a:extLst>
              <a:ext uri="{FF2B5EF4-FFF2-40B4-BE49-F238E27FC236}">
                <a16:creationId xmlns:a16="http://schemas.microsoft.com/office/drawing/2014/main" id="{23149825-903F-C9E3-9420-F13B577D53A4}"/>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アルゴリズムの実装ポイント </a:t>
            </a:r>
            <a:r>
              <a:rPr kumimoji="1" lang="en-US" altLang="ja-JP" sz="1600" b="1">
                <a:solidFill>
                  <a:srgbClr val="38BDF8"/>
                </a:solidFill>
                <a:latin typeface="Meiryo" panose="020B0604030504040204" pitchFamily="50" charset="-128"/>
              </a:rPr>
              <a:t>(Calibration.cpp)</a:t>
            </a:r>
            <a:r>
              <a:rPr kumimoji="1" lang="ja-JP" altLang="en-US" sz="1300" b="1">
                <a:solidFill>
                  <a:srgbClr val="F8FAFC"/>
                </a:solidFill>
                <a:latin typeface="Meiryo" panose="020B0604030504040204" pitchFamily="50" charset="-128"/>
              </a:rPr>
              <a:t>
・共通 </a:t>
            </a:r>
            <a:r>
              <a:rPr kumimoji="1" lang="en-US" altLang="ja-JP" sz="1300" b="1">
                <a:solidFill>
                  <a:srgbClr val="F8FAFC"/>
                </a:solidFill>
                <a:latin typeface="Meiryo" panose="020B0604030504040204" pitchFamily="50" charset="-128"/>
              </a:rPr>
              <a:t>ID </a:t>
            </a:r>
            <a:r>
              <a:rPr kumimoji="1" lang="ja-JP" altLang="en-US" sz="1300" b="1">
                <a:solidFill>
                  <a:srgbClr val="F8FAFC"/>
                </a:solidFill>
                <a:latin typeface="Meiryo" panose="020B0604030504040204" pitchFamily="50" charset="-128"/>
              </a:rPr>
              <a:t>の探索</a:t>
            </a:r>
            <a:r>
              <a:rPr kumimoji="1" lang="en-US" altLang="ja-JP" sz="1300" b="1">
                <a:solidFill>
                  <a:srgbClr val="F8FAFC"/>
                </a:solidFill>
                <a:latin typeface="Meiryo" panose="020B0604030504040204" pitchFamily="50" charset="-128"/>
              </a:rPr>
              <a:t>: charucoIds </a:t>
            </a:r>
            <a:r>
              <a:rPr kumimoji="1" lang="ja-JP" altLang="en-US" sz="1300" b="1">
                <a:solidFill>
                  <a:srgbClr val="F8FAFC"/>
                </a:solidFill>
                <a:latin typeface="Meiryo" panose="020B0604030504040204" pitchFamily="50" charset="-128"/>
              </a:rPr>
              <a:t>と </a:t>
            </a:r>
            <a:r>
              <a:rPr kumimoji="1" lang="en-US" altLang="ja-JP" sz="1300" b="1">
                <a:solidFill>
                  <a:srgbClr val="F8FAFC"/>
                </a:solidFill>
                <a:latin typeface="Meiryo" panose="020B0604030504040204" pitchFamily="50" charset="-128"/>
              </a:rPr>
              <a:t>prevCharucoIds </a:t>
            </a:r>
            <a:r>
              <a:rPr kumimoji="1" lang="ja-JP" altLang="en-US" sz="1300" b="1">
                <a:solidFill>
                  <a:srgbClr val="F8FAFC"/>
                </a:solidFill>
                <a:latin typeface="Meiryo" panose="020B0604030504040204" pitchFamily="50" charset="-128"/>
              </a:rPr>
              <a:t>を照合し、同一交点のみを変位計算に使用。
・平均変位量の算出</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共通コーナーのユークリッド距離合計 </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共通点数。
・即時リセット</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変位 ≦ </a:t>
            </a:r>
            <a:r>
              <a:rPr kumimoji="1" lang="en-US" altLang="ja-JP" sz="1300" b="1">
                <a:solidFill>
                  <a:srgbClr val="F8FAFC"/>
                </a:solidFill>
                <a:latin typeface="Meiryo" panose="020B0604030504040204" pitchFamily="50" charset="-128"/>
              </a:rPr>
              <a:t>2.0px </a:t>
            </a:r>
            <a:r>
              <a:rPr kumimoji="1" lang="ja-JP" altLang="en-US" sz="1300" b="1">
                <a:solidFill>
                  <a:srgbClr val="F8FAFC"/>
                </a:solidFill>
                <a:latin typeface="Meiryo" panose="020B0604030504040204" pitchFamily="50" charset="-128"/>
              </a:rPr>
              <a:t>なら </a:t>
            </a:r>
            <a:r>
              <a:rPr kumimoji="1" lang="en-US" altLang="ja-JP" sz="1300" b="1">
                <a:solidFill>
                  <a:srgbClr val="F8FAFC"/>
                </a:solidFill>
                <a:latin typeface="Meiryo" panose="020B0604030504040204" pitchFamily="50" charset="-128"/>
              </a:rPr>
              <a:t>stableDuration += deltaTime</a:t>
            </a:r>
            <a:r>
              <a:rPr kumimoji="1" lang="ja-JP" altLang="en-US" sz="1300" b="1">
                <a:solidFill>
                  <a:srgbClr val="F8FAFC"/>
                </a:solidFill>
                <a:latin typeface="Meiryo" panose="020B0604030504040204" pitchFamily="50" charset="-128"/>
              </a:rPr>
              <a:t>。</a:t>
            </a:r>
            <a:r>
              <a:rPr kumimoji="1" lang="en-US" altLang="ja-JP" sz="1300" b="1">
                <a:solidFill>
                  <a:srgbClr val="F8FAFC"/>
                </a:solidFill>
                <a:latin typeface="Meiryo" panose="020B0604030504040204" pitchFamily="50" charset="-128"/>
              </a:rPr>
              <a:t>1 </a:t>
            </a:r>
            <a:r>
              <a:rPr kumimoji="1" lang="ja-JP" altLang="en-US" sz="1300" b="1">
                <a:solidFill>
                  <a:srgbClr val="F8FAFC"/>
                </a:solidFill>
                <a:latin typeface="Meiryo" panose="020B0604030504040204" pitchFamily="50" charset="-128"/>
              </a:rPr>
              <a:t>フレームでも超えたら即 </a:t>
            </a:r>
            <a:r>
              <a:rPr kumimoji="1" lang="en-US" altLang="ja-JP" sz="1300" b="1">
                <a:solidFill>
                  <a:srgbClr val="F8FAFC"/>
                </a:solidFill>
                <a:latin typeface="Meiryo" panose="020B0604030504040204" pitchFamily="50" charset="-128"/>
              </a:rPr>
              <a:t>0.0 </a:t>
            </a:r>
            <a:r>
              <a:rPr kumimoji="1" lang="ja-JP" altLang="en-US" sz="1300" b="1">
                <a:solidFill>
                  <a:srgbClr val="F8FAFC"/>
                </a:solidFill>
                <a:latin typeface="Meiryo" panose="020B0604030504040204" pitchFamily="50" charset="-128"/>
              </a:rPr>
              <a:t>にリセット。
・安定判定</a:t>
            </a:r>
            <a:r>
              <a:rPr kumimoji="1" lang="en-US" altLang="ja-JP" sz="1300" b="1">
                <a:solidFill>
                  <a:srgbClr val="F8FAFC"/>
                </a:solidFill>
                <a:latin typeface="Meiryo" panose="020B0604030504040204" pitchFamily="50" charset="-128"/>
              </a:rPr>
              <a:t>: stableDuration ≧ 0.6 </a:t>
            </a:r>
            <a:r>
              <a:rPr kumimoji="1" lang="ja-JP" altLang="en-US" sz="1300" b="1">
                <a:solidFill>
                  <a:srgbClr val="F8FAFC"/>
                </a:solidFill>
                <a:latin typeface="Meiryo" panose="020B0604030504040204" pitchFamily="50" charset="-128"/>
              </a:rPr>
              <a:t>秒 で </a:t>
            </a:r>
            <a:r>
              <a:rPr kumimoji="1" lang="en-US" altLang="ja-JP" sz="1300" b="1">
                <a:solidFill>
                  <a:srgbClr val="F8FAFC"/>
                </a:solidFill>
                <a:latin typeface="Meiryo" panose="020B0604030504040204" pitchFamily="50" charset="-128"/>
              </a:rPr>
              <a:t>isCurrentlyStable = true</a:t>
            </a:r>
            <a:r>
              <a:rPr kumimoji="1" lang="ja-JP" altLang="en-US" sz="1300" b="1">
                <a:solidFill>
                  <a:srgbClr val="F8FAFC"/>
                </a:solidFill>
                <a:latin typeface="Meiryo" panose="020B0604030504040204" pitchFamily="50" charset="-128"/>
              </a:rPr>
              <a:t>。</a:t>
            </a:r>
          </a:p>
        </p:txBody>
      </p:sp>
      <p:sp>
        <p:nvSpPr>
          <p:cNvPr id="4" name="正方形/長方形 3">
            <a:extLst>
              <a:ext uri="{FF2B5EF4-FFF2-40B4-BE49-F238E27FC236}">
                <a16:creationId xmlns:a16="http://schemas.microsoft.com/office/drawing/2014/main" id="{2F36CC26-7E31-4051-3F38-BF23AD3BCA7A}"/>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4D399"/>
                </a:solidFill>
                <a:latin typeface="Meiryo" panose="020B0604030504040204" pitchFamily="50" charset="-128"/>
              </a:rPr>
              <a:t>設計のこだわり</a:t>
            </a:r>
            <a:r>
              <a:rPr kumimoji="1" lang="ja-JP" altLang="en-US" sz="1300" b="1">
                <a:solidFill>
                  <a:srgbClr val="F8FAFC"/>
                </a:solidFill>
                <a:latin typeface="Meiryo" panose="020B0604030504040204" pitchFamily="50" charset="-128"/>
              </a:rPr>
              <a:t>
画像差分法やオプティカルフローと異なり、コーナーのサブピクセル座標を直接追跡するため、微小な手の震えを </a:t>
            </a:r>
            <a:r>
              <a:rPr kumimoji="1" lang="en-US" altLang="ja-JP" sz="1300" b="1">
                <a:solidFill>
                  <a:srgbClr val="F8FAFC"/>
                </a:solidFill>
                <a:latin typeface="Meiryo" panose="020B0604030504040204" pitchFamily="50" charset="-128"/>
              </a:rPr>
              <a:t>100% </a:t>
            </a:r>
            <a:r>
              <a:rPr kumimoji="1" lang="ja-JP" altLang="en-US" sz="1300" b="1">
                <a:solidFill>
                  <a:srgbClr val="F8FAFC"/>
                </a:solidFill>
                <a:latin typeface="Meiryo" panose="020B0604030504040204" pitchFamily="50" charset="-128"/>
              </a:rPr>
              <a:t>検知できます。
共通点が </a:t>
            </a:r>
            <a:r>
              <a:rPr kumimoji="1" lang="en-US" altLang="ja-JP" sz="1300" b="1">
                <a:solidFill>
                  <a:srgbClr val="F8FAFC"/>
                </a:solidFill>
                <a:latin typeface="Meiryo" panose="020B0604030504040204" pitchFamily="50" charset="-128"/>
              </a:rPr>
              <a:t>4 </a:t>
            </a:r>
            <a:r>
              <a:rPr kumimoji="1" lang="ja-JP" altLang="en-US" sz="1300" b="1">
                <a:solidFill>
                  <a:srgbClr val="F8FAFC"/>
                </a:solidFill>
                <a:latin typeface="Meiryo" panose="020B0604030504040204" pitchFamily="50" charset="-128"/>
              </a:rPr>
              <a:t>点未満の場合は追跡不能として変位量 </a:t>
            </a:r>
            <a:r>
              <a:rPr kumimoji="1" lang="en-US" altLang="ja-JP" sz="1300" b="1">
                <a:solidFill>
                  <a:srgbClr val="F8FAFC"/>
                </a:solidFill>
                <a:latin typeface="Meiryo" panose="020B0604030504040204" pitchFamily="50" charset="-128"/>
              </a:rPr>
              <a:t>999.0px </a:t>
            </a:r>
            <a:r>
              <a:rPr kumimoji="1" lang="ja-JP" altLang="en-US" sz="1300" b="1">
                <a:solidFill>
                  <a:srgbClr val="F8FAFC"/>
                </a:solidFill>
                <a:latin typeface="Meiryo" panose="020B0604030504040204" pitchFamily="50" charset="-128"/>
              </a:rPr>
              <a:t>をセットします。</a:t>
            </a:r>
          </a:p>
        </p:txBody>
      </p:sp>
    </p:spTree>
    <p:extLst>
      <p:ext uri="{BB962C8B-B14F-4D97-AF65-F5344CB8AC3E}">
        <p14:creationId xmlns:p14="http://schemas.microsoft.com/office/powerpoint/2010/main" val="2184298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FD88324-3697-BFB5-34E9-EC028FF2620D}"/>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1: CHARUCO CALIBRATION</a:t>
            </a:r>
            <a:r>
              <a:rPr kumimoji="1" lang="ja-JP" altLang="en-US" sz="2400" b="1">
                <a:solidFill>
                  <a:srgbClr val="38BDF8"/>
                </a:solidFill>
                <a:latin typeface="Meiryo" panose="020B0604030504040204" pitchFamily="50" charset="-128"/>
              </a:rPr>
              <a:t>
幾何多様性判定</a:t>
            </a:r>
            <a:r>
              <a:rPr kumimoji="1" lang="en-US" altLang="ja-JP" sz="2400" b="1">
                <a:solidFill>
                  <a:srgbClr val="38BDF8"/>
                </a:solidFill>
                <a:latin typeface="Meiryo" panose="020B0604030504040204" pitchFamily="50" charset="-128"/>
              </a:rPr>
              <a:t>: </a:t>
            </a:r>
            <a:r>
              <a:rPr kumimoji="1" lang="ja-JP" altLang="en-US" sz="2400" b="1">
                <a:solidFill>
                  <a:srgbClr val="38BDF8"/>
                </a:solidFill>
                <a:latin typeface="Meiryo" panose="020B0604030504040204" pitchFamily="50" charset="-128"/>
              </a:rPr>
              <a:t>統計モーメントの活用</a:t>
            </a:r>
          </a:p>
        </p:txBody>
      </p:sp>
      <p:sp>
        <p:nvSpPr>
          <p:cNvPr id="3" name="正方形/長方形 2">
            <a:extLst>
              <a:ext uri="{FF2B5EF4-FFF2-40B4-BE49-F238E27FC236}">
                <a16:creationId xmlns:a16="http://schemas.microsoft.com/office/drawing/2014/main" id="{FF4A7DE3-C5B0-78B6-E986-BB5A99DD980A}"/>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なぜ画像モーメントなのか？</a:t>
            </a:r>
            <a:r>
              <a:rPr kumimoji="1" lang="ja-JP" altLang="en-US" sz="1300" b="1">
                <a:solidFill>
                  <a:srgbClr val="F8FAFC"/>
                </a:solidFill>
                <a:latin typeface="Meiryo" panose="020B0604030504040204" pitchFamily="50" charset="-128"/>
              </a:rPr>
              <a:t>
外接矩形 </a:t>
            </a:r>
            <a:r>
              <a:rPr kumimoji="1" lang="en-US" altLang="ja-JP" sz="1300" b="1">
                <a:solidFill>
                  <a:srgbClr val="F8FAFC"/>
                </a:solidFill>
                <a:latin typeface="Meiryo" panose="020B0604030504040204" pitchFamily="50" charset="-128"/>
              </a:rPr>
              <a:t>(Bounding Box) </a:t>
            </a:r>
            <a:r>
              <a:rPr kumimoji="1" lang="ja-JP" altLang="en-US" sz="1300" b="1">
                <a:solidFill>
                  <a:srgbClr val="F8FAFC"/>
                </a:solidFill>
                <a:latin typeface="Meiryo" panose="020B0604030504040204" pitchFamily="50" charset="-128"/>
              </a:rPr>
              <a:t>は、ボードの一部が見切れたり手で隠れたりすると中心やサイズが大きく狂います。
コーナー点群の </a:t>
            </a:r>
            <a:r>
              <a:rPr kumimoji="1" lang="en-US" altLang="ja-JP" sz="1300" b="1">
                <a:solidFill>
                  <a:srgbClr val="F8FAFC"/>
                </a:solidFill>
                <a:latin typeface="Meiryo" panose="020B0604030504040204" pitchFamily="50" charset="-128"/>
              </a:rPr>
              <a:t>2 </a:t>
            </a:r>
            <a:r>
              <a:rPr kumimoji="1" lang="ja-JP" altLang="en-US" sz="1300" b="1">
                <a:solidFill>
                  <a:srgbClr val="F8FAFC"/>
                </a:solidFill>
                <a:latin typeface="Meiryo" panose="020B0604030504040204" pitchFamily="50" charset="-128"/>
              </a:rPr>
              <a:t>次モーメントを用いることで、点群の幾何学的広がり（重心・スケール・傾き）を統計的かつロバストに要約できます。</a:t>
            </a:r>
          </a:p>
        </p:txBody>
      </p:sp>
      <p:sp>
        <p:nvSpPr>
          <p:cNvPr id="4" name="正方形/長方形 3">
            <a:extLst>
              <a:ext uri="{FF2B5EF4-FFF2-40B4-BE49-F238E27FC236}">
                <a16:creationId xmlns:a16="http://schemas.microsoft.com/office/drawing/2014/main" id="{83B2C8B6-C238-6F32-50C2-37B3C37107A6}"/>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4D399"/>
                </a:solidFill>
                <a:latin typeface="Meiryo" panose="020B0604030504040204" pitchFamily="50" charset="-128"/>
              </a:rPr>
              <a:t>3 </a:t>
            </a:r>
            <a:r>
              <a:rPr kumimoji="1" lang="ja-JP" altLang="en-US" sz="1600" b="1">
                <a:solidFill>
                  <a:srgbClr val="34D399"/>
                </a:solidFill>
                <a:latin typeface="Meiryo" panose="020B0604030504040204" pitchFamily="50" charset="-128"/>
              </a:rPr>
              <a:t>つの幾何特徴量</a:t>
            </a:r>
            <a:r>
              <a:rPr kumimoji="1" lang="ja-JP" altLang="en-US" sz="1300" b="1">
                <a:solidFill>
                  <a:srgbClr val="F8FAFC"/>
                </a:solidFill>
                <a:latin typeface="Meiryo" panose="020B0604030504040204" pitchFamily="50" charset="-128"/>
              </a:rPr>
              <a:t>
</a:t>
            </a:r>
            <a:r>
              <a:rPr kumimoji="1" lang="en-US" altLang="ja-JP" sz="1300" b="1">
                <a:solidFill>
                  <a:srgbClr val="F8FAFC"/>
                </a:solidFill>
                <a:latin typeface="Meiryo" panose="020B0604030504040204" pitchFamily="50" charset="-128"/>
              </a:rPr>
              <a:t>1. </a:t>
            </a:r>
            <a:r>
              <a:rPr kumimoji="1" lang="ja-JP" altLang="en-US" sz="1300" b="1">
                <a:solidFill>
                  <a:srgbClr val="F8FAFC"/>
                </a:solidFill>
                <a:latin typeface="Meiryo" panose="020B0604030504040204" pitchFamily="50" charset="-128"/>
              </a:rPr>
              <a:t>重心位置 </a:t>
            </a:r>
            <a:r>
              <a:rPr kumimoji="1" lang="en-US" altLang="ja-JP" sz="1300" b="1">
                <a:solidFill>
                  <a:srgbClr val="F8FAFC"/>
                </a:solidFill>
                <a:latin typeface="Meiryo" panose="020B0604030504040204" pitchFamily="50" charset="-128"/>
              </a:rPr>
              <a:t>(Centroid):
   x = m10 / m00,  y = m01 / m00
   → </a:t>
            </a:r>
            <a:r>
              <a:rPr kumimoji="1" lang="ja-JP" altLang="en-US" sz="1300" b="1">
                <a:solidFill>
                  <a:srgbClr val="F8FAFC"/>
                </a:solidFill>
                <a:latin typeface="Meiryo" panose="020B0604030504040204" pitchFamily="50" charset="-128"/>
              </a:rPr>
              <a:t>画像内の配置位置を表す。
</a:t>
            </a:r>
            <a:r>
              <a:rPr kumimoji="1" lang="en-US" altLang="ja-JP" sz="1300" b="1">
                <a:solidFill>
                  <a:srgbClr val="F8FAFC"/>
                </a:solidFill>
                <a:latin typeface="Meiryo" panose="020B0604030504040204" pitchFamily="50" charset="-128"/>
              </a:rPr>
              <a:t>2. </a:t>
            </a:r>
            <a:r>
              <a:rPr kumimoji="1" lang="ja-JP" altLang="en-US" sz="1300" b="1">
                <a:solidFill>
                  <a:srgbClr val="F8FAFC"/>
                </a:solidFill>
                <a:latin typeface="Meiryo" panose="020B0604030504040204" pitchFamily="50" charset="-128"/>
              </a:rPr>
              <a:t>慣性半径 </a:t>
            </a:r>
            <a:r>
              <a:rPr kumimoji="1" lang="en-US" altLang="ja-JP" sz="1300" b="1">
                <a:solidFill>
                  <a:srgbClr val="F8FAFC"/>
                </a:solidFill>
                <a:latin typeface="Meiryo" panose="020B0604030504040204" pitchFamily="50" charset="-128"/>
              </a:rPr>
              <a:t>(Spread / Scale):
   R = sqrt(mu20 + mu02)
   → </a:t>
            </a:r>
            <a:r>
              <a:rPr kumimoji="1" lang="ja-JP" altLang="en-US" sz="1300" b="1">
                <a:solidFill>
                  <a:srgbClr val="F8FAFC"/>
                </a:solidFill>
                <a:latin typeface="Meiryo" panose="020B0604030504040204" pitchFamily="50" charset="-128"/>
              </a:rPr>
              <a:t>カメラとボードの距離（見かけの大きさ）を表す。
</a:t>
            </a:r>
            <a:r>
              <a:rPr kumimoji="1" lang="en-US" altLang="ja-JP" sz="1300" b="1">
                <a:solidFill>
                  <a:srgbClr val="F8FAFC"/>
                </a:solidFill>
                <a:latin typeface="Meiryo" panose="020B0604030504040204" pitchFamily="50" charset="-128"/>
              </a:rPr>
              <a:t>3. </a:t>
            </a:r>
            <a:r>
              <a:rPr kumimoji="1" lang="ja-JP" altLang="en-US" sz="1300" b="1">
                <a:solidFill>
                  <a:srgbClr val="F8FAFC"/>
                </a:solidFill>
                <a:latin typeface="Meiryo" panose="020B0604030504040204" pitchFamily="50" charset="-128"/>
              </a:rPr>
              <a:t>主軸角度 </a:t>
            </a:r>
            <a:r>
              <a:rPr kumimoji="1" lang="en-US" altLang="ja-JP" sz="1300" b="1">
                <a:solidFill>
                  <a:srgbClr val="F8FAFC"/>
                </a:solidFill>
                <a:latin typeface="Meiryo" panose="020B0604030504040204" pitchFamily="50" charset="-128"/>
              </a:rPr>
              <a:t>(Orientation Angle):
   theta = 0.5 * atan2(2*mu11, mu20 - mu02)
   → </a:t>
            </a:r>
            <a:r>
              <a:rPr kumimoji="1" lang="ja-JP" altLang="en-US" sz="1300" b="1">
                <a:solidFill>
                  <a:srgbClr val="F8FAFC"/>
                </a:solidFill>
                <a:latin typeface="Meiryo" panose="020B0604030504040204" pitchFamily="50" charset="-128"/>
              </a:rPr>
              <a:t>画像平面内での傾きを表す。</a:t>
            </a:r>
          </a:p>
        </p:txBody>
      </p:sp>
    </p:spTree>
    <p:extLst>
      <p:ext uri="{BB962C8B-B14F-4D97-AF65-F5344CB8AC3E}">
        <p14:creationId xmlns:p14="http://schemas.microsoft.com/office/powerpoint/2010/main" val="1519221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AFC7F33-186E-2C8E-21DF-5ED4582A0647}"/>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1: CHARUCO CALIBRATION</a:t>
            </a:r>
            <a:r>
              <a:rPr kumimoji="1" lang="ja-JP" altLang="en-US" sz="2400" b="1">
                <a:solidFill>
                  <a:srgbClr val="38BDF8"/>
                </a:solidFill>
                <a:latin typeface="Meiryo" panose="020B0604030504040204" pitchFamily="50" charset="-128"/>
              </a:rPr>
              <a:t>
幾何特徴抽出</a:t>
            </a:r>
            <a:r>
              <a:rPr kumimoji="1" lang="en-US" altLang="ja-JP" sz="2400" b="1">
                <a:solidFill>
                  <a:srgbClr val="38BDF8"/>
                </a:solidFill>
                <a:latin typeface="Meiryo" panose="020B0604030504040204" pitchFamily="50" charset="-128"/>
              </a:rPr>
              <a:t>: computeFeatures </a:t>
            </a:r>
            <a:r>
              <a:rPr kumimoji="1" lang="ja-JP" altLang="en-US" sz="2400" b="1">
                <a:solidFill>
                  <a:srgbClr val="38BDF8"/>
                </a:solidFill>
                <a:latin typeface="Meiryo" panose="020B0604030504040204" pitchFamily="50" charset="-128"/>
              </a:rPr>
              <a:t>実装</a:t>
            </a:r>
          </a:p>
        </p:txBody>
      </p:sp>
      <p:sp>
        <p:nvSpPr>
          <p:cNvPr id="3" name="正方形/長方形 2">
            <a:extLst>
              <a:ext uri="{FF2B5EF4-FFF2-40B4-BE49-F238E27FC236}">
                <a16:creationId xmlns:a16="http://schemas.microsoft.com/office/drawing/2014/main" id="{C1D7AFE0-1AC1-A7DF-C0B4-167649510BCC}"/>
              </a:ext>
            </a:extLst>
          </p:cNvPr>
          <p:cNvSpPr/>
          <p:nvPr/>
        </p:nvSpPr>
        <p:spPr>
          <a:xfrm>
            <a:off x="635000" y="1270000"/>
            <a:ext cx="10922000" cy="4826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254000" tIns="254000" rIns="254000" bIns="254000" rtlCol="0" anchor="ctr"/>
          <a:lstStyle/>
          <a:p>
            <a:pPr algn="ctr"/>
            <a:r>
              <a:rPr kumimoji="1" lang="en-US" altLang="ja-JP" sz="1700" b="1">
                <a:solidFill>
                  <a:srgbClr val="38BDF8"/>
                </a:solidFill>
                <a:latin typeface="Meiryo" panose="020B0604030504040204" pitchFamily="50" charset="-128"/>
              </a:rPr>
              <a:t>Calibration::computeFeatures (Calibration.cpp)</a:t>
            </a:r>
            <a:r>
              <a:rPr kumimoji="1" lang="en-US" altLang="ja-JP" sz="1350" b="1">
                <a:solidFill>
                  <a:srgbClr val="F8FAFC"/>
                </a:solidFill>
                <a:latin typeface="Meiryo" panose="020B0604030504040204" pitchFamily="50" charset="-128"/>
              </a:rPr>
              <a:t>
cv::Moments m = cv::moments(corners);
if (m.m00 &gt; 0.0) {
  // 1. </a:t>
            </a:r>
            <a:r>
              <a:rPr kumimoji="1" lang="ja-JP" altLang="en-US" sz="1350" b="1">
                <a:solidFill>
                  <a:srgbClr val="F8FAFC"/>
                </a:solidFill>
                <a:latin typeface="Meiryo" panose="020B0604030504040204" pitchFamily="50" charset="-128"/>
              </a:rPr>
              <a:t>重心位置
  </a:t>
            </a:r>
            <a:r>
              <a:rPr kumimoji="1" lang="en-US" altLang="ja-JP" sz="1350" b="1">
                <a:solidFill>
                  <a:srgbClr val="F8FAFC"/>
                </a:solidFill>
                <a:latin typeface="Meiryo" panose="020B0604030504040204" pitchFamily="50" charset="-128"/>
              </a:rPr>
              <a:t>features.centroid = cv::Point2f(m.m10 / m.m00, m.m01 / m.m00);
  const double mu20 = m.mu20 / m.m00;
  const double mu02 = m.mu02 / m.m00;
  const double mu11 = m.mu11 / m.m00;
  // 2. </a:t>
            </a:r>
            <a:r>
              <a:rPr kumimoji="1" lang="ja-JP" altLang="en-US" sz="1350" b="1">
                <a:solidFill>
                  <a:srgbClr val="F8FAFC"/>
                </a:solidFill>
                <a:latin typeface="Meiryo" panose="020B0604030504040204" pitchFamily="50" charset="-128"/>
              </a:rPr>
              <a:t>慣性半径 </a:t>
            </a:r>
            <a:r>
              <a:rPr kumimoji="1" lang="en-US" altLang="ja-JP" sz="1350" b="1">
                <a:solidFill>
                  <a:srgbClr val="F8FAFC"/>
                </a:solidFill>
                <a:latin typeface="Meiryo" panose="020B0604030504040204" pitchFamily="50" charset="-128"/>
              </a:rPr>
              <a:t>(</a:t>
            </a:r>
            <a:r>
              <a:rPr kumimoji="1" lang="ja-JP" altLang="en-US" sz="1350" b="1">
                <a:solidFill>
                  <a:srgbClr val="F8FAFC"/>
                </a:solidFill>
                <a:latin typeface="Meiryo" panose="020B0604030504040204" pitchFamily="50" charset="-128"/>
              </a:rPr>
              <a:t>スケール</a:t>
            </a:r>
            <a:r>
              <a:rPr kumimoji="1" lang="en-US" altLang="ja-JP" sz="1350" b="1">
                <a:solidFill>
                  <a:srgbClr val="F8FAFC"/>
                </a:solidFill>
                <a:latin typeface="Meiryo" panose="020B0604030504040204" pitchFamily="50" charset="-128"/>
              </a:rPr>
              <a:t>)
  features.spread = static_cast&lt;float&gt;(std::sqrt(std::max(0.0, mu20 + mu02)));
  // 3. </a:t>
            </a:r>
            <a:r>
              <a:rPr kumimoji="1" lang="ja-JP" altLang="en-US" sz="1350" b="1">
                <a:solidFill>
                  <a:srgbClr val="F8FAFC"/>
                </a:solidFill>
                <a:latin typeface="Meiryo" panose="020B0604030504040204" pitchFamily="50" charset="-128"/>
              </a:rPr>
              <a:t>主軸角度 </a:t>
            </a:r>
            <a:r>
              <a:rPr kumimoji="1" lang="en-US" altLang="ja-JP" sz="1350" b="1">
                <a:solidFill>
                  <a:srgbClr val="F8FAFC"/>
                </a:solidFill>
                <a:latin typeface="Meiryo" panose="020B0604030504040204" pitchFamily="50" charset="-128"/>
              </a:rPr>
              <a:t>(-90° 〜 +90°)
  features.angleDeg = static_cast&lt;float&gt;(0.5 * std::atan2(2.0 * mu11, mu20 - mu02) * 180.0 / CV_PI);
}</a:t>
            </a:r>
            <a:endParaRPr kumimoji="1" lang="ja-JP" altLang="en-US" sz="1350" b="1">
              <a:solidFill>
                <a:srgbClr val="F8FAFC"/>
              </a:solidFill>
              <a:latin typeface="Meiryo" panose="020B0604030504040204" pitchFamily="50" charset="-128"/>
            </a:endParaRPr>
          </a:p>
        </p:txBody>
      </p:sp>
    </p:spTree>
    <p:extLst>
      <p:ext uri="{BB962C8B-B14F-4D97-AF65-F5344CB8AC3E}">
        <p14:creationId xmlns:p14="http://schemas.microsoft.com/office/powerpoint/2010/main" val="2471641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1B81732-3A11-0245-BC47-9DF4FB524EC3}"/>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1: CHARUCO CALIBRATION</a:t>
            </a:r>
            <a:r>
              <a:rPr kumimoji="1" lang="ja-JP" altLang="en-US" sz="2400" b="1">
                <a:solidFill>
                  <a:srgbClr val="38BDF8"/>
                </a:solidFill>
                <a:latin typeface="Meiryo" panose="020B0604030504040204" pitchFamily="50" charset="-128"/>
              </a:rPr>
              <a:t>
多様性判定</a:t>
            </a:r>
            <a:r>
              <a:rPr kumimoji="1" lang="en-US" altLang="ja-JP" sz="2400" b="1">
                <a:solidFill>
                  <a:srgbClr val="38BDF8"/>
                </a:solidFill>
                <a:latin typeface="Meiryo" panose="020B0604030504040204" pitchFamily="50" charset="-128"/>
              </a:rPr>
              <a:t>: isDiverseEnough </a:t>
            </a:r>
            <a:r>
              <a:rPr kumimoji="1" lang="ja-JP" altLang="en-US" sz="2400" b="1">
                <a:solidFill>
                  <a:srgbClr val="38BDF8"/>
                </a:solidFill>
                <a:latin typeface="Meiryo" panose="020B0604030504040204" pitchFamily="50" charset="-128"/>
              </a:rPr>
              <a:t>実装</a:t>
            </a:r>
          </a:p>
        </p:txBody>
      </p:sp>
      <p:sp>
        <p:nvSpPr>
          <p:cNvPr id="3" name="正方形/長方形 2">
            <a:extLst>
              <a:ext uri="{FF2B5EF4-FFF2-40B4-BE49-F238E27FC236}">
                <a16:creationId xmlns:a16="http://schemas.microsoft.com/office/drawing/2014/main" id="{92EC22D9-D00F-63F5-B176-226D5CF593B5}"/>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いずれか </a:t>
            </a:r>
            <a:r>
              <a:rPr kumimoji="1" lang="en-US" altLang="ja-JP" sz="1600" b="1">
                <a:solidFill>
                  <a:srgbClr val="38BDF8"/>
                </a:solidFill>
                <a:latin typeface="Meiryo" panose="020B0604030504040204" pitchFamily="50" charset="-128"/>
              </a:rPr>
              <a:t>1 </a:t>
            </a:r>
            <a:r>
              <a:rPr kumimoji="1" lang="ja-JP" altLang="en-US" sz="1600" b="1">
                <a:solidFill>
                  <a:srgbClr val="38BDF8"/>
                </a:solidFill>
                <a:latin typeface="Meiryo" panose="020B0604030504040204" pitchFamily="50" charset="-128"/>
              </a:rPr>
              <a:t>つの条件を満たせば合格 </a:t>
            </a:r>
            <a:r>
              <a:rPr kumimoji="1" lang="en-US" altLang="ja-JP" sz="1600" b="1">
                <a:solidFill>
                  <a:srgbClr val="38BDF8"/>
                </a:solidFill>
                <a:latin typeface="Meiryo" panose="020B0604030504040204" pitchFamily="50" charset="-128"/>
              </a:rPr>
              <a:t>(OR </a:t>
            </a:r>
            <a:r>
              <a:rPr kumimoji="1" lang="ja-JP" altLang="en-US" sz="1600" b="1">
                <a:solidFill>
                  <a:srgbClr val="38BDF8"/>
                </a:solidFill>
                <a:latin typeface="Meiryo" panose="020B0604030504040204" pitchFamily="50" charset="-128"/>
              </a:rPr>
              <a:t>判定</a:t>
            </a:r>
            <a:r>
              <a:rPr kumimoji="1" lang="en-US" altLang="ja-JP" sz="1600" b="1">
                <a:solidFill>
                  <a:srgbClr val="38BDF8"/>
                </a:solidFill>
                <a:latin typeface="Meiryo" panose="020B0604030504040204" pitchFamily="50" charset="-128"/>
              </a:rPr>
              <a:t>)</a:t>
            </a:r>
            <a:r>
              <a:rPr kumimoji="1" lang="ja-JP" altLang="en-US" sz="1300" b="1">
                <a:solidFill>
                  <a:srgbClr val="F8FAFC"/>
                </a:solidFill>
                <a:latin typeface="Meiryo" panose="020B0604030504040204" pitchFamily="50" charset="-128"/>
              </a:rPr>
              <a:t>
</a:t>
            </a:r>
            <a:r>
              <a:rPr kumimoji="1" lang="en-US" altLang="ja-JP" sz="1300" b="1">
                <a:solidFill>
                  <a:srgbClr val="F8FAFC"/>
                </a:solidFill>
                <a:latin typeface="Meiryo" panose="020B0604030504040204" pitchFamily="50" charset="-128"/>
              </a:rPr>
              <a:t>1. </a:t>
            </a:r>
            <a:r>
              <a:rPr kumimoji="1" lang="ja-JP" altLang="en-US" sz="1300" b="1">
                <a:solidFill>
                  <a:srgbClr val="F8FAFC"/>
                </a:solidFill>
                <a:latin typeface="Meiryo" panose="020B0604030504040204" pitchFamily="50" charset="-128"/>
              </a:rPr>
              <a:t>重心移動量比率</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移動距離 </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画像対角線長 ≧ </a:t>
            </a:r>
            <a:r>
              <a:rPr kumimoji="1" lang="en-US" altLang="ja-JP" sz="1300" b="1">
                <a:solidFill>
                  <a:srgbClr val="F8FAFC"/>
                </a:solidFill>
                <a:latin typeface="Meiryo" panose="020B0604030504040204" pitchFamily="50" charset="-128"/>
              </a:rPr>
              <a:t>5% (minDistanceRatio)
   → </a:t>
            </a:r>
            <a:r>
              <a:rPr kumimoji="1" lang="ja-JP" altLang="en-US" sz="1300" b="1">
                <a:solidFill>
                  <a:srgbClr val="F8FAFC"/>
                </a:solidFill>
                <a:latin typeface="Meiryo" panose="020B0604030504040204" pitchFamily="50" charset="-128"/>
              </a:rPr>
              <a:t>画面の中央、四隅、端など別の場所へ移動したか？
</a:t>
            </a:r>
            <a:r>
              <a:rPr kumimoji="1" lang="en-US" altLang="ja-JP" sz="1300" b="1">
                <a:solidFill>
                  <a:srgbClr val="F8FAFC"/>
                </a:solidFill>
                <a:latin typeface="Meiryo" panose="020B0604030504040204" pitchFamily="50" charset="-128"/>
              </a:rPr>
              <a:t>2. </a:t>
            </a:r>
            <a:r>
              <a:rPr kumimoji="1" lang="ja-JP" altLang="en-US" sz="1300" b="1">
                <a:solidFill>
                  <a:srgbClr val="F8FAFC"/>
                </a:solidFill>
                <a:latin typeface="Meiryo" panose="020B0604030504040204" pitchFamily="50" charset="-128"/>
              </a:rPr>
              <a:t>スケール変化率</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現在半径 </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直前半径</a:t>
            </a:r>
            <a:r>
              <a:rPr kumimoji="1" lang="en-US" altLang="ja-JP" sz="1300" b="1">
                <a:solidFill>
                  <a:srgbClr val="F8FAFC"/>
                </a:solidFill>
                <a:latin typeface="Meiryo" panose="020B0604030504040204" pitchFamily="50" charset="-128"/>
              </a:rPr>
              <a:t>| / </a:t>
            </a:r>
            <a:r>
              <a:rPr kumimoji="1" lang="ja-JP" altLang="en-US" sz="1300" b="1">
                <a:solidFill>
                  <a:srgbClr val="F8FAFC"/>
                </a:solidFill>
                <a:latin typeface="Meiryo" panose="020B0604030504040204" pitchFamily="50" charset="-128"/>
              </a:rPr>
              <a:t>直前半径 ≧ </a:t>
            </a:r>
            <a:r>
              <a:rPr kumimoji="1" lang="en-US" altLang="ja-JP" sz="1300" b="1">
                <a:solidFill>
                  <a:srgbClr val="F8FAFC"/>
                </a:solidFill>
                <a:latin typeface="Meiryo" panose="020B0604030504040204" pitchFamily="50" charset="-128"/>
              </a:rPr>
              <a:t>12% (minScaleRatio)
   → </a:t>
            </a:r>
            <a:r>
              <a:rPr kumimoji="1" lang="ja-JP" altLang="en-US" sz="1300" b="1">
                <a:solidFill>
                  <a:srgbClr val="F8FAFC"/>
                </a:solidFill>
                <a:latin typeface="Meiryo" panose="020B0604030504040204" pitchFamily="50" charset="-128"/>
              </a:rPr>
              <a:t>カメラにグッと近づいたか、遠ざかったか？
</a:t>
            </a:r>
            <a:r>
              <a:rPr kumimoji="1" lang="en-US" altLang="ja-JP" sz="1300" b="1">
                <a:solidFill>
                  <a:srgbClr val="F8FAFC"/>
                </a:solidFill>
                <a:latin typeface="Meiryo" panose="020B0604030504040204" pitchFamily="50" charset="-128"/>
              </a:rPr>
              <a:t>3. </a:t>
            </a:r>
            <a:r>
              <a:rPr kumimoji="1" lang="ja-JP" altLang="en-US" sz="1300" b="1">
                <a:solidFill>
                  <a:srgbClr val="F8FAFC"/>
                </a:solidFill>
                <a:latin typeface="Meiryo" panose="020B0604030504040204" pitchFamily="50" charset="-128"/>
              </a:rPr>
              <a:t>主軸角度変化</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現在角度 </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直前角度</a:t>
            </a:r>
            <a:r>
              <a:rPr kumimoji="1" lang="en-US" altLang="ja-JP" sz="1300" b="1">
                <a:solidFill>
                  <a:srgbClr val="F8FAFC"/>
                </a:solidFill>
                <a:latin typeface="Meiryo" panose="020B0604030504040204" pitchFamily="50" charset="-128"/>
              </a:rPr>
              <a:t>| ≧ 8° (minAngleDeg)
   → </a:t>
            </a:r>
            <a:r>
              <a:rPr kumimoji="1" lang="ja-JP" altLang="en-US" sz="1300" b="1">
                <a:solidFill>
                  <a:srgbClr val="F8FAFC"/>
                </a:solidFill>
                <a:latin typeface="Meiryo" panose="020B0604030504040204" pitchFamily="50" charset="-128"/>
              </a:rPr>
              <a:t>ボードを斜めに傾けたか？ </a:t>
            </a:r>
            <a:r>
              <a:rPr kumimoji="1" lang="en-US" altLang="ja-JP" sz="1300" b="1">
                <a:solidFill>
                  <a:srgbClr val="F8FAFC"/>
                </a:solidFill>
                <a:latin typeface="Meiryo" panose="020B0604030504040204" pitchFamily="50" charset="-128"/>
              </a:rPr>
              <a:t>(</a:t>
            </a:r>
            <a:r>
              <a:rPr kumimoji="1" lang="ja-JP" altLang="en-US" sz="1300" b="1">
                <a:solidFill>
                  <a:srgbClr val="F8FAFC"/>
                </a:solidFill>
                <a:latin typeface="Meiryo" panose="020B0604030504040204" pitchFamily="50" charset="-128"/>
              </a:rPr>
              <a:t>周期性考慮</a:t>
            </a:r>
            <a:r>
              <a:rPr kumimoji="1" lang="en-US" altLang="ja-JP" sz="1300" b="1">
                <a:solidFill>
                  <a:srgbClr val="F8FAFC"/>
                </a:solidFill>
                <a:latin typeface="Meiryo" panose="020B0604030504040204" pitchFamily="50" charset="-128"/>
              </a:rPr>
              <a:t>)</a:t>
            </a:r>
            <a:endParaRPr kumimoji="1" lang="ja-JP" altLang="en-US" sz="1300" b="1">
              <a:solidFill>
                <a:srgbClr val="F8FAFC"/>
              </a:solidFill>
              <a:latin typeface="Meiryo" panose="020B0604030504040204" pitchFamily="50" charset="-128"/>
            </a:endParaRPr>
          </a:p>
        </p:txBody>
      </p:sp>
      <p:sp>
        <p:nvSpPr>
          <p:cNvPr id="4" name="正方形/長方形 3">
            <a:extLst>
              <a:ext uri="{FF2B5EF4-FFF2-40B4-BE49-F238E27FC236}">
                <a16:creationId xmlns:a16="http://schemas.microsoft.com/office/drawing/2014/main" id="{A7969D97-2267-EA01-8684-24C043A83D81}"/>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4D399"/>
                </a:solidFill>
                <a:latin typeface="Meiryo" panose="020B0604030504040204" pitchFamily="50" charset="-128"/>
              </a:rPr>
              <a:t>無駄なサンプルの完全排除</a:t>
            </a:r>
            <a:r>
              <a:rPr kumimoji="1" lang="ja-JP" altLang="en-US" sz="1300" b="1">
                <a:solidFill>
                  <a:srgbClr val="F8FAFC"/>
                </a:solidFill>
                <a:latin typeface="Meiryo" panose="020B0604030504040204" pitchFamily="50" charset="-128"/>
              </a:rPr>
              <a:t>
作業者が同じ場所でボードを静止させ続けても、多様性チェックでブロックされるため重複記録されません。
わずかに位置、距離、傾きのいずれかを変えるだけで即座に次の標本として承認されます。</a:t>
            </a:r>
          </a:p>
        </p:txBody>
      </p:sp>
    </p:spTree>
    <p:extLst>
      <p:ext uri="{BB962C8B-B14F-4D97-AF65-F5344CB8AC3E}">
        <p14:creationId xmlns:p14="http://schemas.microsoft.com/office/powerpoint/2010/main" val="4010072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15A24E4-E026-FBDD-C6CF-EDBC256CA49B}"/>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1: CHARUCO CALIBRATION</a:t>
            </a:r>
            <a:r>
              <a:rPr kumimoji="1" lang="ja-JP" altLang="en-US" sz="2400" b="1">
                <a:solidFill>
                  <a:srgbClr val="38BDF8"/>
                </a:solidFill>
                <a:latin typeface="Meiryo" panose="020B0604030504040204" pitchFamily="50" charset="-128"/>
              </a:rPr>
              <a:t>
クールダウン制御と音響フィードバック</a:t>
            </a:r>
          </a:p>
        </p:txBody>
      </p:sp>
      <p:sp>
        <p:nvSpPr>
          <p:cNvPr id="3" name="正方形/長方形 2">
            <a:extLst>
              <a:ext uri="{FF2B5EF4-FFF2-40B4-BE49-F238E27FC236}">
                <a16:creationId xmlns:a16="http://schemas.microsoft.com/office/drawing/2014/main" id="{52D85139-EA41-6757-B086-27CE0170C536}"/>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姿勢変更クールダウン </a:t>
            </a:r>
            <a:r>
              <a:rPr kumimoji="1" lang="en-US" altLang="ja-JP" sz="1600" b="1">
                <a:solidFill>
                  <a:srgbClr val="38BDF8"/>
                </a:solidFill>
                <a:latin typeface="Meiryo" panose="020B0604030504040204" pitchFamily="50" charset="-128"/>
              </a:rPr>
              <a:t>(1.5</a:t>
            </a:r>
            <a:r>
              <a:rPr kumimoji="1" lang="ja-JP" altLang="en-US" sz="1600" b="1">
                <a:solidFill>
                  <a:srgbClr val="38BDF8"/>
                </a:solidFill>
                <a:latin typeface="Meiryo" panose="020B0604030504040204" pitchFamily="50" charset="-128"/>
              </a:rPr>
              <a:t>秒</a:t>
            </a:r>
            <a:r>
              <a:rPr kumimoji="1" lang="en-US" altLang="ja-JP" sz="1600" b="1">
                <a:solidFill>
                  <a:srgbClr val="38BDF8"/>
                </a:solidFill>
                <a:latin typeface="Meiryo" panose="020B0604030504040204" pitchFamily="50" charset="-128"/>
              </a:rPr>
              <a:t>)</a:t>
            </a:r>
            <a:r>
              <a:rPr kumimoji="1" lang="ja-JP" altLang="en-US" sz="1300" b="1">
                <a:solidFill>
                  <a:srgbClr val="F8FAFC"/>
                </a:solidFill>
                <a:latin typeface="Meiryo" panose="020B0604030504040204" pitchFamily="50" charset="-128"/>
              </a:rPr>
              <a:t>
・標本を記録した直後、タイマーを </a:t>
            </a:r>
            <a:r>
              <a:rPr kumimoji="1" lang="en-US" altLang="ja-JP" sz="1300" b="1">
                <a:solidFill>
                  <a:srgbClr val="F8FAFC"/>
                </a:solidFill>
                <a:latin typeface="Meiryo" panose="020B0604030504040204" pitchFamily="50" charset="-128"/>
              </a:rPr>
              <a:t>1.5 </a:t>
            </a:r>
            <a:r>
              <a:rPr kumimoji="1" lang="ja-JP" altLang="en-US" sz="1300" b="1">
                <a:solidFill>
                  <a:srgbClr val="F8FAFC"/>
                </a:solidFill>
                <a:latin typeface="Meiryo" panose="020B0604030504040204" pitchFamily="50" charset="-128"/>
              </a:rPr>
              <a:t>秒にセット。
・作業者が次の姿勢へボードを動かす最中に、誤って中間フレームが記録されるのを完全に防止。</a:t>
            </a:r>
          </a:p>
        </p:txBody>
      </p:sp>
      <p:sp>
        <p:nvSpPr>
          <p:cNvPr id="4" name="正方形/長方形 3">
            <a:extLst>
              <a:ext uri="{FF2B5EF4-FFF2-40B4-BE49-F238E27FC236}">
                <a16:creationId xmlns:a16="http://schemas.microsoft.com/office/drawing/2014/main" id="{BACC2F54-216A-82F5-7C3B-B2B693064F47}"/>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4D399"/>
                </a:solidFill>
                <a:latin typeface="Meiryo" panose="020B0604030504040204" pitchFamily="50" charset="-128"/>
              </a:rPr>
              <a:t>非同期音響フィードバック</a:t>
            </a:r>
            <a:r>
              <a:rPr kumimoji="1" lang="en-US" altLang="ja-JP" sz="1300" b="1">
                <a:solidFill>
                  <a:srgbClr val="F8FAFC"/>
                </a:solidFill>
                <a:latin typeface="Meiryo" panose="020B0604030504040204" pitchFamily="50" charset="-128"/>
              </a:rPr>
              <a:t>
#if defined(_WIN32)
  // </a:t>
            </a:r>
            <a:r>
              <a:rPr kumimoji="1" lang="ja-JP" altLang="en-US" sz="1300" b="1">
                <a:solidFill>
                  <a:srgbClr val="F8FAFC"/>
                </a:solidFill>
                <a:latin typeface="Meiryo" panose="020B0604030504040204" pitchFamily="50" charset="-128"/>
              </a:rPr>
              <a:t>メインスレッドを止めないよう別スレッド再生
  </a:t>
            </a:r>
            <a:r>
              <a:rPr kumimoji="1" lang="en-US" altLang="ja-JP" sz="1300" b="1">
                <a:solidFill>
                  <a:srgbClr val="F8FAFC"/>
                </a:solidFill>
                <a:latin typeface="Meiryo" panose="020B0604030504040204" pitchFamily="50" charset="-128"/>
              </a:rPr>
              <a:t>std::thread([] { Beep(1200, 100); }).detach();
#else
  // Linux </a:t>
            </a:r>
            <a:r>
              <a:rPr kumimoji="1" lang="ja-JP" altLang="en-US" sz="1300" b="1">
                <a:solidFill>
                  <a:srgbClr val="F8FAFC"/>
                </a:solidFill>
                <a:latin typeface="Meiryo" panose="020B0604030504040204" pitchFamily="50" charset="-128"/>
              </a:rPr>
              <a:t>は端末ベル文字
  </a:t>
            </a:r>
            <a:r>
              <a:rPr kumimoji="1" lang="en-US" altLang="ja-JP" sz="1300" b="1">
                <a:solidFill>
                  <a:srgbClr val="F8FAFC"/>
                </a:solidFill>
                <a:latin typeface="Meiryo" panose="020B0604030504040204" pitchFamily="50" charset="-128"/>
              </a:rPr>
              <a:t>std::cout &lt;&lt; '\a' &lt;&lt; std::flush;
#endif</a:t>
            </a:r>
            <a:endParaRPr kumimoji="1" lang="ja-JP" altLang="en-US" sz="1300" b="1">
              <a:solidFill>
                <a:srgbClr val="F8FAFC"/>
              </a:solidFill>
              <a:latin typeface="Meiryo" panose="020B0604030504040204" pitchFamily="50" charset="-128"/>
            </a:endParaRPr>
          </a:p>
        </p:txBody>
      </p:sp>
    </p:spTree>
    <p:extLst>
      <p:ext uri="{BB962C8B-B14F-4D97-AF65-F5344CB8AC3E}">
        <p14:creationId xmlns:p14="http://schemas.microsoft.com/office/powerpoint/2010/main" val="96345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0470470-322B-B4C9-3A8A-72A6764BD5AD}"/>
              </a:ext>
            </a:extLst>
          </p:cNvPr>
          <p:cNvSpPr txBox="1"/>
          <p:nvPr/>
        </p:nvSpPr>
        <p:spPr>
          <a:xfrm>
            <a:off x="1016000" y="2032000"/>
            <a:ext cx="10160000" cy="2123658"/>
          </a:xfrm>
          <a:prstGeom prst="rect">
            <a:avLst/>
          </a:prstGeom>
          <a:noFill/>
        </p:spPr>
        <p:txBody>
          <a:bodyPr vert="horz" wrap="square" rtlCol="0">
            <a:spAutoFit/>
          </a:bodyPr>
          <a:lstStyle/>
          <a:p>
            <a:pPr algn="ctr"/>
            <a:r>
              <a:rPr kumimoji="1" lang="en-US" altLang="ja-JP" sz="1600" b="1">
                <a:solidFill>
                  <a:srgbClr val="34D399"/>
                </a:solidFill>
                <a:latin typeface="Meiryo" panose="020B0604030504040204" pitchFamily="50" charset="-128"/>
              </a:rPr>
              <a:t>Part 2</a:t>
            </a:r>
            <a:r>
              <a:rPr kumimoji="1" lang="en-US" altLang="ja-JP" sz="3400" b="1">
                <a:solidFill>
                  <a:srgbClr val="F8FAFC"/>
                </a:solidFill>
                <a:latin typeface="Meiryo" panose="020B0604030504040204" pitchFamily="50" charset="-128"/>
              </a:rPr>
              <a:t>
Microsoft Media Foundation </a:t>
            </a:r>
            <a:r>
              <a:rPr kumimoji="1" lang="ja-JP" altLang="en-US" sz="3400" b="1">
                <a:solidFill>
                  <a:srgbClr val="F8FAFC"/>
                </a:solidFill>
                <a:latin typeface="Meiryo" panose="020B0604030504040204" pitchFamily="50" charset="-128"/>
              </a:rPr>
              <a:t>を使った
キャプチャクラス </a:t>
            </a:r>
            <a:r>
              <a:rPr kumimoji="1" lang="en-US" altLang="ja-JP" sz="3400" b="1">
                <a:solidFill>
                  <a:srgbClr val="F8FAFC"/>
                </a:solidFill>
                <a:latin typeface="Meiryo" panose="020B0604030504040204" pitchFamily="50" charset="-128"/>
              </a:rPr>
              <a:t>CamMf</a:t>
            </a:r>
            <a:r>
              <a:rPr kumimoji="1" lang="ja-JP" altLang="en-US" sz="1500" b="1">
                <a:solidFill>
                  <a:srgbClr val="38BDF8"/>
                </a:solidFill>
                <a:latin typeface="Meiryo" panose="020B0604030504040204" pitchFamily="50" charset="-128"/>
              </a:rPr>
              <a:t>
</a:t>
            </a:r>
            <a:r>
              <a:rPr kumimoji="1" lang="en-US" altLang="ja-JP" sz="1500" b="1">
                <a:solidFill>
                  <a:srgbClr val="38BDF8"/>
                </a:solidFill>
                <a:latin typeface="Meiryo" panose="020B0604030504040204" pitchFamily="50" charset="-128"/>
              </a:rPr>
              <a:t>COM / MFT </a:t>
            </a:r>
            <a:r>
              <a:rPr kumimoji="1" lang="ja-JP" altLang="en-US" sz="1500" b="1">
                <a:solidFill>
                  <a:srgbClr val="38BDF8"/>
                </a:solidFill>
                <a:latin typeface="Meiryo" panose="020B0604030504040204" pitchFamily="50" charset="-128"/>
              </a:rPr>
              <a:t>デコーダ </a:t>
            </a:r>
            <a:r>
              <a:rPr kumimoji="1" lang="en-US" altLang="ja-JP" sz="1500" b="1">
                <a:solidFill>
                  <a:srgbClr val="38BDF8"/>
                </a:solidFill>
                <a:latin typeface="Meiryo" panose="020B0604030504040204" pitchFamily="50" charset="-128"/>
              </a:rPr>
              <a:t>/ </a:t>
            </a:r>
            <a:r>
              <a:rPr kumimoji="1" lang="ja-JP" altLang="en-US" sz="1500" b="1">
                <a:solidFill>
                  <a:srgbClr val="38BDF8"/>
                </a:solidFill>
                <a:latin typeface="Meiryo" panose="020B0604030504040204" pitchFamily="50" charset="-128"/>
              </a:rPr>
              <a:t>低遅延設定 </a:t>
            </a:r>
            <a:r>
              <a:rPr kumimoji="1" lang="en-US" altLang="ja-JP" sz="1500" b="1">
                <a:solidFill>
                  <a:srgbClr val="38BDF8"/>
                </a:solidFill>
                <a:latin typeface="Meiryo" panose="020B0604030504040204" pitchFamily="50" charset="-128"/>
              </a:rPr>
              <a:t>/ </a:t>
            </a:r>
            <a:r>
              <a:rPr kumimoji="1" lang="ja-JP" altLang="en-US" sz="1500" b="1">
                <a:solidFill>
                  <a:srgbClr val="38BDF8"/>
                </a:solidFill>
                <a:latin typeface="Meiryo" panose="020B0604030504040204" pitchFamily="50" charset="-128"/>
              </a:rPr>
              <a:t>動的ストリームチェンジ</a:t>
            </a:r>
          </a:p>
        </p:txBody>
      </p:sp>
    </p:spTree>
    <p:extLst>
      <p:ext uri="{BB962C8B-B14F-4D97-AF65-F5344CB8AC3E}">
        <p14:creationId xmlns:p14="http://schemas.microsoft.com/office/powerpoint/2010/main" val="1725345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C614AB3-3EDC-7D13-2B49-CB04CAE2E36D}"/>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2: MEDIA FOUNDATION (CAMMF)</a:t>
            </a:r>
            <a:r>
              <a:rPr kumimoji="1" lang="ja-JP" altLang="en-US" sz="2400" b="1">
                <a:solidFill>
                  <a:srgbClr val="38BDF8"/>
                </a:solidFill>
                <a:latin typeface="Meiryo" panose="020B0604030504040204" pitchFamily="50" charset="-128"/>
              </a:rPr>
              <a:t>
なぜ </a:t>
            </a:r>
            <a:r>
              <a:rPr kumimoji="1" lang="en-US" altLang="ja-JP" sz="2400" b="1">
                <a:solidFill>
                  <a:srgbClr val="38BDF8"/>
                </a:solidFill>
                <a:latin typeface="Meiryo" panose="020B0604030504040204" pitchFamily="50" charset="-128"/>
              </a:rPr>
              <a:t>OpenCV VideoCapture </a:t>
            </a:r>
            <a:r>
              <a:rPr kumimoji="1" lang="ja-JP" altLang="en-US" sz="2400" b="1">
                <a:solidFill>
                  <a:srgbClr val="38BDF8"/>
                </a:solidFill>
                <a:latin typeface="Meiryo" panose="020B0604030504040204" pitchFamily="50" charset="-128"/>
              </a:rPr>
              <a:t>から脱却したのか？</a:t>
            </a:r>
          </a:p>
        </p:txBody>
      </p:sp>
      <p:sp>
        <p:nvSpPr>
          <p:cNvPr id="3" name="正方形/長方形 2">
            <a:extLst>
              <a:ext uri="{FF2B5EF4-FFF2-40B4-BE49-F238E27FC236}">
                <a16:creationId xmlns:a16="http://schemas.microsoft.com/office/drawing/2014/main" id="{1BA70F41-E68C-890E-03BD-11D3D99CB5A0}"/>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8BDF8"/>
                </a:solidFill>
                <a:latin typeface="Meiryo" panose="020B0604030504040204" pitchFamily="50" charset="-128"/>
              </a:rPr>
              <a:t>OpenCV VideoCapture </a:t>
            </a:r>
            <a:r>
              <a:rPr kumimoji="1" lang="ja-JP" altLang="en-US" sz="1600" b="1">
                <a:solidFill>
                  <a:srgbClr val="38BDF8"/>
                </a:solidFill>
                <a:latin typeface="Meiryo" panose="020B0604030504040204" pitchFamily="50" charset="-128"/>
              </a:rPr>
              <a:t>の課題</a:t>
            </a:r>
            <a:r>
              <a:rPr kumimoji="1" lang="ja-JP" altLang="en-US" sz="1300" b="1">
                <a:solidFill>
                  <a:srgbClr val="F8FAFC"/>
                </a:solidFill>
                <a:latin typeface="Meiryo" panose="020B0604030504040204" pitchFamily="50" charset="-128"/>
              </a:rPr>
              <a:t>
・内部バッファリングにより </a:t>
            </a:r>
            <a:r>
              <a:rPr kumimoji="1" lang="en-US" altLang="ja-JP" sz="1300" b="1">
                <a:solidFill>
                  <a:srgbClr val="F8FAFC"/>
                </a:solidFill>
                <a:latin typeface="Meiryo" panose="020B0604030504040204" pitchFamily="50" charset="-128"/>
              </a:rPr>
              <a:t>50〜100ms </a:t>
            </a:r>
            <a:r>
              <a:rPr kumimoji="1" lang="ja-JP" altLang="en-US" sz="1300" b="1">
                <a:solidFill>
                  <a:srgbClr val="F8FAFC"/>
                </a:solidFill>
                <a:latin typeface="Meiryo" panose="020B0604030504040204" pitchFamily="50" charset="-128"/>
              </a:rPr>
              <a:t>の遅延が発生。
・</a:t>
            </a:r>
            <a:r>
              <a:rPr kumimoji="1" lang="en-US" altLang="ja-JP" sz="1300" b="1">
                <a:solidFill>
                  <a:srgbClr val="F8FAFC"/>
                </a:solidFill>
                <a:latin typeface="Meiryo" panose="020B0604030504040204" pitchFamily="50" charset="-128"/>
              </a:rPr>
              <a:t>MJPG / H.264 </a:t>
            </a:r>
            <a:r>
              <a:rPr kumimoji="1" lang="ja-JP" altLang="en-US" sz="1300" b="1">
                <a:solidFill>
                  <a:srgbClr val="F8FAFC"/>
                </a:solidFill>
                <a:latin typeface="Meiryo" panose="020B0604030504040204" pitchFamily="50" charset="-128"/>
              </a:rPr>
              <a:t>のデコードが </a:t>
            </a:r>
            <a:r>
              <a:rPr kumimoji="1" lang="en-US" altLang="ja-JP" sz="1300" b="1">
                <a:solidFill>
                  <a:srgbClr val="F8FAFC"/>
                </a:solidFill>
                <a:latin typeface="Meiryo" panose="020B0604030504040204" pitchFamily="50" charset="-128"/>
              </a:rPr>
              <a:t>CPU </a:t>
            </a:r>
            <a:r>
              <a:rPr kumimoji="1" lang="ja-JP" altLang="en-US" sz="1300" b="1">
                <a:solidFill>
                  <a:srgbClr val="F8FAFC"/>
                </a:solidFill>
                <a:latin typeface="Meiryo" panose="020B0604030504040204" pitchFamily="50" charset="-128"/>
              </a:rPr>
              <a:t>処理となり高負荷。
・デバイス列挙時に重い初期化が走り </a:t>
            </a:r>
            <a:r>
              <a:rPr kumimoji="1" lang="en-US" altLang="ja-JP" sz="1300" b="1">
                <a:solidFill>
                  <a:srgbClr val="F8FAFC"/>
                </a:solidFill>
                <a:latin typeface="Meiryo" panose="020B0604030504040204" pitchFamily="50" charset="-128"/>
              </a:rPr>
              <a:t>UI </a:t>
            </a:r>
            <a:r>
              <a:rPr kumimoji="1" lang="ja-JP" altLang="en-US" sz="1300" b="1">
                <a:solidFill>
                  <a:srgbClr val="F8FAFC"/>
                </a:solidFill>
                <a:latin typeface="Meiryo" panose="020B0604030504040204" pitchFamily="50" charset="-128"/>
              </a:rPr>
              <a:t>がフリーズ。</a:t>
            </a:r>
          </a:p>
        </p:txBody>
      </p:sp>
      <p:sp>
        <p:nvSpPr>
          <p:cNvPr id="4" name="正方形/長方形 3">
            <a:extLst>
              <a:ext uri="{FF2B5EF4-FFF2-40B4-BE49-F238E27FC236}">
                <a16:creationId xmlns:a16="http://schemas.microsoft.com/office/drawing/2014/main" id="{E2160B87-CF17-8972-2E2E-B979BAD549AB}"/>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4D399"/>
                </a:solidFill>
                <a:latin typeface="Meiryo" panose="020B0604030504040204" pitchFamily="50" charset="-128"/>
              </a:rPr>
              <a:t>Media Foundation </a:t>
            </a:r>
            <a:r>
              <a:rPr kumimoji="1" lang="ja-JP" altLang="en-US" sz="1600" b="1">
                <a:solidFill>
                  <a:srgbClr val="34D399"/>
                </a:solidFill>
                <a:latin typeface="Meiryo" panose="020B0604030504040204" pitchFamily="50" charset="-128"/>
              </a:rPr>
              <a:t>直接制御の強み</a:t>
            </a:r>
            <a:r>
              <a:rPr kumimoji="1" lang="ja-JP" altLang="en-US" sz="1300" b="1">
                <a:solidFill>
                  <a:srgbClr val="F8FAFC"/>
                </a:solidFill>
                <a:latin typeface="Meiryo" panose="020B0604030504040204" pitchFamily="50" charset="-128"/>
              </a:rPr>
              <a:t>
・</a:t>
            </a:r>
            <a:r>
              <a:rPr kumimoji="1" lang="en-US" altLang="ja-JP" sz="1300" b="1">
                <a:solidFill>
                  <a:srgbClr val="F8FAFC"/>
                </a:solidFill>
                <a:latin typeface="Meiryo" panose="020B0604030504040204" pitchFamily="50" charset="-128"/>
              </a:rPr>
              <a:t>CODECAPI_AVLowLatencyMode </a:t>
            </a:r>
            <a:r>
              <a:rPr kumimoji="1" lang="ja-JP" altLang="en-US" sz="1300" b="1">
                <a:solidFill>
                  <a:srgbClr val="F8FAFC"/>
                </a:solidFill>
                <a:latin typeface="Meiryo" panose="020B0604030504040204" pitchFamily="50" charset="-128"/>
              </a:rPr>
              <a:t>で遅延を極小化。
・</a:t>
            </a:r>
            <a:r>
              <a:rPr kumimoji="1" lang="en-US" altLang="ja-JP" sz="1300" b="1">
                <a:solidFill>
                  <a:srgbClr val="F8FAFC"/>
                </a:solidFill>
                <a:latin typeface="Meiryo" panose="020B0604030504040204" pitchFamily="50" charset="-128"/>
              </a:rPr>
              <a:t>GPU / DXVA </a:t>
            </a:r>
            <a:r>
              <a:rPr kumimoji="1" lang="ja-JP" altLang="en-US" sz="1300" b="1">
                <a:solidFill>
                  <a:srgbClr val="F8FAFC"/>
                </a:solidFill>
                <a:latin typeface="Meiryo" panose="020B0604030504040204" pitchFamily="50" charset="-128"/>
              </a:rPr>
              <a:t>支援の </a:t>
            </a:r>
            <a:r>
              <a:rPr kumimoji="1" lang="en-US" altLang="ja-JP" sz="1300" b="1">
                <a:solidFill>
                  <a:srgbClr val="F8FAFC"/>
                </a:solidFill>
                <a:latin typeface="Meiryo" panose="020B0604030504040204" pitchFamily="50" charset="-128"/>
              </a:rPr>
              <a:t>MFT </a:t>
            </a:r>
            <a:r>
              <a:rPr kumimoji="1" lang="ja-JP" altLang="en-US" sz="1300" b="1">
                <a:solidFill>
                  <a:srgbClr val="F8FAFC"/>
                </a:solidFill>
                <a:latin typeface="Meiryo" panose="020B0604030504040204" pitchFamily="50" charset="-128"/>
              </a:rPr>
              <a:t>ハードウェアデコーダを活用。
・メタデータ列挙時はデコーダを作らない遅延初期化。</a:t>
            </a:r>
          </a:p>
        </p:txBody>
      </p:sp>
    </p:spTree>
    <p:extLst>
      <p:ext uri="{BB962C8B-B14F-4D97-AF65-F5344CB8AC3E}">
        <p14:creationId xmlns:p14="http://schemas.microsoft.com/office/powerpoint/2010/main" val="1445219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F940EEC-7D5A-5821-C5C7-261D35F31BB8}"/>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2: MEDIA FOUNDATION (CAMMF)</a:t>
            </a:r>
            <a:r>
              <a:rPr kumimoji="1" lang="ja-JP" altLang="en-US" sz="2400" b="1">
                <a:solidFill>
                  <a:srgbClr val="38BDF8"/>
                </a:solidFill>
                <a:latin typeface="Meiryo" panose="020B0604030504040204" pitchFamily="50" charset="-128"/>
              </a:rPr>
              <a:t>
</a:t>
            </a:r>
            <a:r>
              <a:rPr kumimoji="1" lang="en-US" altLang="ja-JP" sz="2400" b="1">
                <a:solidFill>
                  <a:srgbClr val="38BDF8"/>
                </a:solidFill>
                <a:latin typeface="Meiryo" panose="020B0604030504040204" pitchFamily="50" charset="-128"/>
              </a:rPr>
              <a:t>CamMf </a:t>
            </a:r>
            <a:r>
              <a:rPr kumimoji="1" lang="ja-JP" altLang="en-US" sz="2400" b="1">
                <a:solidFill>
                  <a:srgbClr val="38BDF8"/>
                </a:solidFill>
                <a:latin typeface="Meiryo" panose="020B0604030504040204" pitchFamily="50" charset="-128"/>
              </a:rPr>
              <a:t>のクラス構成と </a:t>
            </a:r>
            <a:r>
              <a:rPr kumimoji="1" lang="en-US" altLang="ja-JP" sz="2400" b="1">
                <a:solidFill>
                  <a:srgbClr val="38BDF8"/>
                </a:solidFill>
                <a:latin typeface="Meiryo" panose="020B0604030504040204" pitchFamily="50" charset="-128"/>
              </a:rPr>
              <a:t>MFT </a:t>
            </a:r>
            <a:r>
              <a:rPr kumimoji="1" lang="ja-JP" altLang="en-US" sz="2400" b="1">
                <a:solidFill>
                  <a:srgbClr val="38BDF8"/>
                </a:solidFill>
                <a:latin typeface="Meiryo" panose="020B0604030504040204" pitchFamily="50" charset="-128"/>
              </a:rPr>
              <a:t>パイプライン</a:t>
            </a:r>
          </a:p>
        </p:txBody>
      </p:sp>
      <p:sp>
        <p:nvSpPr>
          <p:cNvPr id="3" name="正方形/長方形 2">
            <a:extLst>
              <a:ext uri="{FF2B5EF4-FFF2-40B4-BE49-F238E27FC236}">
                <a16:creationId xmlns:a16="http://schemas.microsoft.com/office/drawing/2014/main" id="{D01A843E-D3BC-648E-AEE0-A36F9DC68885}"/>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8BDF8"/>
                </a:solidFill>
                <a:latin typeface="Meiryo" panose="020B0604030504040204" pitchFamily="50" charset="-128"/>
              </a:rPr>
              <a:t>MFT </a:t>
            </a:r>
            <a:r>
              <a:rPr kumimoji="1" lang="ja-JP" altLang="en-US" sz="1600" b="1">
                <a:solidFill>
                  <a:srgbClr val="38BDF8"/>
                </a:solidFill>
                <a:latin typeface="Meiryo" panose="020B0604030504040204" pitchFamily="50" charset="-128"/>
              </a:rPr>
              <a:t>処理パイプラインの構成</a:t>
            </a:r>
            <a:r>
              <a:rPr kumimoji="1" lang="ja-JP" altLang="en-US" sz="1300" b="1">
                <a:solidFill>
                  <a:srgbClr val="F8FAFC"/>
                </a:solidFill>
                <a:latin typeface="Meiryo" panose="020B0604030504040204" pitchFamily="50" charset="-128"/>
              </a:rPr>
              <a:t>
</a:t>
            </a:r>
            <a:r>
              <a:rPr kumimoji="1" lang="en-US" altLang="ja-JP" sz="1300" b="1">
                <a:solidFill>
                  <a:srgbClr val="F8FAFC"/>
                </a:solidFill>
                <a:latin typeface="Meiryo" panose="020B0604030504040204" pitchFamily="50" charset="-128"/>
              </a:rPr>
              <a:t>1. </a:t>
            </a:r>
            <a:r>
              <a:rPr kumimoji="1" lang="ja-JP" altLang="en-US" sz="1300" b="1">
                <a:solidFill>
                  <a:srgbClr val="F8FAFC"/>
                </a:solidFill>
                <a:latin typeface="Meiryo" panose="020B0604030504040204" pitchFamily="50" charset="-128"/>
              </a:rPr>
              <a:t>非圧縮フォーマット </a:t>
            </a:r>
            <a:r>
              <a:rPr kumimoji="1" lang="en-US" altLang="ja-JP" sz="1300" b="1">
                <a:solidFill>
                  <a:srgbClr val="F8FAFC"/>
                </a:solidFill>
                <a:latin typeface="Meiryo" panose="020B0604030504040204" pitchFamily="50" charset="-128"/>
              </a:rPr>
              <a:t>(YUY2 / NV12):
   Source Reader → MFT Color Converter → RGB32
2. </a:t>
            </a:r>
            <a:r>
              <a:rPr kumimoji="1" lang="ja-JP" altLang="en-US" sz="1300" b="1">
                <a:solidFill>
                  <a:srgbClr val="F8FAFC"/>
                </a:solidFill>
                <a:latin typeface="Meiryo" panose="020B0604030504040204" pitchFamily="50" charset="-128"/>
              </a:rPr>
              <a:t>圧縮フォーマット </a:t>
            </a:r>
            <a:r>
              <a:rPr kumimoji="1" lang="en-US" altLang="ja-JP" sz="1300" b="1">
                <a:solidFill>
                  <a:srgbClr val="F8FAFC"/>
                </a:solidFill>
                <a:latin typeface="Meiryo" panose="020B0604030504040204" pitchFamily="50" charset="-128"/>
              </a:rPr>
              <a:t>(MJPG / H.264):
   Source Reader → MFT Decoder (NV12) → MFT Color Converter → RGB32
</a:t>
            </a:r>
            <a:r>
              <a:rPr kumimoji="1" lang="ja-JP" altLang="en-US" sz="1300" b="1">
                <a:solidFill>
                  <a:srgbClr val="F8FAFC"/>
                </a:solidFill>
                <a:latin typeface="Meiryo" panose="020B0604030504040204" pitchFamily="50" charset="-128"/>
              </a:rPr>
              <a:t>・</a:t>
            </a:r>
            <a:r>
              <a:rPr kumimoji="1" lang="en-US" altLang="ja-JP" sz="1300" b="1">
                <a:solidFill>
                  <a:srgbClr val="F8FAFC"/>
                </a:solidFill>
                <a:latin typeface="Meiryo" panose="020B0604030504040204" pitchFamily="50" charset="-128"/>
              </a:rPr>
              <a:t>pDecoder: MJPG/H264 </a:t>
            </a:r>
            <a:r>
              <a:rPr kumimoji="1" lang="ja-JP" altLang="en-US" sz="1300" b="1">
                <a:solidFill>
                  <a:srgbClr val="F8FAFC"/>
                </a:solidFill>
                <a:latin typeface="Meiryo" panose="020B0604030504040204" pitchFamily="50" charset="-128"/>
              </a:rPr>
              <a:t>から </a:t>
            </a:r>
            <a:r>
              <a:rPr kumimoji="1" lang="en-US" altLang="ja-JP" sz="1300" b="1">
                <a:solidFill>
                  <a:srgbClr val="F8FAFC"/>
                </a:solidFill>
                <a:latin typeface="Meiryo" panose="020B0604030504040204" pitchFamily="50" charset="-128"/>
              </a:rPr>
              <a:t>NV12 </a:t>
            </a:r>
            <a:r>
              <a:rPr kumimoji="1" lang="ja-JP" altLang="en-US" sz="1300" b="1">
                <a:solidFill>
                  <a:srgbClr val="F8FAFC"/>
                </a:solidFill>
                <a:latin typeface="Meiryo" panose="020B0604030504040204" pitchFamily="50" charset="-128"/>
              </a:rPr>
              <a:t>へデコード
・</a:t>
            </a:r>
            <a:r>
              <a:rPr kumimoji="1" lang="en-US" altLang="ja-JP" sz="1300" b="1">
                <a:solidFill>
                  <a:srgbClr val="F8FAFC"/>
                </a:solidFill>
                <a:latin typeface="Meiryo" panose="020B0604030504040204" pitchFamily="50" charset="-128"/>
              </a:rPr>
              <a:t>pConverter: NV12/YUY2 </a:t>
            </a:r>
            <a:r>
              <a:rPr kumimoji="1" lang="ja-JP" altLang="en-US" sz="1300" b="1">
                <a:solidFill>
                  <a:srgbClr val="F8FAFC"/>
                </a:solidFill>
                <a:latin typeface="Meiryo" panose="020B0604030504040204" pitchFamily="50" charset="-128"/>
              </a:rPr>
              <a:t>から </a:t>
            </a:r>
            <a:r>
              <a:rPr kumimoji="1" lang="en-US" altLang="ja-JP" sz="1300" b="1">
                <a:solidFill>
                  <a:srgbClr val="F8FAFC"/>
                </a:solidFill>
                <a:latin typeface="Meiryo" panose="020B0604030504040204" pitchFamily="50" charset="-128"/>
              </a:rPr>
              <a:t>RGB32 (BGRA) </a:t>
            </a:r>
            <a:r>
              <a:rPr kumimoji="1" lang="ja-JP" altLang="en-US" sz="1300" b="1">
                <a:solidFill>
                  <a:srgbClr val="F8FAFC"/>
                </a:solidFill>
                <a:latin typeface="Meiryo" panose="020B0604030504040204" pitchFamily="50" charset="-128"/>
              </a:rPr>
              <a:t>へ変換</a:t>
            </a:r>
          </a:p>
        </p:txBody>
      </p:sp>
      <p:sp>
        <p:nvSpPr>
          <p:cNvPr id="4" name="正方形/長方形 3">
            <a:extLst>
              <a:ext uri="{FF2B5EF4-FFF2-40B4-BE49-F238E27FC236}">
                <a16:creationId xmlns:a16="http://schemas.microsoft.com/office/drawing/2014/main" id="{4D543061-AF73-01CF-B003-9480CA4B6FB4}"/>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4D399"/>
                </a:solidFill>
                <a:latin typeface="Meiryo" panose="020B0604030504040204" pitchFamily="50" charset="-128"/>
              </a:rPr>
              <a:t>クラス構成と基底クラス</a:t>
            </a:r>
            <a:r>
              <a:rPr kumimoji="1" lang="ja-JP" altLang="en-US" sz="1300" b="1">
                <a:solidFill>
                  <a:srgbClr val="F8FAFC"/>
                </a:solidFill>
                <a:latin typeface="Meiryo" panose="020B0604030504040204" pitchFamily="50" charset="-128"/>
              </a:rPr>
              <a:t>
・</a:t>
            </a:r>
            <a:r>
              <a:rPr kumimoji="1" lang="en-US" altLang="ja-JP" sz="1300" b="1">
                <a:solidFill>
                  <a:srgbClr val="F8FAFC"/>
                </a:solidFill>
                <a:latin typeface="Meiryo" panose="020B0604030504040204" pitchFamily="50" charset="-128"/>
              </a:rPr>
              <a:t>Camera: </a:t>
            </a:r>
            <a:r>
              <a:rPr kumimoji="1" lang="ja-JP" altLang="en-US" sz="1300" b="1">
                <a:solidFill>
                  <a:srgbClr val="F8FAFC"/>
                </a:solidFill>
                <a:latin typeface="Meiryo" panose="020B0604030504040204" pitchFamily="50" charset="-128"/>
              </a:rPr>
              <a:t>解像度、バッファ、スレッド同期を管理する抽象基底クラス。
・</a:t>
            </a:r>
            <a:r>
              <a:rPr kumimoji="1" lang="en-US" altLang="ja-JP" sz="1300" b="1">
                <a:solidFill>
                  <a:srgbClr val="F8FAFC"/>
                </a:solidFill>
                <a:latin typeface="Meiryo" panose="020B0604030504040204" pitchFamily="50" charset="-128"/>
              </a:rPr>
              <a:t>CamMf: Media Foundation </a:t>
            </a:r>
            <a:r>
              <a:rPr kumimoji="1" lang="ja-JP" altLang="en-US" sz="1300" b="1">
                <a:solidFill>
                  <a:srgbClr val="F8FAFC"/>
                </a:solidFill>
                <a:latin typeface="Meiryo" panose="020B0604030504040204" pitchFamily="50" charset="-128"/>
              </a:rPr>
              <a:t>固有のポインタ </a:t>
            </a:r>
            <a:r>
              <a:rPr kumimoji="1" lang="en-US" altLang="ja-JP" sz="1300" b="1">
                <a:solidFill>
                  <a:srgbClr val="F8FAFC"/>
                </a:solidFill>
                <a:latin typeface="Meiryo" panose="020B0604030504040204" pitchFamily="50" charset="-128"/>
              </a:rPr>
              <a:t>(IMFSourceReader, IMFTransform) </a:t>
            </a:r>
            <a:r>
              <a:rPr kumimoji="1" lang="ja-JP" altLang="en-US" sz="1300" b="1">
                <a:solidFill>
                  <a:srgbClr val="F8FAFC"/>
                </a:solidFill>
                <a:latin typeface="Meiryo" panose="020B0604030504040204" pitchFamily="50" charset="-128"/>
              </a:rPr>
              <a:t>をカプセル化。
・</a:t>
            </a:r>
            <a:r>
              <a:rPr kumimoji="1" lang="en-US" altLang="ja-JP" sz="1300" b="1">
                <a:solidFill>
                  <a:srgbClr val="F8FAFC"/>
                </a:solidFill>
                <a:latin typeface="Meiryo" panose="020B0604030504040204" pitchFamily="50" charset="-128"/>
              </a:rPr>
              <a:t>ComInitializer: </a:t>
            </a:r>
            <a:r>
              <a:rPr kumimoji="1" lang="ja-JP" altLang="en-US" sz="1300" b="1">
                <a:solidFill>
                  <a:srgbClr val="F8FAFC"/>
                </a:solidFill>
                <a:latin typeface="Meiryo" panose="020B0604030504040204" pitchFamily="50" charset="-128"/>
              </a:rPr>
              <a:t>プロセス全体での </a:t>
            </a:r>
            <a:r>
              <a:rPr kumimoji="1" lang="en-US" altLang="ja-JP" sz="1300" b="1">
                <a:solidFill>
                  <a:srgbClr val="F8FAFC"/>
                </a:solidFill>
                <a:latin typeface="Meiryo" panose="020B0604030504040204" pitchFamily="50" charset="-128"/>
              </a:rPr>
              <a:t>COM/MF </a:t>
            </a:r>
            <a:r>
              <a:rPr kumimoji="1" lang="ja-JP" altLang="en-US" sz="1300" b="1">
                <a:solidFill>
                  <a:srgbClr val="F8FAFC"/>
                </a:solidFill>
                <a:latin typeface="Meiryo" panose="020B0604030504040204" pitchFamily="50" charset="-128"/>
              </a:rPr>
              <a:t>初期化を行うシングルトン。</a:t>
            </a:r>
          </a:p>
        </p:txBody>
      </p:sp>
    </p:spTree>
    <p:extLst>
      <p:ext uri="{BB962C8B-B14F-4D97-AF65-F5344CB8AC3E}">
        <p14:creationId xmlns:p14="http://schemas.microsoft.com/office/powerpoint/2010/main" val="158542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EF1D82A-5A39-D2F9-CB2D-BB6E1D7F6292}"/>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2: MEDIA FOUNDATION (CAMMF)</a:t>
            </a:r>
            <a:r>
              <a:rPr kumimoji="1" lang="ja-JP" altLang="en-US" sz="2400" b="1">
                <a:solidFill>
                  <a:srgbClr val="38BDF8"/>
                </a:solidFill>
                <a:latin typeface="Meiryo" panose="020B0604030504040204" pitchFamily="50" charset="-128"/>
              </a:rPr>
              <a:t>
ライフサイクル管理</a:t>
            </a:r>
            <a:r>
              <a:rPr kumimoji="1" lang="en-US" altLang="ja-JP" sz="2400" b="1">
                <a:solidFill>
                  <a:srgbClr val="38BDF8"/>
                </a:solidFill>
                <a:latin typeface="Meiryo" panose="020B0604030504040204" pitchFamily="50" charset="-128"/>
              </a:rPr>
              <a:t>: ComInitializer </a:t>
            </a:r>
            <a:r>
              <a:rPr kumimoji="1" lang="ja-JP" altLang="en-US" sz="2400" b="1">
                <a:solidFill>
                  <a:srgbClr val="38BDF8"/>
                </a:solidFill>
                <a:latin typeface="Meiryo" panose="020B0604030504040204" pitchFamily="50" charset="-128"/>
              </a:rPr>
              <a:t>シングルトン</a:t>
            </a:r>
          </a:p>
        </p:txBody>
      </p:sp>
      <p:sp>
        <p:nvSpPr>
          <p:cNvPr id="3" name="正方形/長方形 2">
            <a:extLst>
              <a:ext uri="{FF2B5EF4-FFF2-40B4-BE49-F238E27FC236}">
                <a16:creationId xmlns:a16="http://schemas.microsoft.com/office/drawing/2014/main" id="{F4395954-C30D-06A4-686A-FCEC330EFF98}"/>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初期化シーケンス </a:t>
            </a:r>
            <a:r>
              <a:rPr kumimoji="1" lang="en-US" altLang="ja-JP" sz="1600" b="1">
                <a:solidFill>
                  <a:srgbClr val="38BDF8"/>
                </a:solidFill>
                <a:latin typeface="Meiryo" panose="020B0604030504040204" pitchFamily="50" charset="-128"/>
              </a:rPr>
              <a:t>(initialize)</a:t>
            </a:r>
            <a:r>
              <a:rPr kumimoji="1" lang="en-US" altLang="ja-JP" sz="1300" b="1">
                <a:solidFill>
                  <a:srgbClr val="F8FAFC"/>
                </a:solidFill>
                <a:latin typeface="Meiryo" panose="020B0604030504040204" pitchFamily="50" charset="-128"/>
              </a:rPr>
              <a:t>
1. CoInitializeEx(nullptr, COINIT_MULTITHREADED): </a:t>
            </a:r>
            <a:r>
              <a:rPr kumimoji="1" lang="ja-JP" altLang="en-US" sz="1300" b="1">
                <a:solidFill>
                  <a:srgbClr val="F8FAFC"/>
                </a:solidFill>
                <a:latin typeface="Meiryo" panose="020B0604030504040204" pitchFamily="50" charset="-128"/>
              </a:rPr>
              <a:t>マルチスレッド </a:t>
            </a:r>
            <a:r>
              <a:rPr kumimoji="1" lang="en-US" altLang="ja-JP" sz="1300" b="1">
                <a:solidFill>
                  <a:srgbClr val="F8FAFC"/>
                </a:solidFill>
                <a:latin typeface="Meiryo" panose="020B0604030504040204" pitchFamily="50" charset="-128"/>
              </a:rPr>
              <a:t>COM </a:t>
            </a:r>
            <a:r>
              <a:rPr kumimoji="1" lang="ja-JP" altLang="en-US" sz="1300" b="1">
                <a:solidFill>
                  <a:srgbClr val="F8FAFC"/>
                </a:solidFill>
                <a:latin typeface="Meiryo" panose="020B0604030504040204" pitchFamily="50" charset="-128"/>
              </a:rPr>
              <a:t>初期化
</a:t>
            </a:r>
            <a:r>
              <a:rPr kumimoji="1" lang="en-US" altLang="ja-JP" sz="1300" b="1">
                <a:solidFill>
                  <a:srgbClr val="F8FAFC"/>
                </a:solidFill>
                <a:latin typeface="Meiryo" panose="020B0604030504040204" pitchFamily="50" charset="-128"/>
              </a:rPr>
              <a:t>2. MFStartup(MF_VERSION, MFSTARTUP_FULL): Media Foundation </a:t>
            </a:r>
            <a:r>
              <a:rPr kumimoji="1" lang="ja-JP" altLang="en-US" sz="1300" b="1">
                <a:solidFill>
                  <a:srgbClr val="F8FAFC"/>
                </a:solidFill>
                <a:latin typeface="Meiryo" panose="020B0604030504040204" pitchFamily="50" charset="-128"/>
              </a:rPr>
              <a:t>起動
</a:t>
            </a:r>
            <a:r>
              <a:rPr kumimoji="1" lang="en-US" altLang="ja-JP" sz="1300" b="1">
                <a:solidFill>
                  <a:srgbClr val="F8FAFC"/>
                </a:solidFill>
                <a:latin typeface="Meiryo" panose="020B0604030504040204" pitchFamily="50" charset="-128"/>
              </a:rPr>
              <a:t>3. MFCreateAttributes </a:t>
            </a:r>
            <a:r>
              <a:rPr kumimoji="1" lang="ja-JP" altLang="en-US" sz="1300" b="1">
                <a:solidFill>
                  <a:srgbClr val="F8FAFC"/>
                </a:solidFill>
                <a:latin typeface="Meiryo" panose="020B0604030504040204" pitchFamily="50" charset="-128"/>
              </a:rPr>
              <a:t>＋ </a:t>
            </a:r>
            <a:r>
              <a:rPr kumimoji="1" lang="en-US" altLang="ja-JP" sz="1300" b="1">
                <a:solidFill>
                  <a:srgbClr val="F8FAFC"/>
                </a:solidFill>
                <a:latin typeface="Meiryo" panose="020B0604030504040204" pitchFamily="50" charset="-128"/>
              </a:rPr>
              <a:t>MF_DEVSOURCE_ATTRIBUTE_SOURCE_TYPE_VIDCAP_GUID
4. MFEnumDeviceSources </a:t>
            </a:r>
            <a:r>
              <a:rPr kumimoji="1" lang="ja-JP" altLang="en-US" sz="1300" b="1">
                <a:solidFill>
                  <a:srgbClr val="F8FAFC"/>
                </a:solidFill>
                <a:latin typeface="Meiryo" panose="020B0604030504040204" pitchFamily="50" charset="-128"/>
              </a:rPr>
              <a:t>でカメラ一覧を取得</a:t>
            </a:r>
          </a:p>
        </p:txBody>
      </p:sp>
      <p:sp>
        <p:nvSpPr>
          <p:cNvPr id="4" name="正方形/長方形 3">
            <a:extLst>
              <a:ext uri="{FF2B5EF4-FFF2-40B4-BE49-F238E27FC236}">
                <a16:creationId xmlns:a16="http://schemas.microsoft.com/office/drawing/2014/main" id="{D20DC0EA-B656-02E9-1524-B096EE6C3ABC}"/>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4D399"/>
                </a:solidFill>
                <a:latin typeface="Meiryo" panose="020B0604030504040204" pitchFamily="50" charset="-128"/>
              </a:rPr>
              <a:t>RAII </a:t>
            </a:r>
            <a:r>
              <a:rPr kumimoji="1" lang="ja-JP" altLang="en-US" sz="1600" b="1">
                <a:solidFill>
                  <a:srgbClr val="34D399"/>
                </a:solidFill>
                <a:latin typeface="Meiryo" panose="020B0604030504040204" pitchFamily="50" charset="-128"/>
              </a:rPr>
              <a:t>による確実な終了処理 </a:t>
            </a:r>
            <a:r>
              <a:rPr kumimoji="1" lang="en-US" altLang="ja-JP" sz="1600" b="1">
                <a:solidFill>
                  <a:srgbClr val="34D399"/>
                </a:solidFill>
                <a:latin typeface="Meiryo" panose="020B0604030504040204" pitchFamily="50" charset="-128"/>
              </a:rPr>
              <a:t>(~ComInitializer)</a:t>
            </a:r>
            <a:r>
              <a:rPr kumimoji="1" lang="en-US" altLang="ja-JP" sz="1300" b="1">
                <a:solidFill>
                  <a:srgbClr val="F8FAFC"/>
                </a:solidFill>
                <a:latin typeface="Meiryo" panose="020B0604030504040204" pitchFamily="50" charset="-128"/>
              </a:rPr>
              <a:t>
1. SafeRelease </a:t>
            </a:r>
            <a:r>
              <a:rPr kumimoji="1" lang="ja-JP" altLang="en-US" sz="1300" b="1">
                <a:solidFill>
                  <a:srgbClr val="F8FAFC"/>
                </a:solidFill>
                <a:latin typeface="Meiryo" panose="020B0604030504040204" pitchFamily="50" charset="-128"/>
              </a:rPr>
              <a:t>で全メディアソースを解放
</a:t>
            </a:r>
            <a:r>
              <a:rPr kumimoji="1" lang="en-US" altLang="ja-JP" sz="1300" b="1">
                <a:solidFill>
                  <a:srgbClr val="F8FAFC"/>
                </a:solidFill>
                <a:latin typeface="Meiryo" panose="020B0604030504040204" pitchFamily="50" charset="-128"/>
              </a:rPr>
              <a:t>2. CoTaskMemFree(ppSourceActivate)
3. MFShutdown()
4. CoUninitialize()
→ </a:t>
            </a:r>
            <a:r>
              <a:rPr kumimoji="1" lang="ja-JP" altLang="en-US" sz="1300" b="1">
                <a:solidFill>
                  <a:srgbClr val="F8FAFC"/>
                </a:solidFill>
                <a:latin typeface="Meiryo" panose="020B0604030504040204" pitchFamily="50" charset="-128"/>
              </a:rPr>
              <a:t>プロセス終了時にリソースリークを一切残さない完全な </a:t>
            </a:r>
            <a:r>
              <a:rPr kumimoji="1" lang="en-US" altLang="ja-JP" sz="1300" b="1">
                <a:solidFill>
                  <a:srgbClr val="F8FAFC"/>
                </a:solidFill>
                <a:latin typeface="Meiryo" panose="020B0604030504040204" pitchFamily="50" charset="-128"/>
              </a:rPr>
              <a:t>RAII </a:t>
            </a:r>
            <a:r>
              <a:rPr kumimoji="1" lang="ja-JP" altLang="en-US" sz="1300" b="1">
                <a:solidFill>
                  <a:srgbClr val="F8FAFC"/>
                </a:solidFill>
                <a:latin typeface="Meiryo" panose="020B0604030504040204" pitchFamily="50" charset="-128"/>
              </a:rPr>
              <a:t>設計。</a:t>
            </a:r>
          </a:p>
        </p:txBody>
      </p:sp>
    </p:spTree>
    <p:extLst>
      <p:ext uri="{BB962C8B-B14F-4D97-AF65-F5344CB8AC3E}">
        <p14:creationId xmlns:p14="http://schemas.microsoft.com/office/powerpoint/2010/main" val="802825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F1FE547-2CB7-48EC-9C01-956C29AC4555}"/>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2: MEDIA FOUNDATION (CAMMF)</a:t>
            </a:r>
            <a:r>
              <a:rPr kumimoji="1" lang="ja-JP" altLang="en-US" sz="2400" b="1">
                <a:solidFill>
                  <a:srgbClr val="38BDF8"/>
                </a:solidFill>
                <a:latin typeface="Meiryo" panose="020B0604030504040204" pitchFamily="50" charset="-128"/>
              </a:rPr>
              <a:t>
フォーマット列挙と遅延初期化 </a:t>
            </a:r>
            <a:r>
              <a:rPr kumimoji="1" lang="en-US" altLang="ja-JP" sz="2400" b="1">
                <a:solidFill>
                  <a:srgbClr val="38BDF8"/>
                </a:solidFill>
                <a:latin typeface="Meiryo" panose="020B0604030504040204" pitchFamily="50" charset="-128"/>
              </a:rPr>
              <a:t>(Lazy Init)</a:t>
            </a:r>
            <a:endParaRPr kumimoji="1" lang="ja-JP" altLang="en-US" sz="2400" b="1">
              <a:solidFill>
                <a:srgbClr val="38BDF8"/>
              </a:solidFill>
              <a:latin typeface="Meiryo" panose="020B0604030504040204" pitchFamily="50" charset="-128"/>
            </a:endParaRPr>
          </a:p>
        </p:txBody>
      </p:sp>
      <p:sp>
        <p:nvSpPr>
          <p:cNvPr id="3" name="正方形/長方形 2">
            <a:extLst>
              <a:ext uri="{FF2B5EF4-FFF2-40B4-BE49-F238E27FC236}">
                <a16:creationId xmlns:a16="http://schemas.microsoft.com/office/drawing/2014/main" id="{BDB73BC4-3BFA-D244-8670-4DFBB73F25B0}"/>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高速な列挙</a:t>
            </a:r>
            <a:r>
              <a:rPr kumimoji="1" lang="en-US" altLang="ja-JP" sz="1600" b="1">
                <a:solidFill>
                  <a:srgbClr val="38BDF8"/>
                </a:solidFill>
                <a:latin typeface="Meiryo" panose="020B0604030504040204" pitchFamily="50" charset="-128"/>
              </a:rPr>
              <a:t>: enumerateFormats()</a:t>
            </a:r>
            <a:r>
              <a:rPr kumimoji="1" lang="ja-JP" altLang="en-US" sz="1300" b="1">
                <a:solidFill>
                  <a:srgbClr val="F8FAFC"/>
                </a:solidFill>
                <a:latin typeface="Meiryo" panose="020B0604030504040204" pitchFamily="50" charset="-128"/>
              </a:rPr>
              <a:t>
・カメラを開いた直後は、</a:t>
            </a:r>
            <a:r>
              <a:rPr kumimoji="1" lang="en-US" altLang="ja-JP" sz="1300" b="1">
                <a:solidFill>
                  <a:srgbClr val="F8FAFC"/>
                </a:solidFill>
                <a:latin typeface="Meiryo" panose="020B0604030504040204" pitchFamily="50" charset="-128"/>
              </a:rPr>
              <a:t>Source Reader </a:t>
            </a:r>
            <a:r>
              <a:rPr kumimoji="1" lang="ja-JP" altLang="en-US" sz="1300" b="1">
                <a:solidFill>
                  <a:srgbClr val="F8FAFC"/>
                </a:solidFill>
                <a:latin typeface="Meiryo" panose="020B0604030504040204" pitchFamily="50" charset="-128"/>
              </a:rPr>
              <a:t>からネイティブメディアタイプ </a:t>
            </a:r>
            <a:r>
              <a:rPr kumimoji="1" lang="en-US" altLang="ja-JP" sz="1300" b="1">
                <a:solidFill>
                  <a:srgbClr val="F8FAFC"/>
                </a:solidFill>
                <a:latin typeface="Meiryo" panose="020B0604030504040204" pitchFamily="50" charset="-128"/>
              </a:rPr>
              <a:t>(GetNativeMediaType) </a:t>
            </a:r>
            <a:r>
              <a:rPr kumimoji="1" lang="ja-JP" altLang="en-US" sz="1300" b="1">
                <a:solidFill>
                  <a:srgbClr val="F8FAFC"/>
                </a:solidFill>
                <a:latin typeface="Meiryo" panose="020B0604030504040204" pitchFamily="50" charset="-128"/>
              </a:rPr>
              <a:t>のメタデータのみを走査。
・解像度、</a:t>
            </a:r>
            <a:r>
              <a:rPr kumimoji="1" lang="en-US" altLang="ja-JP" sz="1300" b="1">
                <a:solidFill>
                  <a:srgbClr val="F8FAFC"/>
                </a:solidFill>
                <a:latin typeface="Meiryo" panose="020B0604030504040204" pitchFamily="50" charset="-128"/>
              </a:rPr>
              <a:t>fps</a:t>
            </a:r>
            <a:r>
              <a:rPr kumimoji="1" lang="ja-JP" altLang="en-US" sz="1300" b="1">
                <a:solidFill>
                  <a:srgbClr val="F8FAFC"/>
                </a:solidFill>
                <a:latin typeface="Meiryo" panose="020B0604030504040204" pitchFamily="50" charset="-128"/>
              </a:rPr>
              <a:t>、サブタイプ </a:t>
            </a:r>
            <a:r>
              <a:rPr kumimoji="1" lang="en-US" altLang="ja-JP" sz="1300" b="1">
                <a:solidFill>
                  <a:srgbClr val="F8FAFC"/>
                </a:solidFill>
                <a:latin typeface="Meiryo" panose="020B0604030504040204" pitchFamily="50" charset="-128"/>
              </a:rPr>
              <a:t>(GUID) </a:t>
            </a:r>
            <a:r>
              <a:rPr kumimoji="1" lang="ja-JP" altLang="en-US" sz="1300" b="1">
                <a:solidFill>
                  <a:srgbClr val="F8FAFC"/>
                </a:solidFill>
                <a:latin typeface="Meiryo" panose="020B0604030504040204" pitchFamily="50" charset="-128"/>
              </a:rPr>
              <a:t>を取得し、</a:t>
            </a:r>
            <a:r>
              <a:rPr kumimoji="1" lang="en-US" altLang="ja-JP" sz="1300" b="1">
                <a:solidFill>
                  <a:srgbClr val="F8FAFC"/>
                </a:solidFill>
                <a:latin typeface="Meiryo" panose="020B0604030504040204" pitchFamily="50" charset="-128"/>
              </a:rPr>
              <a:t>UI </a:t>
            </a:r>
            <a:r>
              <a:rPr kumimoji="1" lang="ja-JP" altLang="en-US" sz="1300" b="1">
                <a:solidFill>
                  <a:srgbClr val="F8FAFC"/>
                </a:solidFill>
                <a:latin typeface="Meiryo" panose="020B0604030504040204" pitchFamily="50" charset="-128"/>
              </a:rPr>
              <a:t>用構造体 </a:t>
            </a:r>
            <a:r>
              <a:rPr kumimoji="1" lang="en-US" altLang="ja-JP" sz="1300" b="1">
                <a:solidFill>
                  <a:srgbClr val="F8FAFC"/>
                </a:solidFill>
                <a:latin typeface="Meiryo" panose="020B0604030504040204" pitchFamily="50" charset="-128"/>
              </a:rPr>
              <a:t>formatList </a:t>
            </a:r>
            <a:r>
              <a:rPr kumimoji="1" lang="ja-JP" altLang="en-US" sz="1300" b="1">
                <a:solidFill>
                  <a:srgbClr val="F8FAFC"/>
                </a:solidFill>
                <a:latin typeface="Meiryo" panose="020B0604030504040204" pitchFamily="50" charset="-128"/>
              </a:rPr>
              <a:t>に格納。
・この段階ではデコーダの作成やバッファ確保を一切行わないため、</a:t>
            </a:r>
            <a:r>
              <a:rPr kumimoji="1" lang="en-US" altLang="ja-JP" sz="1300" b="1">
                <a:solidFill>
                  <a:srgbClr val="F8FAFC"/>
                </a:solidFill>
                <a:latin typeface="Meiryo" panose="020B0604030504040204" pitchFamily="50" charset="-128"/>
              </a:rPr>
              <a:t>UI </a:t>
            </a:r>
            <a:r>
              <a:rPr kumimoji="1" lang="ja-JP" altLang="en-US" sz="1300" b="1">
                <a:solidFill>
                  <a:srgbClr val="F8FAFC"/>
                </a:solidFill>
                <a:latin typeface="Meiryo" panose="020B0604030504040204" pitchFamily="50" charset="-128"/>
              </a:rPr>
              <a:t>が一瞬で起動！</a:t>
            </a:r>
          </a:p>
        </p:txBody>
      </p:sp>
      <p:sp>
        <p:nvSpPr>
          <p:cNvPr id="4" name="正方形/長方形 3">
            <a:extLst>
              <a:ext uri="{FF2B5EF4-FFF2-40B4-BE49-F238E27FC236}">
                <a16:creationId xmlns:a16="http://schemas.microsoft.com/office/drawing/2014/main" id="{ABBAEF97-3ED8-72EC-EFF5-BC53618B37BE}"/>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4D399"/>
                </a:solidFill>
                <a:latin typeface="Meiryo" panose="020B0604030504040204" pitchFamily="50" charset="-128"/>
              </a:rPr>
              <a:t>遅延構築</a:t>
            </a:r>
            <a:r>
              <a:rPr kumimoji="1" lang="en-US" altLang="ja-JP" sz="1600" b="1">
                <a:solidFill>
                  <a:srgbClr val="34D399"/>
                </a:solidFill>
                <a:latin typeface="Meiryo" panose="020B0604030504040204" pitchFamily="50" charset="-128"/>
              </a:rPr>
              <a:t>: setFormat(index)</a:t>
            </a:r>
            <a:r>
              <a:rPr kumimoji="1" lang="ja-JP" altLang="en-US" sz="1300" b="1">
                <a:solidFill>
                  <a:srgbClr val="F8FAFC"/>
                </a:solidFill>
                <a:latin typeface="Meiryo" panose="020B0604030504040204" pitchFamily="50" charset="-128"/>
              </a:rPr>
              <a:t>
・ユーザーが </a:t>
            </a:r>
            <a:r>
              <a:rPr kumimoji="1" lang="en-US" altLang="ja-JP" sz="1300" b="1">
                <a:solidFill>
                  <a:srgbClr val="F8FAFC"/>
                </a:solidFill>
                <a:latin typeface="Meiryo" panose="020B0604030504040204" pitchFamily="50" charset="-128"/>
              </a:rPr>
              <a:t>UI </a:t>
            </a:r>
            <a:r>
              <a:rPr kumimoji="1" lang="ja-JP" altLang="en-US" sz="1300" b="1">
                <a:solidFill>
                  <a:srgbClr val="F8FAFC"/>
                </a:solidFill>
                <a:latin typeface="Meiryo" panose="020B0604030504040204" pitchFamily="50" charset="-128"/>
              </a:rPr>
              <a:t>で明示的にフォーマットを選択した時、またはキャプチャ開始時に初めて呼び出される。
・選択されたフォーマットに応じて </a:t>
            </a:r>
            <a:r>
              <a:rPr kumimoji="1" lang="en-US" altLang="ja-JP" sz="1300" b="1">
                <a:solidFill>
                  <a:srgbClr val="F8FAFC"/>
                </a:solidFill>
                <a:latin typeface="Meiryo" panose="020B0604030504040204" pitchFamily="50" charset="-128"/>
              </a:rPr>
              <a:t>MFT </a:t>
            </a:r>
            <a:r>
              <a:rPr kumimoji="1" lang="ja-JP" altLang="en-US" sz="1300" b="1">
                <a:solidFill>
                  <a:srgbClr val="F8FAFC"/>
                </a:solidFill>
                <a:latin typeface="Meiryo" panose="020B0604030504040204" pitchFamily="50" charset="-128"/>
              </a:rPr>
              <a:t>デコーダとカラーコンバータを生成・接続。</a:t>
            </a:r>
          </a:p>
        </p:txBody>
      </p:sp>
    </p:spTree>
    <p:extLst>
      <p:ext uri="{BB962C8B-B14F-4D97-AF65-F5344CB8AC3E}">
        <p14:creationId xmlns:p14="http://schemas.microsoft.com/office/powerpoint/2010/main" val="4139696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48D8561-4D59-98FC-CCE6-E61996C80387}"/>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2: MEDIA FOUNDATION (CAMMF)</a:t>
            </a:r>
            <a:r>
              <a:rPr kumimoji="1" lang="ja-JP" altLang="en-US" sz="2400" b="1">
                <a:solidFill>
                  <a:srgbClr val="38BDF8"/>
                </a:solidFill>
                <a:latin typeface="Meiryo" panose="020B0604030504040204" pitchFamily="50" charset="-128"/>
              </a:rPr>
              <a:t>
究極の低遅延化</a:t>
            </a:r>
            <a:r>
              <a:rPr kumimoji="1" lang="en-US" altLang="ja-JP" sz="2400" b="1">
                <a:solidFill>
                  <a:srgbClr val="38BDF8"/>
                </a:solidFill>
                <a:latin typeface="Meiryo" panose="020B0604030504040204" pitchFamily="50" charset="-128"/>
              </a:rPr>
              <a:t>: CODECAPI_AVLowLatencyMode</a:t>
            </a:r>
            <a:endParaRPr kumimoji="1" lang="ja-JP" altLang="en-US" sz="2400" b="1">
              <a:solidFill>
                <a:srgbClr val="38BDF8"/>
              </a:solidFill>
              <a:latin typeface="Meiryo" panose="020B0604030504040204" pitchFamily="50" charset="-128"/>
            </a:endParaRPr>
          </a:p>
        </p:txBody>
      </p:sp>
      <p:sp>
        <p:nvSpPr>
          <p:cNvPr id="3" name="正方形/長方形 2">
            <a:extLst>
              <a:ext uri="{FF2B5EF4-FFF2-40B4-BE49-F238E27FC236}">
                <a16:creationId xmlns:a16="http://schemas.microsoft.com/office/drawing/2014/main" id="{7F8AA972-E25E-9327-DB53-9B817D5D9DF1}"/>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8BDF8"/>
                </a:solidFill>
                <a:latin typeface="Meiryo" panose="020B0604030504040204" pitchFamily="50" charset="-128"/>
              </a:rPr>
              <a:t>1. Source Reader </a:t>
            </a:r>
            <a:r>
              <a:rPr kumimoji="1" lang="ja-JP" altLang="en-US" sz="1600" b="1">
                <a:solidFill>
                  <a:srgbClr val="38BDF8"/>
                </a:solidFill>
                <a:latin typeface="Meiryo" panose="020B0604030504040204" pitchFamily="50" charset="-128"/>
              </a:rPr>
              <a:t>属性での要求</a:t>
            </a:r>
            <a:r>
              <a:rPr kumimoji="1" lang="en-US" altLang="ja-JP" sz="1300" b="1">
                <a:solidFill>
                  <a:srgbClr val="F8FAFC"/>
                </a:solidFill>
                <a:latin typeface="Meiryo" panose="020B0604030504040204" pitchFamily="50" charset="-128"/>
              </a:rPr>
              <a:t>
pAttributes-&gt;SetUINT32(MF_LOW_LATENCY, TRUE);
pAttributes-&gt;SetUINT32(MF_READWRITE_ENABLE_HARDWARE_TRANSFORMS, TRUE);
→ </a:t>
            </a:r>
            <a:r>
              <a:rPr kumimoji="1" lang="ja-JP" altLang="en-US" sz="1300" b="1">
                <a:solidFill>
                  <a:srgbClr val="F8FAFC"/>
                </a:solidFill>
                <a:latin typeface="Meiryo" panose="020B0604030504040204" pitchFamily="50" charset="-128"/>
              </a:rPr>
              <a:t>リーダーに対して内部バッファリングを最小化し、ハードウェアアクセラレーションを許可。</a:t>
            </a:r>
          </a:p>
        </p:txBody>
      </p:sp>
      <p:sp>
        <p:nvSpPr>
          <p:cNvPr id="4" name="正方形/長方形 3">
            <a:extLst>
              <a:ext uri="{FF2B5EF4-FFF2-40B4-BE49-F238E27FC236}">
                <a16:creationId xmlns:a16="http://schemas.microsoft.com/office/drawing/2014/main" id="{2B5344DA-D0DC-9444-54B2-749B3AA5270D}"/>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4D399"/>
                </a:solidFill>
                <a:latin typeface="Meiryo" panose="020B0604030504040204" pitchFamily="50" charset="-128"/>
              </a:rPr>
              <a:t>2. MFT </a:t>
            </a:r>
            <a:r>
              <a:rPr kumimoji="1" lang="ja-JP" altLang="en-US" sz="1600" b="1">
                <a:solidFill>
                  <a:srgbClr val="34D399"/>
                </a:solidFill>
                <a:latin typeface="Meiryo" panose="020B0604030504040204" pitchFamily="50" charset="-128"/>
              </a:rPr>
              <a:t>デコーダへの低遅延強制</a:t>
            </a:r>
            <a:r>
              <a:rPr kumimoji="1" lang="en-US" altLang="ja-JP" sz="1300" b="1">
                <a:solidFill>
                  <a:srgbClr val="F8FAFC"/>
                </a:solidFill>
                <a:latin typeface="Meiryo" panose="020B0604030504040204" pitchFamily="50" charset="-128"/>
              </a:rPr>
              <a:t>
ICodecAPI* pCodecAPI{ nullptr };
pDecoder-&gt;QueryInterface(IID_PPV_ARGS(&amp;pCodecAPI));
VARIANT var; VariantInit(&amp;var);
var.vt = VT_UI4; var.ulVal = 1; // Low Latency Mode
pCodecAPI-&gt;SetValue(&amp;CODECAPI_AVLowLatencyMode, &amp;var);
→ </a:t>
            </a:r>
            <a:r>
              <a:rPr kumimoji="1" lang="ja-JP" altLang="en-US" sz="1300" b="1">
                <a:solidFill>
                  <a:srgbClr val="F8FAFC"/>
                </a:solidFill>
                <a:latin typeface="Meiryo" panose="020B0604030504040204" pitchFamily="50" charset="-128"/>
              </a:rPr>
              <a:t>デコーダ内部のフレーム蓄積を禁止し、</a:t>
            </a:r>
            <a:r>
              <a:rPr kumimoji="1" lang="en-US" altLang="ja-JP" sz="1300" b="1">
                <a:solidFill>
                  <a:srgbClr val="F8FAFC"/>
                </a:solidFill>
                <a:latin typeface="Meiryo" panose="020B0604030504040204" pitchFamily="50" charset="-128"/>
              </a:rPr>
              <a:t>1</a:t>
            </a:r>
            <a:r>
              <a:rPr kumimoji="1" lang="ja-JP" altLang="en-US" sz="1300" b="1">
                <a:solidFill>
                  <a:srgbClr val="F8FAFC"/>
                </a:solidFill>
                <a:latin typeface="Meiryo" panose="020B0604030504040204" pitchFamily="50" charset="-128"/>
              </a:rPr>
              <a:t>入力即</a:t>
            </a:r>
            <a:r>
              <a:rPr kumimoji="1" lang="en-US" altLang="ja-JP" sz="1300" b="1">
                <a:solidFill>
                  <a:srgbClr val="F8FAFC"/>
                </a:solidFill>
                <a:latin typeface="Meiryo" panose="020B0604030504040204" pitchFamily="50" charset="-128"/>
              </a:rPr>
              <a:t>1</a:t>
            </a:r>
            <a:r>
              <a:rPr kumimoji="1" lang="ja-JP" altLang="en-US" sz="1300" b="1">
                <a:solidFill>
                  <a:srgbClr val="F8FAFC"/>
                </a:solidFill>
                <a:latin typeface="Meiryo" panose="020B0604030504040204" pitchFamily="50" charset="-128"/>
              </a:rPr>
              <a:t>出力を強制！</a:t>
            </a:r>
          </a:p>
        </p:txBody>
      </p:sp>
    </p:spTree>
    <p:extLst>
      <p:ext uri="{BB962C8B-B14F-4D97-AF65-F5344CB8AC3E}">
        <p14:creationId xmlns:p14="http://schemas.microsoft.com/office/powerpoint/2010/main" val="1491131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831943D-6429-9119-0262-71BB6A771388}"/>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2: MEDIA FOUNDATION (CAMMF)</a:t>
            </a:r>
            <a:r>
              <a:rPr kumimoji="1" lang="ja-JP" altLang="en-US" sz="2400" b="1">
                <a:solidFill>
                  <a:srgbClr val="38BDF8"/>
                </a:solidFill>
                <a:latin typeface="Meiryo" panose="020B0604030504040204" pitchFamily="50" charset="-128"/>
              </a:rPr>
              <a:t>
動的ストリームチェンジ </a:t>
            </a:r>
            <a:r>
              <a:rPr kumimoji="1" lang="en-US" altLang="ja-JP" sz="2400" b="1">
                <a:solidFill>
                  <a:srgbClr val="38BDF8"/>
                </a:solidFill>
                <a:latin typeface="Meiryo" panose="020B0604030504040204" pitchFamily="50" charset="-128"/>
              </a:rPr>
              <a:t>(MF_E_TRANSFORM_STREAM_CHANGE)</a:t>
            </a:r>
            <a:endParaRPr kumimoji="1" lang="ja-JP" altLang="en-US" sz="2400" b="1">
              <a:solidFill>
                <a:srgbClr val="38BDF8"/>
              </a:solidFill>
              <a:latin typeface="Meiryo" panose="020B0604030504040204" pitchFamily="50" charset="-128"/>
            </a:endParaRPr>
          </a:p>
        </p:txBody>
      </p:sp>
      <p:sp>
        <p:nvSpPr>
          <p:cNvPr id="3" name="正方形/長方形 2">
            <a:extLst>
              <a:ext uri="{FF2B5EF4-FFF2-40B4-BE49-F238E27FC236}">
                <a16:creationId xmlns:a16="http://schemas.microsoft.com/office/drawing/2014/main" id="{8446FC50-EEEB-4A11-EAAD-C7792EA7412C}"/>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商用レベル </a:t>
            </a:r>
            <a:r>
              <a:rPr kumimoji="1" lang="en-US" altLang="ja-JP" sz="1600" b="1">
                <a:solidFill>
                  <a:srgbClr val="38BDF8"/>
                </a:solidFill>
                <a:latin typeface="Meiryo" panose="020B0604030504040204" pitchFamily="50" charset="-128"/>
              </a:rPr>
              <a:t>MFT </a:t>
            </a:r>
            <a:r>
              <a:rPr kumimoji="1" lang="ja-JP" altLang="en-US" sz="1600" b="1">
                <a:solidFill>
                  <a:srgbClr val="38BDF8"/>
                </a:solidFill>
                <a:latin typeface="Meiryo" panose="020B0604030504040204" pitchFamily="50" charset="-128"/>
              </a:rPr>
              <a:t>の最重要例外処理</a:t>
            </a:r>
            <a:r>
              <a:rPr kumimoji="1" lang="ja-JP" altLang="en-US" sz="1300" b="1">
                <a:solidFill>
                  <a:srgbClr val="F8FAFC"/>
                </a:solidFill>
                <a:latin typeface="Meiryo" panose="020B0604030504040204" pitchFamily="50" charset="-128"/>
              </a:rPr>
              <a:t>
</a:t>
            </a:r>
            <a:r>
              <a:rPr kumimoji="1" lang="en-US" altLang="ja-JP" sz="1300" b="1">
                <a:solidFill>
                  <a:srgbClr val="F8FAFC"/>
                </a:solidFill>
                <a:latin typeface="Meiryo" panose="020B0604030504040204" pitchFamily="50" charset="-128"/>
              </a:rPr>
              <a:t>MJPG/H.264 </a:t>
            </a:r>
            <a:r>
              <a:rPr kumimoji="1" lang="ja-JP" altLang="en-US" sz="1300" b="1">
                <a:solidFill>
                  <a:srgbClr val="F8FAFC"/>
                </a:solidFill>
                <a:latin typeface="Meiryo" panose="020B0604030504040204" pitchFamily="50" charset="-128"/>
              </a:rPr>
              <a:t>デコーダは、最初のフレームヘッダーを読み込んだ瞬間、</a:t>
            </a:r>
            <a:r>
              <a:rPr kumimoji="1" lang="en-US" altLang="ja-JP" sz="1300" b="1">
                <a:solidFill>
                  <a:srgbClr val="F8FAFC"/>
                </a:solidFill>
                <a:latin typeface="Meiryo" panose="020B0604030504040204" pitchFamily="50" charset="-128"/>
              </a:rPr>
              <a:t>ProcessOutput </a:t>
            </a:r>
            <a:r>
              <a:rPr kumimoji="1" lang="ja-JP" altLang="en-US" sz="1300" b="1">
                <a:solidFill>
                  <a:srgbClr val="F8FAFC"/>
                </a:solidFill>
                <a:latin typeface="Meiryo" panose="020B0604030504040204" pitchFamily="50" charset="-128"/>
              </a:rPr>
              <a:t>が </a:t>
            </a:r>
            <a:r>
              <a:rPr kumimoji="1" lang="en-US" altLang="ja-JP" sz="1300" b="1">
                <a:solidFill>
                  <a:srgbClr val="F8FAFC"/>
                </a:solidFill>
                <a:latin typeface="Meiryo" panose="020B0604030504040204" pitchFamily="50" charset="-128"/>
              </a:rPr>
              <a:t>MF_E_TRANSFORM_STREAM_CHANGE </a:t>
            </a:r>
            <a:r>
              <a:rPr kumimoji="1" lang="ja-JP" altLang="en-US" sz="1300" b="1">
                <a:solidFill>
                  <a:srgbClr val="F8FAFC"/>
                </a:solidFill>
                <a:latin typeface="Meiryo" panose="020B0604030504040204" pitchFamily="50" charset="-128"/>
              </a:rPr>
              <a:t>を返して出力メディアタイプの再設定を要求します。
これに対応しないと映像が一切流れません。</a:t>
            </a:r>
          </a:p>
        </p:txBody>
      </p:sp>
      <p:sp>
        <p:nvSpPr>
          <p:cNvPr id="4" name="正方形/長方形 3">
            <a:extLst>
              <a:ext uri="{FF2B5EF4-FFF2-40B4-BE49-F238E27FC236}">
                <a16:creationId xmlns:a16="http://schemas.microsoft.com/office/drawing/2014/main" id="{608FD44D-32A1-3E01-A926-ED1B0D45E765}"/>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4D399"/>
                </a:solidFill>
                <a:latin typeface="Meiryo" panose="020B0604030504040204" pitchFamily="50" charset="-128"/>
              </a:rPr>
              <a:t>CamMf </a:t>
            </a:r>
            <a:r>
              <a:rPr kumimoji="1" lang="ja-JP" altLang="en-US" sz="1600" b="1">
                <a:solidFill>
                  <a:srgbClr val="34D399"/>
                </a:solidFill>
                <a:latin typeface="Meiryo" panose="020B0604030504040204" pitchFamily="50" charset="-128"/>
              </a:rPr>
              <a:t>での対応手順 </a:t>
            </a:r>
            <a:r>
              <a:rPr kumimoji="1" lang="en-US" altLang="ja-JP" sz="1600" b="1">
                <a:solidFill>
                  <a:srgbClr val="34D399"/>
                </a:solidFill>
                <a:latin typeface="Meiryo" panose="020B0604030504040204" pitchFamily="50" charset="-128"/>
              </a:rPr>
              <a:t>(CamMf.cpp L818-L980)</a:t>
            </a:r>
            <a:r>
              <a:rPr kumimoji="1" lang="ja-JP" altLang="en-US" sz="1300" b="1">
                <a:solidFill>
                  <a:srgbClr val="F8FAFC"/>
                </a:solidFill>
                <a:latin typeface="Meiryo" panose="020B0604030504040204" pitchFamily="50" charset="-128"/>
              </a:rPr>
              <a:t>
</a:t>
            </a:r>
            <a:r>
              <a:rPr kumimoji="1" lang="en-US" altLang="ja-JP" sz="1300" b="1">
                <a:solidFill>
                  <a:srgbClr val="F8FAFC"/>
                </a:solidFill>
                <a:latin typeface="Meiryo" panose="020B0604030504040204" pitchFamily="50" charset="-128"/>
              </a:rPr>
              <a:t>1. </a:t>
            </a:r>
            <a:r>
              <a:rPr kumimoji="1" lang="ja-JP" altLang="en-US" sz="1300" b="1">
                <a:solidFill>
                  <a:srgbClr val="F8FAFC"/>
                </a:solidFill>
                <a:latin typeface="Meiryo" panose="020B0604030504040204" pitchFamily="50" charset="-128"/>
              </a:rPr>
              <a:t>デコーダの利用可能な出力タイプから </a:t>
            </a:r>
            <a:r>
              <a:rPr kumimoji="1" lang="en-US" altLang="ja-JP" sz="1300" b="1">
                <a:solidFill>
                  <a:srgbClr val="F8FAFC"/>
                </a:solidFill>
                <a:latin typeface="Meiryo" panose="020B0604030504040204" pitchFamily="50" charset="-128"/>
              </a:rPr>
              <a:t>NV12 </a:t>
            </a:r>
            <a:r>
              <a:rPr kumimoji="1" lang="ja-JP" altLang="en-US" sz="1300" b="1">
                <a:solidFill>
                  <a:srgbClr val="F8FAFC"/>
                </a:solidFill>
                <a:latin typeface="Meiryo" panose="020B0604030504040204" pitchFamily="50" charset="-128"/>
              </a:rPr>
              <a:t>を再検索
</a:t>
            </a:r>
            <a:r>
              <a:rPr kumimoji="1" lang="en-US" altLang="ja-JP" sz="1300" b="1">
                <a:solidFill>
                  <a:srgbClr val="F8FAFC"/>
                </a:solidFill>
                <a:latin typeface="Meiryo" panose="020B0604030504040204" pitchFamily="50" charset="-128"/>
              </a:rPr>
              <a:t>2. </a:t>
            </a:r>
            <a:r>
              <a:rPr kumimoji="1" lang="ja-JP" altLang="en-US" sz="1300" b="1">
                <a:solidFill>
                  <a:srgbClr val="F8FAFC"/>
                </a:solidFill>
                <a:latin typeface="Meiryo" panose="020B0604030504040204" pitchFamily="50" charset="-128"/>
              </a:rPr>
              <a:t>入力解像度・アスペクト比を出力タイプへコピー
</a:t>
            </a:r>
            <a:r>
              <a:rPr kumimoji="1" lang="en-US" altLang="ja-JP" sz="1300" b="1">
                <a:solidFill>
                  <a:srgbClr val="F8FAFC"/>
                </a:solidFill>
                <a:latin typeface="Meiryo" panose="020B0604030504040204" pitchFamily="50" charset="-128"/>
              </a:rPr>
              <a:t>3. pDecoder-&gt;SetOutputType </a:t>
            </a:r>
            <a:r>
              <a:rPr kumimoji="1" lang="ja-JP" altLang="en-US" sz="1300" b="1">
                <a:solidFill>
                  <a:srgbClr val="F8FAFC"/>
                </a:solidFill>
                <a:latin typeface="Meiryo" panose="020B0604030504040204" pitchFamily="50" charset="-128"/>
              </a:rPr>
              <a:t>で新タイプを確定
</a:t>
            </a:r>
            <a:r>
              <a:rPr kumimoji="1" lang="en-US" altLang="ja-JP" sz="1300" b="1">
                <a:solidFill>
                  <a:srgbClr val="F8FAFC"/>
                </a:solidFill>
                <a:latin typeface="Meiryo" panose="020B0604030504040204" pitchFamily="50" charset="-128"/>
              </a:rPr>
              <a:t>4. createDecoderBuffer() </a:t>
            </a:r>
            <a:r>
              <a:rPr kumimoji="1" lang="ja-JP" altLang="en-US" sz="1300" b="1">
                <a:solidFill>
                  <a:srgbClr val="F8FAFC"/>
                </a:solidFill>
                <a:latin typeface="Meiryo" panose="020B0604030504040204" pitchFamily="50" charset="-128"/>
              </a:rPr>
              <a:t>で </a:t>
            </a:r>
            <a:r>
              <a:rPr kumimoji="1" lang="en-US" altLang="ja-JP" sz="1300" b="1">
                <a:solidFill>
                  <a:srgbClr val="F8FAFC"/>
                </a:solidFill>
                <a:latin typeface="Meiryo" panose="020B0604030504040204" pitchFamily="50" charset="-128"/>
              </a:rPr>
              <a:t>64B </a:t>
            </a:r>
            <a:r>
              <a:rPr kumimoji="1" lang="ja-JP" altLang="en-US" sz="1300" b="1">
                <a:solidFill>
                  <a:srgbClr val="F8FAFC"/>
                </a:solidFill>
                <a:latin typeface="Meiryo" panose="020B0604030504040204" pitchFamily="50" charset="-128"/>
              </a:rPr>
              <a:t>アラインバッファを再作成
</a:t>
            </a:r>
            <a:r>
              <a:rPr kumimoji="1" lang="en-US" altLang="ja-JP" sz="1300" b="1">
                <a:solidFill>
                  <a:srgbClr val="F8FAFC"/>
                </a:solidFill>
                <a:latin typeface="Meiryo" panose="020B0604030504040204" pitchFamily="50" charset="-128"/>
              </a:rPr>
              <a:t>5. </a:t>
            </a:r>
            <a:r>
              <a:rPr kumimoji="1" lang="ja-JP" altLang="en-US" sz="1300" b="1">
                <a:solidFill>
                  <a:srgbClr val="F8FAFC"/>
                </a:solidFill>
                <a:latin typeface="Meiryo" panose="020B0604030504040204" pitchFamily="50" charset="-128"/>
              </a:rPr>
              <a:t>後段のカラーコンバータを再セットアップして </a:t>
            </a:r>
            <a:r>
              <a:rPr kumimoji="1" lang="en-US" altLang="ja-JP" sz="1300" b="1">
                <a:solidFill>
                  <a:srgbClr val="F8FAFC"/>
                </a:solidFill>
                <a:latin typeface="Meiryo" panose="020B0604030504040204" pitchFamily="50" charset="-128"/>
              </a:rPr>
              <a:t>ProcessOutput </a:t>
            </a:r>
            <a:r>
              <a:rPr kumimoji="1" lang="ja-JP" altLang="en-US" sz="1300" b="1">
                <a:solidFill>
                  <a:srgbClr val="F8FAFC"/>
                </a:solidFill>
                <a:latin typeface="Meiryo" panose="020B0604030504040204" pitchFamily="50" charset="-128"/>
              </a:rPr>
              <a:t>再試行</a:t>
            </a:r>
          </a:p>
        </p:txBody>
      </p:sp>
    </p:spTree>
    <p:extLst>
      <p:ext uri="{BB962C8B-B14F-4D97-AF65-F5344CB8AC3E}">
        <p14:creationId xmlns:p14="http://schemas.microsoft.com/office/powerpoint/2010/main" val="28363595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611B55A-0CEC-4DD3-1C5D-7DBFB9CCB3B7}"/>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2: MEDIA FOUNDATION (CAMMF)</a:t>
            </a:r>
            <a:r>
              <a:rPr kumimoji="1" lang="ja-JP" altLang="en-US" sz="2400" b="1">
                <a:solidFill>
                  <a:srgbClr val="38BDF8"/>
                </a:solidFill>
                <a:latin typeface="Meiryo" panose="020B0604030504040204" pitchFamily="50" charset="-128"/>
              </a:rPr>
              <a:t>
高速化の要</a:t>
            </a:r>
            <a:r>
              <a:rPr kumimoji="1" lang="en-US" altLang="ja-JP" sz="2400" b="1">
                <a:solidFill>
                  <a:srgbClr val="38BDF8"/>
                </a:solidFill>
                <a:latin typeface="Meiryo" panose="020B0604030504040204" pitchFamily="50" charset="-128"/>
              </a:rPr>
              <a:t>: 64</a:t>
            </a:r>
            <a:r>
              <a:rPr kumimoji="1" lang="ja-JP" altLang="en-US" sz="2400" b="1">
                <a:solidFill>
                  <a:srgbClr val="38BDF8"/>
                </a:solidFill>
                <a:latin typeface="Meiryo" panose="020B0604030504040204" pitchFamily="50" charset="-128"/>
              </a:rPr>
              <a:t>バイトアラインメントバッファ</a:t>
            </a:r>
          </a:p>
        </p:txBody>
      </p:sp>
      <p:sp>
        <p:nvSpPr>
          <p:cNvPr id="3" name="正方形/長方形 2">
            <a:extLst>
              <a:ext uri="{FF2B5EF4-FFF2-40B4-BE49-F238E27FC236}">
                <a16:creationId xmlns:a16="http://schemas.microsoft.com/office/drawing/2014/main" id="{6811F0FC-3DE6-C116-DCFF-BB6DC58C3894}"/>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8BDF8"/>
                </a:solidFill>
                <a:latin typeface="Meiryo" panose="020B0604030504040204" pitchFamily="50" charset="-128"/>
              </a:rPr>
              <a:t>createDecoderBuffer / createConverterBuffer</a:t>
            </a:r>
            <a:r>
              <a:rPr kumimoji="1" lang="en-US" altLang="ja-JP" sz="1300" b="1">
                <a:solidFill>
                  <a:srgbClr val="F8FAFC"/>
                </a:solidFill>
                <a:latin typeface="Meiryo" panose="020B0604030504040204" pitchFamily="50" charset="-128"/>
              </a:rPr>
              <a:t>
const auto alignedWidth  = (width + 15) &amp; ~15;
const auto alignedHeight = (height + 15) &amp; ~15;
const auto cbDecoderCalc = (alignedWidth * alignedHeight * 3) / 2;
const auto alignment = (streamInfo.cbAlignment &gt; 0) ? (streamInfo.cbAlignment - 1) : 63;
// 64 </a:t>
            </a:r>
            <a:r>
              <a:rPr kumimoji="1" lang="ja-JP" altLang="en-US" sz="1300" b="1">
                <a:solidFill>
                  <a:srgbClr val="F8FAFC"/>
                </a:solidFill>
                <a:latin typeface="Meiryo" panose="020B0604030504040204" pitchFamily="50" charset="-128"/>
              </a:rPr>
              <a:t>バイト境界に整列されたバッファを作成
</a:t>
            </a:r>
            <a:r>
              <a:rPr kumimoji="1" lang="en-US" altLang="ja-JP" sz="1300" b="1">
                <a:solidFill>
                  <a:srgbClr val="F8FAFC"/>
                </a:solidFill>
                <a:latin typeface="Meiryo" panose="020B0604030504040204" pitchFamily="50" charset="-128"/>
              </a:rPr>
              <a:t>MFCreateAlignedMemoryBuffer(cbDecoder, alignment, &amp;pDecoderBuffer);</a:t>
            </a:r>
            <a:endParaRPr kumimoji="1" lang="ja-JP" altLang="en-US" sz="1300" b="1">
              <a:solidFill>
                <a:srgbClr val="F8FAFC"/>
              </a:solidFill>
              <a:latin typeface="Meiryo" panose="020B0604030504040204" pitchFamily="50" charset="-128"/>
            </a:endParaRPr>
          </a:p>
        </p:txBody>
      </p:sp>
      <p:sp>
        <p:nvSpPr>
          <p:cNvPr id="4" name="正方形/長方形 3">
            <a:extLst>
              <a:ext uri="{FF2B5EF4-FFF2-40B4-BE49-F238E27FC236}">
                <a16:creationId xmlns:a16="http://schemas.microsoft.com/office/drawing/2014/main" id="{1313D51C-85BE-BB60-5B53-816E321344B4}"/>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4D399"/>
                </a:solidFill>
                <a:latin typeface="Meiryo" panose="020B0604030504040204" pitchFamily="50" charset="-128"/>
              </a:rPr>
              <a:t>なぜアラインメントが必要なのか？</a:t>
            </a:r>
            <a:r>
              <a:rPr kumimoji="1" lang="ja-JP" altLang="en-US" sz="1300" b="1">
                <a:solidFill>
                  <a:srgbClr val="F8FAFC"/>
                </a:solidFill>
                <a:latin typeface="Meiryo" panose="020B0604030504040204" pitchFamily="50" charset="-128"/>
              </a:rPr>
              <a:t>
ハードウェアデコーダや </a:t>
            </a:r>
            <a:r>
              <a:rPr kumimoji="1" lang="en-US" altLang="ja-JP" sz="1300" b="1">
                <a:solidFill>
                  <a:srgbClr val="F8FAFC"/>
                </a:solidFill>
                <a:latin typeface="Meiryo" panose="020B0604030504040204" pitchFamily="50" charset="-128"/>
              </a:rPr>
              <a:t>MFT </a:t>
            </a:r>
            <a:r>
              <a:rPr kumimoji="1" lang="ja-JP" altLang="en-US" sz="1300" b="1">
                <a:solidFill>
                  <a:srgbClr val="F8FAFC"/>
                </a:solidFill>
                <a:latin typeface="Meiryo" panose="020B0604030504040204" pitchFamily="50" charset="-128"/>
              </a:rPr>
              <a:t>カラーコンバータは内部で </a:t>
            </a:r>
            <a:r>
              <a:rPr kumimoji="1" lang="en-US" altLang="ja-JP" sz="1300" b="1">
                <a:solidFill>
                  <a:srgbClr val="F8FAFC"/>
                </a:solidFill>
                <a:latin typeface="Meiryo" panose="020B0604030504040204" pitchFamily="50" charset="-128"/>
              </a:rPr>
              <a:t>AVX2 / SSE4 </a:t>
            </a:r>
            <a:r>
              <a:rPr kumimoji="1" lang="ja-JP" altLang="en-US" sz="1300" b="1">
                <a:solidFill>
                  <a:srgbClr val="F8FAFC"/>
                </a:solidFill>
                <a:latin typeface="Meiryo" panose="020B0604030504040204" pitchFamily="50" charset="-128"/>
              </a:rPr>
              <a:t>などの </a:t>
            </a:r>
            <a:r>
              <a:rPr kumimoji="1" lang="en-US" altLang="ja-JP" sz="1300" b="1">
                <a:solidFill>
                  <a:srgbClr val="F8FAFC"/>
                </a:solidFill>
                <a:latin typeface="Meiryo" panose="020B0604030504040204" pitchFamily="50" charset="-128"/>
              </a:rPr>
              <a:t>SIMD </a:t>
            </a:r>
            <a:r>
              <a:rPr kumimoji="1" lang="ja-JP" altLang="en-US" sz="1300" b="1">
                <a:solidFill>
                  <a:srgbClr val="F8FAFC"/>
                </a:solidFill>
                <a:latin typeface="Meiryo" panose="020B0604030504040204" pitchFamily="50" charset="-128"/>
              </a:rPr>
              <a:t>命令を駆使します。
メモリが </a:t>
            </a:r>
            <a:r>
              <a:rPr kumimoji="1" lang="en-US" altLang="ja-JP" sz="1300" b="1">
                <a:solidFill>
                  <a:srgbClr val="F8FAFC"/>
                </a:solidFill>
                <a:latin typeface="Meiryo" panose="020B0604030504040204" pitchFamily="50" charset="-128"/>
              </a:rPr>
              <a:t>64 </a:t>
            </a:r>
            <a:r>
              <a:rPr kumimoji="1" lang="ja-JP" altLang="en-US" sz="1300" b="1">
                <a:solidFill>
                  <a:srgbClr val="F8FAFC"/>
                </a:solidFill>
                <a:latin typeface="Meiryo" panose="020B0604030504040204" pitchFamily="50" charset="-128"/>
              </a:rPr>
              <a:t>バイト境界に整列されていない場合、非整列アクセス例外や大幅な速度低下を招きます。</a:t>
            </a:r>
          </a:p>
        </p:txBody>
      </p:sp>
    </p:spTree>
    <p:extLst>
      <p:ext uri="{BB962C8B-B14F-4D97-AF65-F5344CB8AC3E}">
        <p14:creationId xmlns:p14="http://schemas.microsoft.com/office/powerpoint/2010/main" val="1693222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D3C882D-B793-2835-0AE9-9205EB353652}"/>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2: MEDIA FOUNDATION (CAMMF)</a:t>
            </a:r>
            <a:r>
              <a:rPr kumimoji="1" lang="ja-JP" altLang="en-US" sz="2400" b="1">
                <a:solidFill>
                  <a:srgbClr val="38BDF8"/>
                </a:solidFill>
                <a:latin typeface="Meiryo" panose="020B0604030504040204" pitchFamily="50" charset="-128"/>
              </a:rPr>
              <a:t>
キャプチャスレッドループ </a:t>
            </a:r>
            <a:r>
              <a:rPr kumimoji="1" lang="en-US" altLang="ja-JP" sz="2400" b="1">
                <a:solidFill>
                  <a:srgbClr val="38BDF8"/>
                </a:solidFill>
                <a:latin typeface="Meiryo" panose="020B0604030504040204" pitchFamily="50" charset="-128"/>
              </a:rPr>
              <a:t>(CamMf::capture)</a:t>
            </a:r>
            <a:endParaRPr kumimoji="1" lang="ja-JP" altLang="en-US" sz="2400" b="1">
              <a:solidFill>
                <a:srgbClr val="38BDF8"/>
              </a:solidFill>
              <a:latin typeface="Meiryo" panose="020B0604030504040204" pitchFamily="50" charset="-128"/>
            </a:endParaRPr>
          </a:p>
        </p:txBody>
      </p:sp>
      <p:sp>
        <p:nvSpPr>
          <p:cNvPr id="3" name="正方形/長方形 2">
            <a:extLst>
              <a:ext uri="{FF2B5EF4-FFF2-40B4-BE49-F238E27FC236}">
                <a16:creationId xmlns:a16="http://schemas.microsoft.com/office/drawing/2014/main" id="{03FB5D4F-E577-54DA-4AF0-B915FD656501}"/>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スレッドループの基本ステップ</a:t>
            </a:r>
            <a:r>
              <a:rPr kumimoji="1" lang="en-US" altLang="ja-JP" sz="1300" b="1">
                <a:solidFill>
                  <a:srgbClr val="F8FAFC"/>
                </a:solidFill>
                <a:latin typeface="Meiryo" panose="020B0604030504040204" pitchFamily="50" charset="-128"/>
              </a:rPr>
              <a:t>
1. ReadSample </a:t>
            </a:r>
            <a:r>
              <a:rPr kumimoji="1" lang="ja-JP" altLang="en-US" sz="1300" b="1">
                <a:solidFill>
                  <a:srgbClr val="F8FAFC"/>
                </a:solidFill>
                <a:latin typeface="Meiryo" panose="020B0604030504040204" pitchFamily="50" charset="-128"/>
              </a:rPr>
              <a:t>でサンプルを取得
</a:t>
            </a:r>
            <a:r>
              <a:rPr kumimoji="1" lang="en-US" altLang="ja-JP" sz="1300" b="1">
                <a:solidFill>
                  <a:srgbClr val="F8FAFC"/>
                </a:solidFill>
                <a:latin typeface="Meiryo" panose="020B0604030504040204" pitchFamily="50" charset="-128"/>
              </a:rPr>
              <a:t>2. pDecoder-&gt;ProcessInput / ProcessOutput (MJPG/H264 </a:t>
            </a:r>
            <a:r>
              <a:rPr kumimoji="1" lang="ja-JP" altLang="en-US" sz="1300" b="1">
                <a:solidFill>
                  <a:srgbClr val="F8FAFC"/>
                </a:solidFill>
                <a:latin typeface="Meiryo" panose="020B0604030504040204" pitchFamily="50" charset="-128"/>
              </a:rPr>
              <a:t>の場合</a:t>
            </a:r>
            <a:r>
              <a:rPr kumimoji="1" lang="en-US" altLang="ja-JP" sz="1300" b="1">
                <a:solidFill>
                  <a:srgbClr val="F8FAFC"/>
                </a:solidFill>
                <a:latin typeface="Meiryo" panose="020B0604030504040204" pitchFamily="50" charset="-128"/>
              </a:rPr>
              <a:t>)
3. pConverter-&gt;ProcessInput / ProcessOutput (RGB32 </a:t>
            </a:r>
            <a:r>
              <a:rPr kumimoji="1" lang="ja-JP" altLang="en-US" sz="1300" b="1">
                <a:solidFill>
                  <a:srgbClr val="F8FAFC"/>
                </a:solidFill>
                <a:latin typeface="Meiryo" panose="020B0604030504040204" pitchFamily="50" charset="-128"/>
              </a:rPr>
              <a:t>へ変換</a:t>
            </a:r>
            <a:r>
              <a:rPr kumimoji="1" lang="en-US" altLang="ja-JP" sz="1300" b="1">
                <a:solidFill>
                  <a:srgbClr val="F8FAFC"/>
                </a:solidFill>
                <a:latin typeface="Meiryo" panose="020B0604030504040204" pitchFamily="50" charset="-128"/>
              </a:rPr>
              <a:t>)
4. </a:t>
            </a:r>
            <a:r>
              <a:rPr kumimoji="1" lang="ja-JP" altLang="en-US" sz="1300" b="1">
                <a:solidFill>
                  <a:srgbClr val="F8FAFC"/>
                </a:solidFill>
                <a:latin typeface="Meiryo" panose="020B0604030504040204" pitchFamily="50" charset="-128"/>
              </a:rPr>
              <a:t>メディアバッファを </a:t>
            </a:r>
            <a:r>
              <a:rPr kumimoji="1" lang="en-US" altLang="ja-JP" sz="1300" b="1">
                <a:solidFill>
                  <a:srgbClr val="F8FAFC"/>
                </a:solidFill>
                <a:latin typeface="Meiryo" panose="020B0604030504040204" pitchFamily="50" charset="-128"/>
              </a:rPr>
              <a:t>Lock() </a:t>
            </a:r>
            <a:r>
              <a:rPr kumimoji="1" lang="ja-JP" altLang="en-US" sz="1300" b="1">
                <a:solidFill>
                  <a:srgbClr val="F8FAFC"/>
                </a:solidFill>
                <a:latin typeface="Meiryo" panose="020B0604030504040204" pitchFamily="50" charset="-128"/>
              </a:rPr>
              <a:t>して </a:t>
            </a:r>
            <a:r>
              <a:rPr kumimoji="1" lang="en-US" altLang="ja-JP" sz="1300" b="1">
                <a:solidFill>
                  <a:srgbClr val="F8FAFC"/>
                </a:solidFill>
                <a:latin typeface="Meiryo" panose="020B0604030504040204" pitchFamily="50" charset="-128"/>
              </a:rPr>
              <a:t>CPU </a:t>
            </a:r>
            <a:r>
              <a:rPr kumimoji="1" lang="ja-JP" altLang="en-US" sz="1300" b="1">
                <a:solidFill>
                  <a:srgbClr val="F8FAFC"/>
                </a:solidFill>
                <a:latin typeface="Meiryo" panose="020B0604030504040204" pitchFamily="50" charset="-128"/>
              </a:rPr>
              <a:t>メモリへ </a:t>
            </a:r>
            <a:r>
              <a:rPr kumimoji="1" lang="en-US" altLang="ja-JP" sz="1300" b="1">
                <a:solidFill>
                  <a:srgbClr val="F8FAFC"/>
                </a:solidFill>
                <a:latin typeface="Meiryo" panose="020B0604030504040204" pitchFamily="50" charset="-128"/>
              </a:rPr>
              <a:t>memcpy
5. captured = true </a:t>
            </a:r>
            <a:r>
              <a:rPr kumimoji="1" lang="ja-JP" altLang="en-US" sz="1300" b="1">
                <a:solidFill>
                  <a:srgbClr val="F8FAFC"/>
                </a:solidFill>
                <a:latin typeface="Meiryo" panose="020B0604030504040204" pitchFamily="50" charset="-128"/>
              </a:rPr>
              <a:t>を立てて通知</a:t>
            </a:r>
          </a:p>
        </p:txBody>
      </p:sp>
      <p:sp>
        <p:nvSpPr>
          <p:cNvPr id="4" name="正方形/長方形 3">
            <a:extLst>
              <a:ext uri="{FF2B5EF4-FFF2-40B4-BE49-F238E27FC236}">
                <a16:creationId xmlns:a16="http://schemas.microsoft.com/office/drawing/2014/main" id="{E78D14A3-2784-1963-9D98-102AD9EBEFA1}"/>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4D399"/>
                </a:solidFill>
                <a:latin typeface="Meiryo" panose="020B0604030504040204" pitchFamily="50" charset="-128"/>
              </a:rPr>
              <a:t>動作モードの切り替え</a:t>
            </a:r>
            <a:r>
              <a:rPr kumimoji="1" lang="ja-JP" altLang="en-US" sz="1300" b="1">
                <a:solidFill>
                  <a:srgbClr val="F8FAFC"/>
                </a:solidFill>
                <a:latin typeface="Meiryo" panose="020B0604030504040204" pitchFamily="50" charset="-128"/>
              </a:rPr>
              <a:t>
・低遅延優先 </a:t>
            </a:r>
            <a:r>
              <a:rPr kumimoji="1" lang="en-US" altLang="ja-JP" sz="1300" b="1">
                <a:solidFill>
                  <a:srgbClr val="F8FAFC"/>
                </a:solidFill>
                <a:latin typeface="Meiryo" panose="020B0604030504040204" pitchFamily="50" charset="-128"/>
              </a:rPr>
              <a:t>(prioritizeLatency == true):
  </a:t>
            </a:r>
            <a:r>
              <a:rPr kumimoji="1" lang="ja-JP" altLang="en-US" sz="1300" b="1">
                <a:solidFill>
                  <a:srgbClr val="F8FAFC"/>
                </a:solidFill>
                <a:latin typeface="Meiryo" panose="020B0604030504040204" pitchFamily="50" charset="-128"/>
              </a:rPr>
              <a:t>デコーダバッファに溜まった古いフレームを捨て、常に最新フレームのみを採用。
・全フレーム処理 </a:t>
            </a:r>
            <a:r>
              <a:rPr kumimoji="1" lang="en-US" altLang="ja-JP" sz="1300" b="1">
                <a:solidFill>
                  <a:srgbClr val="F8FAFC"/>
                </a:solidFill>
                <a:latin typeface="Meiryo" panose="020B0604030504040204" pitchFamily="50" charset="-128"/>
              </a:rPr>
              <a:t>(prioritizeLatency == false):
  </a:t>
            </a:r>
            <a:r>
              <a:rPr kumimoji="1" lang="ja-JP" altLang="en-US" sz="1300" b="1">
                <a:solidFill>
                  <a:srgbClr val="F8FAFC"/>
                </a:solidFill>
                <a:latin typeface="Meiryo" panose="020B0604030504040204" pitchFamily="50" charset="-128"/>
              </a:rPr>
              <a:t>メインスレッドが前フレームを消費するまで </a:t>
            </a:r>
            <a:r>
              <a:rPr kumimoji="1" lang="en-US" altLang="ja-JP" sz="1300" b="1">
                <a:solidFill>
                  <a:srgbClr val="F8FAFC"/>
                </a:solidFill>
                <a:latin typeface="Meiryo" panose="020B0604030504040204" pitchFamily="50" charset="-128"/>
              </a:rPr>
              <a:t>std::this_thread::yield() </a:t>
            </a:r>
            <a:r>
              <a:rPr kumimoji="1" lang="ja-JP" altLang="en-US" sz="1300" b="1">
                <a:solidFill>
                  <a:srgbClr val="F8FAFC"/>
                </a:solidFill>
                <a:latin typeface="Meiryo" panose="020B0604030504040204" pitchFamily="50" charset="-128"/>
              </a:rPr>
              <a:t>で待機。</a:t>
            </a:r>
          </a:p>
        </p:txBody>
      </p:sp>
    </p:spTree>
    <p:extLst>
      <p:ext uri="{BB962C8B-B14F-4D97-AF65-F5344CB8AC3E}">
        <p14:creationId xmlns:p14="http://schemas.microsoft.com/office/powerpoint/2010/main" val="1425873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AF4A6DA-06D4-156D-10CA-B639CFE1DBE0}"/>
              </a:ext>
            </a:extLst>
          </p:cNvPr>
          <p:cNvSpPr txBox="1"/>
          <p:nvPr/>
        </p:nvSpPr>
        <p:spPr>
          <a:xfrm>
            <a:off x="1016000" y="2032000"/>
            <a:ext cx="10160000" cy="2123658"/>
          </a:xfrm>
          <a:prstGeom prst="rect">
            <a:avLst/>
          </a:prstGeom>
          <a:noFill/>
        </p:spPr>
        <p:txBody>
          <a:bodyPr vert="horz" wrap="square" rtlCol="0">
            <a:spAutoFit/>
          </a:bodyPr>
          <a:lstStyle/>
          <a:p>
            <a:pPr algn="ctr"/>
            <a:r>
              <a:rPr kumimoji="1" lang="en-US" altLang="ja-JP" sz="1600" b="1">
                <a:solidFill>
                  <a:srgbClr val="34D399"/>
                </a:solidFill>
                <a:latin typeface="Meiryo" panose="020B0604030504040204" pitchFamily="50" charset="-128"/>
              </a:rPr>
              <a:t>Part 3</a:t>
            </a:r>
            <a:r>
              <a:rPr kumimoji="1" lang="ja-JP" altLang="en-US" sz="3400" b="1">
                <a:solidFill>
                  <a:srgbClr val="F8FAFC"/>
                </a:solidFill>
                <a:latin typeface="Meiryo" panose="020B0604030504040204" pitchFamily="50" charset="-128"/>
              </a:rPr>
              <a:t>
</a:t>
            </a:r>
            <a:r>
              <a:rPr kumimoji="1" lang="en-US" altLang="ja-JP" sz="3400" b="1">
                <a:solidFill>
                  <a:srgbClr val="F8FAFC"/>
                </a:solidFill>
                <a:latin typeface="Meiryo" panose="020B0604030504040204" pitchFamily="50" charset="-128"/>
              </a:rPr>
              <a:t>libcamera </a:t>
            </a:r>
            <a:r>
              <a:rPr kumimoji="1" lang="ja-JP" altLang="en-US" sz="3400" b="1">
                <a:solidFill>
                  <a:srgbClr val="F8FAFC"/>
                </a:solidFill>
                <a:latin typeface="Meiryo" panose="020B0604030504040204" pitchFamily="50" charset="-128"/>
              </a:rPr>
              <a:t>を使った
キャプチャクラス </a:t>
            </a:r>
            <a:r>
              <a:rPr kumimoji="1" lang="en-US" altLang="ja-JP" sz="3400" b="1">
                <a:solidFill>
                  <a:srgbClr val="F8FAFC"/>
                </a:solidFill>
                <a:latin typeface="Meiryo" panose="020B0604030504040204" pitchFamily="50" charset="-128"/>
              </a:rPr>
              <a:t>CamLibcam</a:t>
            </a:r>
            <a:r>
              <a:rPr kumimoji="1" lang="ja-JP" altLang="en-US" sz="1500" b="1">
                <a:solidFill>
                  <a:srgbClr val="38BDF8"/>
                </a:solidFill>
                <a:latin typeface="Meiryo" panose="020B0604030504040204" pitchFamily="50" charset="-128"/>
              </a:rPr>
              <a:t>
</a:t>
            </a:r>
            <a:r>
              <a:rPr kumimoji="1" lang="en-US" altLang="ja-JP" sz="1500" b="1">
                <a:solidFill>
                  <a:srgbClr val="38BDF8"/>
                </a:solidFill>
                <a:latin typeface="Meiryo" panose="020B0604030504040204" pitchFamily="50" charset="-128"/>
              </a:rPr>
              <a:t>Linux / Raspberry Pi </a:t>
            </a:r>
            <a:r>
              <a:rPr kumimoji="1" lang="ja-JP" altLang="en-US" sz="1500" b="1">
                <a:solidFill>
                  <a:srgbClr val="38BDF8"/>
                </a:solidFill>
                <a:latin typeface="Meiryo" panose="020B0604030504040204" pitchFamily="50" charset="-128"/>
              </a:rPr>
              <a:t>ネイティブ </a:t>
            </a:r>
            <a:r>
              <a:rPr kumimoji="1" lang="en-US" altLang="ja-JP" sz="1500" b="1">
                <a:solidFill>
                  <a:srgbClr val="38BDF8"/>
                </a:solidFill>
                <a:latin typeface="Meiryo" panose="020B0604030504040204" pitchFamily="50" charset="-128"/>
              </a:rPr>
              <a:t>/ DMA </a:t>
            </a:r>
            <a:r>
              <a:rPr kumimoji="1" lang="ja-JP" altLang="en-US" sz="1500" b="1">
                <a:solidFill>
                  <a:srgbClr val="38BDF8"/>
                </a:solidFill>
                <a:latin typeface="Meiryo" panose="020B0604030504040204" pitchFamily="50" charset="-128"/>
              </a:rPr>
              <a:t>バッファ </a:t>
            </a:r>
            <a:r>
              <a:rPr kumimoji="1" lang="en-US" altLang="ja-JP" sz="1500" b="1">
                <a:solidFill>
                  <a:srgbClr val="38BDF8"/>
                </a:solidFill>
                <a:latin typeface="Meiryo" panose="020B0604030504040204" pitchFamily="50" charset="-128"/>
              </a:rPr>
              <a:t>/ </a:t>
            </a:r>
            <a:r>
              <a:rPr kumimoji="1" lang="ja-JP" altLang="en-US" sz="1500" b="1">
                <a:solidFill>
                  <a:srgbClr val="38BDF8"/>
                </a:solidFill>
                <a:latin typeface="Meiryo" panose="020B0604030504040204" pitchFamily="50" charset="-128"/>
              </a:rPr>
              <a:t>非同期リクエスト</a:t>
            </a:r>
          </a:p>
        </p:txBody>
      </p:sp>
    </p:spTree>
    <p:extLst>
      <p:ext uri="{BB962C8B-B14F-4D97-AF65-F5344CB8AC3E}">
        <p14:creationId xmlns:p14="http://schemas.microsoft.com/office/powerpoint/2010/main" val="2675079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7C7AB64-C4E4-F63E-6A0E-7F21B1756949}"/>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3: LIBCAMERA (CAMLIBCAM)</a:t>
            </a:r>
            <a:r>
              <a:rPr kumimoji="1" lang="ja-JP" altLang="en-US" sz="2400" b="1">
                <a:solidFill>
                  <a:srgbClr val="38BDF8"/>
                </a:solidFill>
                <a:latin typeface="Meiryo" panose="020B0604030504040204" pitchFamily="50" charset="-128"/>
              </a:rPr>
              <a:t>
</a:t>
            </a:r>
            <a:r>
              <a:rPr kumimoji="1" lang="en-US" altLang="ja-JP" sz="2400" b="1">
                <a:solidFill>
                  <a:srgbClr val="38BDF8"/>
                </a:solidFill>
                <a:latin typeface="Meiryo" panose="020B0604030504040204" pitchFamily="50" charset="-128"/>
              </a:rPr>
              <a:t>Linux / Raspberry Pi </a:t>
            </a:r>
            <a:r>
              <a:rPr kumimoji="1" lang="ja-JP" altLang="en-US" sz="2400" b="1">
                <a:solidFill>
                  <a:srgbClr val="38BDF8"/>
                </a:solidFill>
                <a:latin typeface="Meiryo" panose="020B0604030504040204" pitchFamily="50" charset="-128"/>
              </a:rPr>
              <a:t>カメラスタックの変遷</a:t>
            </a:r>
          </a:p>
        </p:txBody>
      </p:sp>
      <p:sp>
        <p:nvSpPr>
          <p:cNvPr id="3" name="正方形/長方形 2">
            <a:extLst>
              <a:ext uri="{FF2B5EF4-FFF2-40B4-BE49-F238E27FC236}">
                <a16:creationId xmlns:a16="http://schemas.microsoft.com/office/drawing/2014/main" id="{70089552-817D-52D3-7A1D-0A7154883708}"/>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世代交代の歴史</a:t>
            </a:r>
            <a:r>
              <a:rPr kumimoji="1" lang="ja-JP" altLang="en-US" sz="1300" b="1">
                <a:solidFill>
                  <a:srgbClr val="F8FAFC"/>
                </a:solidFill>
                <a:latin typeface="Meiryo" panose="020B0604030504040204" pitchFamily="50" charset="-128"/>
              </a:rPr>
              <a:t>
・第</a:t>
            </a:r>
            <a:r>
              <a:rPr kumimoji="1" lang="en-US" altLang="ja-JP" sz="1300" b="1">
                <a:solidFill>
                  <a:srgbClr val="F8FAFC"/>
                </a:solidFill>
                <a:latin typeface="Meiryo" panose="020B0604030504040204" pitchFamily="50" charset="-128"/>
              </a:rPr>
              <a:t>1</a:t>
            </a:r>
            <a:r>
              <a:rPr kumimoji="1" lang="ja-JP" altLang="en-US" sz="1300" b="1">
                <a:solidFill>
                  <a:srgbClr val="F8FAFC"/>
                </a:solidFill>
                <a:latin typeface="Meiryo" panose="020B0604030504040204" pitchFamily="50" charset="-128"/>
              </a:rPr>
              <a:t>世代 </a:t>
            </a:r>
            <a:r>
              <a:rPr kumimoji="1" lang="en-US" altLang="ja-JP" sz="1300" b="1">
                <a:solidFill>
                  <a:srgbClr val="F8FAFC"/>
                </a:solidFill>
                <a:latin typeface="Meiryo" panose="020B0604030504040204" pitchFamily="50" charset="-128"/>
              </a:rPr>
              <a:t>(V4L2): UVC </a:t>
            </a:r>
            <a:r>
              <a:rPr kumimoji="1" lang="ja-JP" altLang="en-US" sz="1300" b="1">
                <a:solidFill>
                  <a:srgbClr val="F8FAFC"/>
                </a:solidFill>
                <a:latin typeface="Meiryo" panose="020B0604030504040204" pitchFamily="50" charset="-128"/>
              </a:rPr>
              <a:t>には良いが、</a:t>
            </a:r>
            <a:r>
              <a:rPr kumimoji="1" lang="en-US" altLang="ja-JP" sz="1300" b="1">
                <a:solidFill>
                  <a:srgbClr val="F8FAFC"/>
                </a:solidFill>
                <a:latin typeface="Meiryo" panose="020B0604030504040204" pitchFamily="50" charset="-128"/>
              </a:rPr>
              <a:t>SoC </a:t>
            </a:r>
            <a:r>
              <a:rPr kumimoji="1" lang="ja-JP" altLang="en-US" sz="1300" b="1">
                <a:solidFill>
                  <a:srgbClr val="F8FAFC"/>
                </a:solidFill>
                <a:latin typeface="Meiryo" panose="020B0604030504040204" pitchFamily="50" charset="-128"/>
              </a:rPr>
              <a:t>ネイティブカメラの複雑な </a:t>
            </a:r>
            <a:r>
              <a:rPr kumimoji="1" lang="en-US" altLang="ja-JP" sz="1300" b="1">
                <a:solidFill>
                  <a:srgbClr val="F8FAFC"/>
                </a:solidFill>
                <a:latin typeface="Meiryo" panose="020B0604030504040204" pitchFamily="50" charset="-128"/>
              </a:rPr>
              <a:t>ISP </a:t>
            </a:r>
            <a:r>
              <a:rPr kumimoji="1" lang="ja-JP" altLang="en-US" sz="1300" b="1">
                <a:solidFill>
                  <a:srgbClr val="F8FAFC"/>
                </a:solidFill>
                <a:latin typeface="Meiryo" panose="020B0604030504040204" pitchFamily="50" charset="-128"/>
              </a:rPr>
              <a:t>制御が標準化されていなかった。
・第</a:t>
            </a:r>
            <a:r>
              <a:rPr kumimoji="1" lang="en-US" altLang="ja-JP" sz="1300" b="1">
                <a:solidFill>
                  <a:srgbClr val="F8FAFC"/>
                </a:solidFill>
                <a:latin typeface="Meiryo" panose="020B0604030504040204" pitchFamily="50" charset="-128"/>
              </a:rPr>
              <a:t>2</a:t>
            </a:r>
            <a:r>
              <a:rPr kumimoji="1" lang="ja-JP" altLang="en-US" sz="1300" b="1">
                <a:solidFill>
                  <a:srgbClr val="F8FAFC"/>
                </a:solidFill>
                <a:latin typeface="Meiryo" panose="020B0604030504040204" pitchFamily="50" charset="-128"/>
              </a:rPr>
              <a:t>世代 </a:t>
            </a:r>
            <a:r>
              <a:rPr kumimoji="1" lang="en-US" altLang="ja-JP" sz="1300" b="1">
                <a:solidFill>
                  <a:srgbClr val="F8FAFC"/>
                </a:solidFill>
                <a:latin typeface="Meiryo" panose="020B0604030504040204" pitchFamily="50" charset="-128"/>
              </a:rPr>
              <a:t>(Raspicam / MMAL): Broadcom GPU </a:t>
            </a:r>
            <a:r>
              <a:rPr kumimoji="1" lang="ja-JP" altLang="en-US" sz="1300" b="1">
                <a:solidFill>
                  <a:srgbClr val="F8FAFC"/>
                </a:solidFill>
                <a:latin typeface="Meiryo" panose="020B0604030504040204" pitchFamily="50" charset="-128"/>
              </a:rPr>
              <a:t>依存の独自 </a:t>
            </a:r>
            <a:r>
              <a:rPr kumimoji="1" lang="en-US" altLang="ja-JP" sz="1300" b="1">
                <a:solidFill>
                  <a:srgbClr val="F8FAFC"/>
                </a:solidFill>
                <a:latin typeface="Meiryo" panose="020B0604030504040204" pitchFamily="50" charset="-128"/>
              </a:rPr>
              <a:t>API</a:t>
            </a:r>
            <a:r>
              <a:rPr kumimoji="1" lang="ja-JP" altLang="en-US" sz="1300" b="1">
                <a:solidFill>
                  <a:srgbClr val="F8FAFC"/>
                </a:solidFill>
                <a:latin typeface="Meiryo" panose="020B0604030504040204" pitchFamily="50" charset="-128"/>
              </a:rPr>
              <a:t>。</a:t>
            </a:r>
            <a:r>
              <a:rPr kumimoji="1" lang="en-US" altLang="ja-JP" sz="1300" b="1">
                <a:solidFill>
                  <a:srgbClr val="F8FAFC"/>
                </a:solidFill>
                <a:latin typeface="Meiryo" panose="020B0604030504040204" pitchFamily="50" charset="-128"/>
              </a:rPr>
              <a:t>Raspberry Pi OS Bookworm </a:t>
            </a:r>
            <a:r>
              <a:rPr kumimoji="1" lang="ja-JP" altLang="en-US" sz="1300" b="1">
                <a:solidFill>
                  <a:srgbClr val="F8FAFC"/>
                </a:solidFill>
                <a:latin typeface="Meiryo" panose="020B0604030504040204" pitchFamily="50" charset="-128"/>
              </a:rPr>
              <a:t>で完全廃止。
・第</a:t>
            </a:r>
            <a:r>
              <a:rPr kumimoji="1" lang="en-US" altLang="ja-JP" sz="1300" b="1">
                <a:solidFill>
                  <a:srgbClr val="F8FAFC"/>
                </a:solidFill>
                <a:latin typeface="Meiryo" panose="020B0604030504040204" pitchFamily="50" charset="-128"/>
              </a:rPr>
              <a:t>3</a:t>
            </a:r>
            <a:r>
              <a:rPr kumimoji="1" lang="ja-JP" altLang="en-US" sz="1300" b="1">
                <a:solidFill>
                  <a:srgbClr val="F8FAFC"/>
                </a:solidFill>
                <a:latin typeface="Meiryo" panose="020B0604030504040204" pitchFamily="50" charset="-128"/>
              </a:rPr>
              <a:t>世代 </a:t>
            </a:r>
            <a:r>
              <a:rPr kumimoji="1" lang="en-US" altLang="ja-JP" sz="1300" b="1">
                <a:solidFill>
                  <a:srgbClr val="F8FAFC"/>
                </a:solidFill>
                <a:latin typeface="Meiryo" panose="020B0604030504040204" pitchFamily="50" charset="-128"/>
              </a:rPr>
              <a:t>(libcamera): Linux </a:t>
            </a:r>
            <a:r>
              <a:rPr kumimoji="1" lang="ja-JP" altLang="en-US" sz="1300" b="1">
                <a:solidFill>
                  <a:srgbClr val="F8FAFC"/>
                </a:solidFill>
                <a:latin typeface="Meiryo" panose="020B0604030504040204" pitchFamily="50" charset="-128"/>
              </a:rPr>
              <a:t>標準のオープンフレームワーク。</a:t>
            </a:r>
            <a:r>
              <a:rPr kumimoji="1" lang="en-US" altLang="ja-JP" sz="1300" b="1">
                <a:solidFill>
                  <a:srgbClr val="F8FAFC"/>
                </a:solidFill>
                <a:latin typeface="Meiryo" panose="020B0604030504040204" pitchFamily="50" charset="-128"/>
              </a:rPr>
              <a:t>C++17 </a:t>
            </a:r>
            <a:r>
              <a:rPr kumimoji="1" lang="ja-JP" altLang="en-US" sz="1300" b="1">
                <a:solidFill>
                  <a:srgbClr val="F8FAFC"/>
                </a:solidFill>
                <a:latin typeface="Meiryo" panose="020B0604030504040204" pitchFamily="50" charset="-128"/>
              </a:rPr>
              <a:t>準拠、オープンな </a:t>
            </a:r>
            <a:r>
              <a:rPr kumimoji="1" lang="en-US" altLang="ja-JP" sz="1300" b="1">
                <a:solidFill>
                  <a:srgbClr val="F8FAFC"/>
                </a:solidFill>
                <a:latin typeface="Meiryo" panose="020B0604030504040204" pitchFamily="50" charset="-128"/>
              </a:rPr>
              <a:t>ISP </a:t>
            </a:r>
            <a:r>
              <a:rPr kumimoji="1" lang="ja-JP" altLang="en-US" sz="1300" b="1">
                <a:solidFill>
                  <a:srgbClr val="F8FAFC"/>
                </a:solidFill>
                <a:latin typeface="Meiryo" panose="020B0604030504040204" pitchFamily="50" charset="-128"/>
              </a:rPr>
              <a:t>制御 </a:t>
            </a:r>
            <a:r>
              <a:rPr kumimoji="1" lang="en-US" altLang="ja-JP" sz="1300" b="1">
                <a:solidFill>
                  <a:srgbClr val="F8FAFC"/>
                </a:solidFill>
                <a:latin typeface="Meiryo" panose="020B0604030504040204" pitchFamily="50" charset="-128"/>
              </a:rPr>
              <a:t>(IPA) </a:t>
            </a:r>
            <a:r>
              <a:rPr kumimoji="1" lang="ja-JP" altLang="en-US" sz="1300" b="1">
                <a:solidFill>
                  <a:srgbClr val="F8FAFC"/>
                </a:solidFill>
                <a:latin typeface="Meiryo" panose="020B0604030504040204" pitchFamily="50" charset="-128"/>
              </a:rPr>
              <a:t>を実現。</a:t>
            </a:r>
          </a:p>
        </p:txBody>
      </p:sp>
      <p:sp>
        <p:nvSpPr>
          <p:cNvPr id="4" name="正方形/長方形 3">
            <a:extLst>
              <a:ext uri="{FF2B5EF4-FFF2-40B4-BE49-F238E27FC236}">
                <a16:creationId xmlns:a16="http://schemas.microsoft.com/office/drawing/2014/main" id="{03C2B87F-50E4-17E8-4646-CB8F1B311C39}"/>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4D399"/>
                </a:solidFill>
                <a:latin typeface="Meiryo" panose="020B0604030504040204" pitchFamily="50" charset="-128"/>
              </a:rPr>
              <a:t>なぜネイティブ </a:t>
            </a:r>
            <a:r>
              <a:rPr kumimoji="1" lang="en-US" altLang="ja-JP" sz="1600" b="1">
                <a:solidFill>
                  <a:srgbClr val="34D399"/>
                </a:solidFill>
                <a:latin typeface="Meiryo" panose="020B0604030504040204" pitchFamily="50" charset="-128"/>
              </a:rPr>
              <a:t>API </a:t>
            </a:r>
            <a:r>
              <a:rPr kumimoji="1" lang="ja-JP" altLang="en-US" sz="1600" b="1">
                <a:solidFill>
                  <a:srgbClr val="34D399"/>
                </a:solidFill>
                <a:latin typeface="Meiryo" panose="020B0604030504040204" pitchFamily="50" charset="-128"/>
              </a:rPr>
              <a:t>なのか？</a:t>
            </a:r>
            <a:r>
              <a:rPr kumimoji="1" lang="ja-JP" altLang="en-US" sz="1300" b="1">
                <a:solidFill>
                  <a:srgbClr val="F8FAFC"/>
                </a:solidFill>
                <a:latin typeface="Meiryo" panose="020B0604030504040204" pitchFamily="50" charset="-128"/>
              </a:rPr>
              <a:t>
</a:t>
            </a:r>
            <a:r>
              <a:rPr kumimoji="1" lang="en-US" altLang="ja-JP" sz="1300" b="1">
                <a:solidFill>
                  <a:srgbClr val="F8FAFC"/>
                </a:solidFill>
                <a:latin typeface="Meiryo" panose="020B0604030504040204" pitchFamily="50" charset="-128"/>
              </a:rPr>
              <a:t>libcamerify </a:t>
            </a:r>
            <a:r>
              <a:rPr kumimoji="1" lang="ja-JP" altLang="en-US" sz="1300" b="1">
                <a:solidFill>
                  <a:srgbClr val="F8FAFC"/>
                </a:solidFill>
                <a:latin typeface="Meiryo" panose="020B0604030504040204" pitchFamily="50" charset="-128"/>
              </a:rPr>
              <a:t>経由の </a:t>
            </a:r>
            <a:r>
              <a:rPr kumimoji="1" lang="en-US" altLang="ja-JP" sz="1300" b="1">
                <a:solidFill>
                  <a:srgbClr val="F8FAFC"/>
                </a:solidFill>
                <a:latin typeface="Meiryo" panose="020B0604030504040204" pitchFamily="50" charset="-128"/>
              </a:rPr>
              <a:t>V4L2 </a:t>
            </a:r>
            <a:r>
              <a:rPr kumimoji="1" lang="ja-JP" altLang="en-US" sz="1300" b="1">
                <a:solidFill>
                  <a:srgbClr val="F8FAFC"/>
                </a:solidFill>
                <a:latin typeface="Meiryo" panose="020B0604030504040204" pitchFamily="50" charset="-128"/>
              </a:rPr>
              <a:t>エミュレーションでは余分なプロセス間コピーやフォーマット変換が挟まり、</a:t>
            </a:r>
            <a:r>
              <a:rPr kumimoji="1" lang="en-US" altLang="ja-JP" sz="1300" b="1">
                <a:solidFill>
                  <a:srgbClr val="F8FAFC"/>
                </a:solidFill>
                <a:latin typeface="Meiryo" panose="020B0604030504040204" pitchFamily="50" charset="-128"/>
              </a:rPr>
              <a:t>30〜50% </a:t>
            </a:r>
            <a:r>
              <a:rPr kumimoji="1" lang="ja-JP" altLang="en-US" sz="1300" b="1">
                <a:solidFill>
                  <a:srgbClr val="F8FAFC"/>
                </a:solidFill>
                <a:latin typeface="Meiryo" panose="020B0604030504040204" pitchFamily="50" charset="-128"/>
              </a:rPr>
              <a:t>の性能低下が生じます。
</a:t>
            </a:r>
            <a:r>
              <a:rPr kumimoji="1" lang="en-US" altLang="ja-JP" sz="1300" b="1">
                <a:solidFill>
                  <a:srgbClr val="F8FAFC"/>
                </a:solidFill>
                <a:latin typeface="Meiryo" panose="020B0604030504040204" pitchFamily="50" charset="-128"/>
              </a:rPr>
              <a:t>CamLibcam </a:t>
            </a:r>
            <a:r>
              <a:rPr kumimoji="1" lang="ja-JP" altLang="en-US" sz="1300" b="1">
                <a:solidFill>
                  <a:srgbClr val="F8FAFC"/>
                </a:solidFill>
                <a:latin typeface="Meiryo" panose="020B0604030504040204" pitchFamily="50" charset="-128"/>
              </a:rPr>
              <a:t>は </a:t>
            </a:r>
            <a:r>
              <a:rPr kumimoji="1" lang="en-US" altLang="ja-JP" sz="1300" b="1">
                <a:solidFill>
                  <a:srgbClr val="F8FAFC"/>
                </a:solidFill>
                <a:latin typeface="Meiryo" panose="020B0604030504040204" pitchFamily="50" charset="-128"/>
              </a:rPr>
              <a:t>libcamera C++ API </a:t>
            </a:r>
            <a:r>
              <a:rPr kumimoji="1" lang="ja-JP" altLang="en-US" sz="1300" b="1">
                <a:solidFill>
                  <a:srgbClr val="F8FAFC"/>
                </a:solidFill>
                <a:latin typeface="Meiryo" panose="020B0604030504040204" pitchFamily="50" charset="-128"/>
              </a:rPr>
              <a:t>をネイティブに叩くことで極限のパフォーマンスを発揮します。</a:t>
            </a:r>
          </a:p>
        </p:txBody>
      </p:sp>
    </p:spTree>
    <p:extLst>
      <p:ext uri="{BB962C8B-B14F-4D97-AF65-F5344CB8AC3E}">
        <p14:creationId xmlns:p14="http://schemas.microsoft.com/office/powerpoint/2010/main" val="2249661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63262B2-01C9-C27D-7DDE-40BEBEE44DE5}"/>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3: LIBCAMERA (CAMLIBCAM)</a:t>
            </a:r>
            <a:r>
              <a:rPr kumimoji="1" lang="ja-JP" altLang="en-US" sz="2400" b="1">
                <a:solidFill>
                  <a:srgbClr val="38BDF8"/>
                </a:solidFill>
                <a:latin typeface="Meiryo" panose="020B0604030504040204" pitchFamily="50" charset="-128"/>
              </a:rPr>
              <a:t>
</a:t>
            </a:r>
            <a:r>
              <a:rPr kumimoji="1" lang="en-US" altLang="ja-JP" sz="2400" b="1">
                <a:solidFill>
                  <a:srgbClr val="38BDF8"/>
                </a:solidFill>
                <a:latin typeface="Meiryo" panose="020B0604030504040204" pitchFamily="50" charset="-128"/>
              </a:rPr>
              <a:t>libcamera </a:t>
            </a:r>
            <a:r>
              <a:rPr kumimoji="1" lang="ja-JP" altLang="en-US" sz="2400" b="1">
                <a:solidFill>
                  <a:srgbClr val="38BDF8"/>
                </a:solidFill>
                <a:latin typeface="Meiryo" panose="020B0604030504040204" pitchFamily="50" charset="-128"/>
              </a:rPr>
              <a:t>の基本オブジェクトと関係性</a:t>
            </a:r>
          </a:p>
        </p:txBody>
      </p:sp>
      <p:sp>
        <p:nvSpPr>
          <p:cNvPr id="3" name="正方形/長方形 2">
            <a:extLst>
              <a:ext uri="{FF2B5EF4-FFF2-40B4-BE49-F238E27FC236}">
                <a16:creationId xmlns:a16="http://schemas.microsoft.com/office/drawing/2014/main" id="{465122B0-7EFA-28B8-6936-6C71052536E5}"/>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主要オブジェクト</a:t>
            </a:r>
            <a:r>
              <a:rPr kumimoji="1" lang="ja-JP" altLang="en-US" sz="1300" b="1">
                <a:solidFill>
                  <a:srgbClr val="F8FAFC"/>
                </a:solidFill>
                <a:latin typeface="Meiryo" panose="020B0604030504040204" pitchFamily="50" charset="-128"/>
              </a:rPr>
              <a:t>
・</a:t>
            </a:r>
            <a:r>
              <a:rPr kumimoji="1" lang="en-US" altLang="ja-JP" sz="1300" b="1">
                <a:solidFill>
                  <a:srgbClr val="F8FAFC"/>
                </a:solidFill>
                <a:latin typeface="Meiryo" panose="020B0604030504040204" pitchFamily="50" charset="-128"/>
              </a:rPr>
              <a:t>CameraManager: </a:t>
            </a:r>
            <a:r>
              <a:rPr kumimoji="1" lang="ja-JP" altLang="en-US" sz="1300" b="1">
                <a:solidFill>
                  <a:srgbClr val="F8FAFC"/>
                </a:solidFill>
                <a:latin typeface="Meiryo" panose="020B0604030504040204" pitchFamily="50" charset="-128"/>
              </a:rPr>
              <a:t>全カメラの監視・列挙（シングルトン）
・</a:t>
            </a:r>
            <a:r>
              <a:rPr kumimoji="1" lang="en-US" altLang="ja-JP" sz="1300" b="1">
                <a:solidFill>
                  <a:srgbClr val="F8FAFC"/>
                </a:solidFill>
                <a:latin typeface="Meiryo" panose="020B0604030504040204" pitchFamily="50" charset="-128"/>
              </a:rPr>
              <a:t>Camera: </a:t>
            </a:r>
            <a:r>
              <a:rPr kumimoji="1" lang="ja-JP" altLang="en-US" sz="1300" b="1">
                <a:solidFill>
                  <a:srgbClr val="F8FAFC"/>
                </a:solidFill>
                <a:latin typeface="Meiryo" panose="020B0604030504040204" pitchFamily="50" charset="-128"/>
              </a:rPr>
              <a:t>個別のカメラデバイス。</a:t>
            </a:r>
            <a:r>
              <a:rPr kumimoji="1" lang="en-US" altLang="ja-JP" sz="1300" b="1">
                <a:solidFill>
                  <a:srgbClr val="F8FAFC"/>
                </a:solidFill>
                <a:latin typeface="Meiryo" panose="020B0604030504040204" pitchFamily="50" charset="-128"/>
              </a:rPr>
              <a:t>acquire() </a:t>
            </a:r>
            <a:r>
              <a:rPr kumimoji="1" lang="ja-JP" altLang="en-US" sz="1300" b="1">
                <a:solidFill>
                  <a:srgbClr val="F8FAFC"/>
                </a:solidFill>
                <a:latin typeface="Meiryo" panose="020B0604030504040204" pitchFamily="50" charset="-128"/>
              </a:rPr>
              <a:t>でロック
・</a:t>
            </a:r>
            <a:r>
              <a:rPr kumimoji="1" lang="en-US" altLang="ja-JP" sz="1300" b="1">
                <a:solidFill>
                  <a:srgbClr val="F8FAFC"/>
                </a:solidFill>
                <a:latin typeface="Meiryo" panose="020B0604030504040204" pitchFamily="50" charset="-128"/>
              </a:rPr>
              <a:t>StreamRole: Viewfinder, VideoRecording, Raw
</a:t>
            </a:r>
            <a:r>
              <a:rPr kumimoji="1" lang="ja-JP" altLang="en-US" sz="1300" b="1">
                <a:solidFill>
                  <a:srgbClr val="F8FAFC"/>
                </a:solidFill>
                <a:latin typeface="Meiryo" panose="020B0604030504040204" pitchFamily="50" charset="-128"/>
              </a:rPr>
              <a:t>・</a:t>
            </a:r>
            <a:r>
              <a:rPr kumimoji="1" lang="en-US" altLang="ja-JP" sz="1300" b="1">
                <a:solidFill>
                  <a:srgbClr val="F8FAFC"/>
                </a:solidFill>
                <a:latin typeface="Meiryo" panose="020B0604030504040204" pitchFamily="50" charset="-128"/>
              </a:rPr>
              <a:t>CameraConfiguration: </a:t>
            </a:r>
            <a:r>
              <a:rPr kumimoji="1" lang="ja-JP" altLang="en-US" sz="1300" b="1">
                <a:solidFill>
                  <a:srgbClr val="F8FAFC"/>
                </a:solidFill>
                <a:latin typeface="Meiryo" panose="020B0604030504040204" pitchFamily="50" charset="-128"/>
              </a:rPr>
              <a:t>パイプライン設定。</a:t>
            </a:r>
            <a:r>
              <a:rPr kumimoji="1" lang="en-US" altLang="ja-JP" sz="1300" b="1">
                <a:solidFill>
                  <a:srgbClr val="F8FAFC"/>
                </a:solidFill>
                <a:latin typeface="Meiryo" panose="020B0604030504040204" pitchFamily="50" charset="-128"/>
              </a:rPr>
              <a:t>validate() </a:t>
            </a:r>
            <a:r>
              <a:rPr kumimoji="1" lang="ja-JP" altLang="en-US" sz="1300" b="1">
                <a:solidFill>
                  <a:srgbClr val="F8FAFC"/>
                </a:solidFill>
                <a:latin typeface="Meiryo" panose="020B0604030504040204" pitchFamily="50" charset="-128"/>
              </a:rPr>
              <a:t>で自動調整
・</a:t>
            </a:r>
            <a:r>
              <a:rPr kumimoji="1" lang="en-US" altLang="ja-JP" sz="1300" b="1">
                <a:solidFill>
                  <a:srgbClr val="F8FAFC"/>
                </a:solidFill>
                <a:latin typeface="Meiryo" panose="020B0604030504040204" pitchFamily="50" charset="-128"/>
              </a:rPr>
              <a:t>FrameBufferAllocator: DMA </a:t>
            </a:r>
            <a:r>
              <a:rPr kumimoji="1" lang="ja-JP" altLang="en-US" sz="1300" b="1">
                <a:solidFill>
                  <a:srgbClr val="F8FAFC"/>
                </a:solidFill>
                <a:latin typeface="Meiryo" panose="020B0604030504040204" pitchFamily="50" charset="-128"/>
              </a:rPr>
              <a:t>バッファの確保
・</a:t>
            </a:r>
            <a:r>
              <a:rPr kumimoji="1" lang="en-US" altLang="ja-JP" sz="1300" b="1">
                <a:solidFill>
                  <a:srgbClr val="F8FAFC"/>
                </a:solidFill>
                <a:latin typeface="Meiryo" panose="020B0604030504040204" pitchFamily="50" charset="-128"/>
              </a:rPr>
              <a:t>Request: </a:t>
            </a:r>
            <a:r>
              <a:rPr kumimoji="1" lang="ja-JP" altLang="en-US" sz="1300" b="1">
                <a:solidFill>
                  <a:srgbClr val="F8FAFC"/>
                </a:solidFill>
                <a:latin typeface="Meiryo" panose="020B0604030504040204" pitchFamily="50" charset="-128"/>
              </a:rPr>
              <a:t>撮影リクエスト。バッファをバインドして投入</a:t>
            </a:r>
          </a:p>
        </p:txBody>
      </p:sp>
      <p:sp>
        <p:nvSpPr>
          <p:cNvPr id="4" name="正方形/長方形 3">
            <a:extLst>
              <a:ext uri="{FF2B5EF4-FFF2-40B4-BE49-F238E27FC236}">
                <a16:creationId xmlns:a16="http://schemas.microsoft.com/office/drawing/2014/main" id="{ED2F239C-63CF-4643-83FA-5A704B19D43E}"/>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4D399"/>
                </a:solidFill>
                <a:latin typeface="Meiryo" panose="020B0604030504040204" pitchFamily="50" charset="-128"/>
              </a:rPr>
              <a:t>非同期リクエスト駆動モデル</a:t>
            </a:r>
            <a:r>
              <a:rPr kumimoji="1" lang="ja-JP" altLang="en-US" sz="1300" b="1">
                <a:solidFill>
                  <a:srgbClr val="F8FAFC"/>
                </a:solidFill>
                <a:latin typeface="Meiryo" panose="020B0604030504040204" pitchFamily="50" charset="-128"/>
              </a:rPr>
              <a:t>
同期的に「画像をくれ」と待つのではなく、事前に確保した複数の </a:t>
            </a:r>
            <a:r>
              <a:rPr kumimoji="1" lang="en-US" altLang="ja-JP" sz="1300" b="1">
                <a:solidFill>
                  <a:srgbClr val="F8FAFC"/>
                </a:solidFill>
                <a:latin typeface="Meiryo" panose="020B0604030504040204" pitchFamily="50" charset="-128"/>
              </a:rPr>
              <a:t>DMA </a:t>
            </a:r>
            <a:r>
              <a:rPr kumimoji="1" lang="ja-JP" altLang="en-US" sz="1300" b="1">
                <a:solidFill>
                  <a:srgbClr val="F8FAFC"/>
                </a:solidFill>
                <a:latin typeface="Meiryo" panose="020B0604030504040204" pitchFamily="50" charset="-128"/>
              </a:rPr>
              <a:t>バッファをリクエストに載せてキューへ投入 </a:t>
            </a:r>
            <a:r>
              <a:rPr kumimoji="1" lang="en-US" altLang="ja-JP" sz="1300" b="1">
                <a:solidFill>
                  <a:srgbClr val="F8FAFC"/>
                </a:solidFill>
                <a:latin typeface="Meiryo" panose="020B0604030504040204" pitchFamily="50" charset="-128"/>
              </a:rPr>
              <a:t>(queueRequest)</a:t>
            </a:r>
            <a:r>
              <a:rPr kumimoji="1" lang="ja-JP" altLang="en-US" sz="1300" b="1">
                <a:solidFill>
                  <a:srgbClr val="F8FAFC"/>
                </a:solidFill>
                <a:latin typeface="Meiryo" panose="020B0604030504040204" pitchFamily="50" charset="-128"/>
              </a:rPr>
              <a:t>。
撮影完了時にシグナル </a:t>
            </a:r>
            <a:r>
              <a:rPr kumimoji="1" lang="en-US" altLang="ja-JP" sz="1300" b="1">
                <a:solidFill>
                  <a:srgbClr val="F8FAFC"/>
                </a:solidFill>
                <a:latin typeface="Meiryo" panose="020B0604030504040204" pitchFamily="50" charset="-128"/>
              </a:rPr>
              <a:t>(requestCompleted) </a:t>
            </a:r>
            <a:r>
              <a:rPr kumimoji="1" lang="ja-JP" altLang="en-US" sz="1300" b="1">
                <a:solidFill>
                  <a:srgbClr val="F8FAFC"/>
                </a:solidFill>
                <a:latin typeface="Meiryo" panose="020B0604030504040204" pitchFamily="50" charset="-128"/>
              </a:rPr>
              <a:t>が発火し、コールバック関数で処理するイベント駆動アーキテクチャ。</a:t>
            </a:r>
          </a:p>
        </p:txBody>
      </p:sp>
    </p:spTree>
    <p:extLst>
      <p:ext uri="{BB962C8B-B14F-4D97-AF65-F5344CB8AC3E}">
        <p14:creationId xmlns:p14="http://schemas.microsoft.com/office/powerpoint/2010/main" val="1209064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EE54893-BC8C-7E8F-86F2-6C76E09BEEF8}"/>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3: LIBCAMERA (CAMLIBCAM)</a:t>
            </a:r>
            <a:r>
              <a:rPr kumimoji="1" lang="ja-JP" altLang="en-US" sz="2400" b="1">
                <a:solidFill>
                  <a:srgbClr val="38BDF8"/>
                </a:solidFill>
                <a:latin typeface="Meiryo" panose="020B0604030504040204" pitchFamily="50" charset="-128"/>
              </a:rPr>
              <a:t>
フォーマット優先順位とゼロコピー最適化</a:t>
            </a:r>
          </a:p>
        </p:txBody>
      </p:sp>
      <p:sp>
        <p:nvSpPr>
          <p:cNvPr id="3" name="正方形/長方形 2">
            <a:extLst>
              <a:ext uri="{FF2B5EF4-FFF2-40B4-BE49-F238E27FC236}">
                <a16:creationId xmlns:a16="http://schemas.microsoft.com/office/drawing/2014/main" id="{C90BBB73-8ACD-89B3-86A7-FFE53B330D41}"/>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優先選択リスト </a:t>
            </a:r>
            <a:r>
              <a:rPr kumimoji="1" lang="en-US" altLang="ja-JP" sz="1600" b="1">
                <a:solidFill>
                  <a:srgbClr val="38BDF8"/>
                </a:solidFill>
                <a:latin typeface="Meiryo" panose="020B0604030504040204" pitchFamily="50" charset="-128"/>
              </a:rPr>
              <a:t>(CamLibcam.cpp)</a:t>
            </a:r>
            <a:r>
              <a:rPr kumimoji="1" lang="en-US" altLang="ja-JP" sz="1300" b="1">
                <a:solidFill>
                  <a:srgbClr val="F8FAFC"/>
                </a:solidFill>
                <a:latin typeface="Meiryo" panose="020B0604030504040204" pitchFamily="50" charset="-128"/>
              </a:rPr>
              <a:t>
const std::vector&lt;libcamera::PixelFormat&gt; preferenceList = {
  libcamera::formats::R8,       // 8-bit </a:t>
            </a:r>
            <a:r>
              <a:rPr kumimoji="1" lang="ja-JP" altLang="en-US" sz="1300" b="1">
                <a:solidFill>
                  <a:srgbClr val="F8FAFC"/>
                </a:solidFill>
                <a:latin typeface="Meiryo" panose="020B0604030504040204" pitchFamily="50" charset="-128"/>
              </a:rPr>
              <a:t>モノクロ </a:t>
            </a:r>
            <a:r>
              <a:rPr kumimoji="1" lang="en-US" altLang="ja-JP" sz="1300" b="1">
                <a:solidFill>
                  <a:srgbClr val="F8FAFC"/>
                </a:solidFill>
                <a:latin typeface="Meiryo" panose="020B0604030504040204" pitchFamily="50" charset="-128"/>
              </a:rPr>
              <a:t>(OV9281 </a:t>
            </a:r>
            <a:r>
              <a:rPr kumimoji="1" lang="ja-JP" altLang="en-US" sz="1300" b="1">
                <a:solidFill>
                  <a:srgbClr val="F8FAFC"/>
                </a:solidFill>
                <a:latin typeface="Meiryo" panose="020B0604030504040204" pitchFamily="50" charset="-128"/>
              </a:rPr>
              <a:t>等</a:t>
            </a:r>
            <a:r>
              <a:rPr kumimoji="1" lang="en-US" altLang="ja-JP" sz="1300" b="1">
                <a:solidFill>
                  <a:srgbClr val="F8FAFC"/>
                </a:solidFill>
                <a:latin typeface="Meiryo" panose="020B0604030504040204" pitchFamily="50" charset="-128"/>
              </a:rPr>
              <a:t>)
  libcamera::formats::XBGR8888, // ★ 4</a:t>
            </a:r>
            <a:r>
              <a:rPr kumimoji="1" lang="ja-JP" altLang="en-US" sz="1300" b="1">
                <a:solidFill>
                  <a:srgbClr val="F8FAFC"/>
                </a:solidFill>
                <a:latin typeface="Meiryo" panose="020B0604030504040204" pitchFamily="50" charset="-128"/>
              </a:rPr>
              <a:t>バイト </a:t>
            </a:r>
            <a:r>
              <a:rPr kumimoji="1" lang="en-US" altLang="ja-JP" sz="1300" b="1">
                <a:solidFill>
                  <a:srgbClr val="F8FAFC"/>
                </a:solidFill>
                <a:latin typeface="Meiryo" panose="020B0604030504040204" pitchFamily="50" charset="-128"/>
              </a:rPr>
              <a:t>BGRA </a:t>
            </a:r>
            <a:r>
              <a:rPr kumimoji="1" lang="ja-JP" altLang="en-US" sz="1300" b="1">
                <a:solidFill>
                  <a:srgbClr val="F8FAFC"/>
                </a:solidFill>
                <a:latin typeface="Meiryo" panose="020B0604030504040204" pitchFamily="50" charset="-128"/>
              </a:rPr>
              <a:t>互換
  </a:t>
            </a:r>
            <a:r>
              <a:rPr kumimoji="1" lang="en-US" altLang="ja-JP" sz="1300" b="1">
                <a:solidFill>
                  <a:srgbClr val="F8FAFC"/>
                </a:solidFill>
                <a:latin typeface="Meiryo" panose="020B0604030504040204" pitchFamily="50" charset="-128"/>
              </a:rPr>
              <a:t>libcamera::formats::BGRX8888,
  libcamera::formats::RGB888,
  libcamera::formats::YUYV,
  libcamera::formats::NV12,
};</a:t>
            </a:r>
            <a:endParaRPr kumimoji="1" lang="ja-JP" altLang="en-US" sz="1300" b="1">
              <a:solidFill>
                <a:srgbClr val="F8FAFC"/>
              </a:solidFill>
              <a:latin typeface="Meiryo" panose="020B0604030504040204" pitchFamily="50" charset="-128"/>
            </a:endParaRPr>
          </a:p>
        </p:txBody>
      </p:sp>
      <p:sp>
        <p:nvSpPr>
          <p:cNvPr id="4" name="正方形/長方形 3">
            <a:extLst>
              <a:ext uri="{FF2B5EF4-FFF2-40B4-BE49-F238E27FC236}">
                <a16:creationId xmlns:a16="http://schemas.microsoft.com/office/drawing/2014/main" id="{3991D0A6-0B19-7093-9DA8-715F8CB0AB3F}"/>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4D399"/>
                </a:solidFill>
                <a:latin typeface="Meiryo" panose="020B0604030504040204" pitchFamily="50" charset="-128"/>
              </a:rPr>
              <a:t>XBGR8888 </a:t>
            </a:r>
            <a:r>
              <a:rPr kumimoji="1" lang="ja-JP" altLang="en-US" sz="1600" b="1">
                <a:solidFill>
                  <a:srgbClr val="34D399"/>
                </a:solidFill>
                <a:latin typeface="Meiryo" panose="020B0604030504040204" pitchFamily="50" charset="-128"/>
              </a:rPr>
              <a:t>の絶大な威力</a:t>
            </a:r>
            <a:r>
              <a:rPr kumimoji="1" lang="ja-JP" altLang="en-US" sz="1300" b="1">
                <a:solidFill>
                  <a:srgbClr val="F8FAFC"/>
                </a:solidFill>
                <a:latin typeface="Meiryo" panose="020B0604030504040204" pitchFamily="50" charset="-128"/>
              </a:rPr>
              <a:t>
カメラハードウェア（</a:t>
            </a:r>
            <a:r>
              <a:rPr kumimoji="1" lang="en-US" altLang="ja-JP" sz="1300" b="1">
                <a:solidFill>
                  <a:srgbClr val="F8FAFC"/>
                </a:solidFill>
                <a:latin typeface="Meiryo" panose="020B0604030504040204" pitchFamily="50" charset="-128"/>
              </a:rPr>
              <a:t>ISP</a:t>
            </a:r>
            <a:r>
              <a:rPr kumimoji="1" lang="ja-JP" altLang="en-US" sz="1300" b="1">
                <a:solidFill>
                  <a:srgbClr val="F8FAFC"/>
                </a:solidFill>
                <a:latin typeface="Meiryo" panose="020B0604030504040204" pitchFamily="50" charset="-128"/>
              </a:rPr>
              <a:t>）が </a:t>
            </a:r>
            <a:r>
              <a:rPr kumimoji="1" lang="en-US" altLang="ja-JP" sz="1300" b="1">
                <a:solidFill>
                  <a:srgbClr val="F8FAFC"/>
                </a:solidFill>
                <a:latin typeface="Meiryo" panose="020B0604030504040204" pitchFamily="50" charset="-128"/>
              </a:rPr>
              <a:t>XBGR8888 </a:t>
            </a:r>
            <a:r>
              <a:rPr kumimoji="1" lang="ja-JP" altLang="en-US" sz="1300" b="1">
                <a:solidFill>
                  <a:srgbClr val="F8FAFC"/>
                </a:solidFill>
                <a:latin typeface="Meiryo" panose="020B0604030504040204" pitchFamily="50" charset="-128"/>
              </a:rPr>
              <a:t>を出力できる場合、内部バッファとメモリ配置が完全に一致するため、ピクセルごとの色変換ループが一切不要！
一括 </a:t>
            </a:r>
            <a:r>
              <a:rPr kumimoji="1" lang="en-US" altLang="ja-JP" sz="1300" b="1">
                <a:solidFill>
                  <a:srgbClr val="F8FAFC"/>
                </a:solidFill>
                <a:latin typeface="Meiryo" panose="020B0604030504040204" pitchFamily="50" charset="-128"/>
              </a:rPr>
              <a:t>std::memcpy </a:t>
            </a:r>
            <a:r>
              <a:rPr kumimoji="1" lang="ja-JP" altLang="en-US" sz="1300" b="1">
                <a:solidFill>
                  <a:srgbClr val="F8FAFC"/>
                </a:solidFill>
                <a:latin typeface="Meiryo" panose="020B0604030504040204" pitchFamily="50" charset="-128"/>
              </a:rPr>
              <a:t>だけで転送が完了し、</a:t>
            </a:r>
            <a:r>
              <a:rPr kumimoji="1" lang="en-US" altLang="ja-JP" sz="1300" b="1">
                <a:solidFill>
                  <a:srgbClr val="F8FAFC"/>
                </a:solidFill>
                <a:latin typeface="Meiryo" panose="020B0604030504040204" pitchFamily="50" charset="-128"/>
              </a:rPr>
              <a:t>CPU </a:t>
            </a:r>
            <a:r>
              <a:rPr kumimoji="1" lang="ja-JP" altLang="en-US" sz="1300" b="1">
                <a:solidFill>
                  <a:srgbClr val="F8FAFC"/>
                </a:solidFill>
                <a:latin typeface="Meiryo" panose="020B0604030504040204" pitchFamily="50" charset="-128"/>
              </a:rPr>
              <a:t>使用率はほぼゼロになります。</a:t>
            </a:r>
          </a:p>
        </p:txBody>
      </p:sp>
    </p:spTree>
    <p:extLst>
      <p:ext uri="{BB962C8B-B14F-4D97-AF65-F5344CB8AC3E}">
        <p14:creationId xmlns:p14="http://schemas.microsoft.com/office/powerpoint/2010/main" val="295198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9AF27A7-9D03-D9D5-93A5-3CD36217108E}"/>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3: LIBCAMERA (CAMLIBCAM)</a:t>
            </a:r>
            <a:r>
              <a:rPr kumimoji="1" lang="ja-JP" altLang="en-US" sz="2400" b="1">
                <a:solidFill>
                  <a:srgbClr val="38BDF8"/>
                </a:solidFill>
                <a:latin typeface="Meiryo" panose="020B0604030504040204" pitchFamily="50" charset="-128"/>
              </a:rPr>
              <a:t>
</a:t>
            </a:r>
            <a:r>
              <a:rPr kumimoji="1" lang="en-US" altLang="ja-JP" sz="2400" b="1">
                <a:solidFill>
                  <a:srgbClr val="38BDF8"/>
                </a:solidFill>
                <a:latin typeface="Meiryo" panose="020B0604030504040204" pitchFamily="50" charset="-128"/>
              </a:rPr>
              <a:t>DMA </a:t>
            </a:r>
            <a:r>
              <a:rPr kumimoji="1" lang="ja-JP" altLang="en-US" sz="2400" b="1">
                <a:solidFill>
                  <a:srgbClr val="38BDF8"/>
                </a:solidFill>
                <a:latin typeface="Meiryo" panose="020B0604030504040204" pitchFamily="50" charset="-128"/>
              </a:rPr>
              <a:t>バッファ確保と </a:t>
            </a:r>
            <a:r>
              <a:rPr kumimoji="1" lang="en-US" altLang="ja-JP" sz="2400" b="1">
                <a:solidFill>
                  <a:srgbClr val="38BDF8"/>
                </a:solidFill>
                <a:latin typeface="Meiryo" panose="020B0604030504040204" pitchFamily="50" charset="-128"/>
              </a:rPr>
              <a:t>mmap </a:t>
            </a:r>
            <a:r>
              <a:rPr kumimoji="1" lang="ja-JP" altLang="en-US" sz="2400" b="1">
                <a:solidFill>
                  <a:srgbClr val="38BDF8"/>
                </a:solidFill>
                <a:latin typeface="Meiryo" panose="020B0604030504040204" pitchFamily="50" charset="-128"/>
              </a:rPr>
              <a:t>マッピング</a:t>
            </a:r>
          </a:p>
        </p:txBody>
      </p:sp>
      <p:sp>
        <p:nvSpPr>
          <p:cNvPr id="3" name="正方形/長方形 2">
            <a:extLst>
              <a:ext uri="{FF2B5EF4-FFF2-40B4-BE49-F238E27FC236}">
                <a16:creationId xmlns:a16="http://schemas.microsoft.com/office/drawing/2014/main" id="{60281CAC-E36F-12BD-C86E-66F68CC15C79}"/>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バッファ割り当てと </a:t>
            </a:r>
            <a:r>
              <a:rPr kumimoji="1" lang="en-US" altLang="ja-JP" sz="1600" b="1">
                <a:solidFill>
                  <a:srgbClr val="38BDF8"/>
                </a:solidFill>
                <a:latin typeface="Meiryo" panose="020B0604030504040204" pitchFamily="50" charset="-128"/>
              </a:rPr>
              <a:t>mmap </a:t>
            </a:r>
            <a:r>
              <a:rPr kumimoji="1" lang="ja-JP" altLang="en-US" sz="1600" b="1">
                <a:solidFill>
                  <a:srgbClr val="38BDF8"/>
                </a:solidFill>
                <a:latin typeface="Meiryo" panose="020B0604030504040204" pitchFamily="50" charset="-128"/>
              </a:rPr>
              <a:t>手順</a:t>
            </a:r>
            <a:r>
              <a:rPr kumimoji="1" lang="en-US" altLang="ja-JP" sz="1300" b="1">
                <a:solidFill>
                  <a:srgbClr val="F8FAFC"/>
                </a:solidFill>
                <a:latin typeface="Meiryo" panose="020B0604030504040204" pitchFamily="50" charset="-128"/>
              </a:rPr>
              <a:t>
1. FrameBufferAllocator </a:t>
            </a:r>
            <a:r>
              <a:rPr kumimoji="1" lang="ja-JP" altLang="en-US" sz="1300" b="1">
                <a:solidFill>
                  <a:srgbClr val="F8FAFC"/>
                </a:solidFill>
                <a:latin typeface="Meiryo" panose="020B0604030504040204" pitchFamily="50" charset="-128"/>
              </a:rPr>
              <a:t>でストリームにバッファを割り当て
</a:t>
            </a:r>
            <a:r>
              <a:rPr kumimoji="1" lang="en-US" altLang="ja-JP" sz="1300" b="1">
                <a:solidFill>
                  <a:srgbClr val="F8FAFC"/>
                </a:solidFill>
                <a:latin typeface="Meiryo" panose="020B0604030504040204" pitchFamily="50" charset="-128"/>
              </a:rPr>
              <a:t>2. </a:t>
            </a:r>
            <a:r>
              <a:rPr kumimoji="1" lang="ja-JP" altLang="en-US" sz="1300" b="1">
                <a:solidFill>
                  <a:srgbClr val="F8FAFC"/>
                </a:solidFill>
                <a:latin typeface="Meiryo" panose="020B0604030504040204" pitchFamily="50" charset="-128"/>
              </a:rPr>
              <a:t>各バッファプレーンのファイル記述子 </a:t>
            </a:r>
            <a:r>
              <a:rPr kumimoji="1" lang="en-US" altLang="ja-JP" sz="1300" b="1">
                <a:solidFill>
                  <a:srgbClr val="F8FAFC"/>
                </a:solidFill>
                <a:latin typeface="Meiryo" panose="020B0604030504040204" pitchFamily="50" charset="-128"/>
              </a:rPr>
              <a:t>(plane.fd) </a:t>
            </a:r>
            <a:r>
              <a:rPr kumimoji="1" lang="ja-JP" altLang="en-US" sz="1300" b="1">
                <a:solidFill>
                  <a:srgbClr val="F8FAFC"/>
                </a:solidFill>
                <a:latin typeface="Meiryo" panose="020B0604030504040204" pitchFamily="50" charset="-128"/>
              </a:rPr>
              <a:t>から </a:t>
            </a:r>
            <a:r>
              <a:rPr kumimoji="1" lang="en-US" altLang="ja-JP" sz="1300" b="1">
                <a:solidFill>
                  <a:srgbClr val="F8FAFC"/>
                </a:solidFill>
                <a:latin typeface="Meiryo" panose="020B0604030504040204" pitchFamily="50" charset="-128"/>
              </a:rPr>
              <a:t>::mmap </a:t>
            </a:r>
            <a:r>
              <a:rPr kumimoji="1" lang="ja-JP" altLang="en-US" sz="1300" b="1">
                <a:solidFill>
                  <a:srgbClr val="F8FAFC"/>
                </a:solidFill>
                <a:latin typeface="Meiryo" panose="020B0604030504040204" pitchFamily="50" charset="-128"/>
              </a:rPr>
              <a:t>を実行</a:t>
            </a:r>
            <a:r>
              <a:rPr kumimoji="1" lang="en-US" altLang="ja-JP" sz="1300" b="1">
                <a:solidFill>
                  <a:srgbClr val="F8FAFC"/>
                </a:solidFill>
                <a:latin typeface="Meiryo" panose="020B0604030504040204" pitchFamily="50" charset="-128"/>
              </a:rPr>
              <a:t>:
   void* memory = ::mmap(NULL, plane.length, PROT_READ, MAP_SHARED, plane.fd.get(), plane.offset);
3. </a:t>
            </a:r>
            <a:r>
              <a:rPr kumimoji="1" lang="ja-JP" altLang="en-US" sz="1300" b="1">
                <a:solidFill>
                  <a:srgbClr val="F8FAFC"/>
                </a:solidFill>
                <a:latin typeface="Meiryo" panose="020B0604030504040204" pitchFamily="50" charset="-128"/>
              </a:rPr>
              <a:t>マッピングしたアドレスを </a:t>
            </a:r>
            <a:r>
              <a:rPr kumimoji="1" lang="en-US" altLang="ja-JP" sz="1300" b="1">
                <a:solidFill>
                  <a:srgbClr val="F8FAFC"/>
                </a:solidFill>
                <a:latin typeface="Meiryo" panose="020B0604030504040204" pitchFamily="50" charset="-128"/>
              </a:rPr>
              <a:t>mappedBuffers </a:t>
            </a:r>
            <a:r>
              <a:rPr kumimoji="1" lang="ja-JP" altLang="en-US" sz="1300" b="1">
                <a:solidFill>
                  <a:srgbClr val="F8FAFC"/>
                </a:solidFill>
                <a:latin typeface="Meiryo" panose="020B0604030504040204" pitchFamily="50" charset="-128"/>
              </a:rPr>
              <a:t>に保持
</a:t>
            </a:r>
            <a:r>
              <a:rPr kumimoji="1" lang="en-US" altLang="ja-JP" sz="1300" b="1">
                <a:solidFill>
                  <a:srgbClr val="F8FAFC"/>
                </a:solidFill>
                <a:latin typeface="Meiryo" panose="020B0604030504040204" pitchFamily="50" charset="-128"/>
              </a:rPr>
              <a:t>4. camera-&gt;createRequest() </a:t>
            </a:r>
            <a:r>
              <a:rPr kumimoji="1" lang="ja-JP" altLang="en-US" sz="1300" b="1">
                <a:solidFill>
                  <a:srgbClr val="F8FAFC"/>
                </a:solidFill>
                <a:latin typeface="Meiryo" panose="020B0604030504040204" pitchFamily="50" charset="-128"/>
              </a:rPr>
              <a:t>にバッファを追加してリクエスト生成</a:t>
            </a:r>
          </a:p>
        </p:txBody>
      </p:sp>
      <p:sp>
        <p:nvSpPr>
          <p:cNvPr id="4" name="正方形/長方形 3">
            <a:extLst>
              <a:ext uri="{FF2B5EF4-FFF2-40B4-BE49-F238E27FC236}">
                <a16:creationId xmlns:a16="http://schemas.microsoft.com/office/drawing/2014/main" id="{DBCE7552-694E-010E-82CD-724C117FED35}"/>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4D399"/>
                </a:solidFill>
                <a:latin typeface="Meiryo" panose="020B0604030504040204" pitchFamily="50" charset="-128"/>
              </a:rPr>
              <a:t>カーネル </a:t>
            </a:r>
            <a:r>
              <a:rPr kumimoji="1" lang="en-US" altLang="ja-JP" sz="1600" b="1">
                <a:solidFill>
                  <a:srgbClr val="34D399"/>
                </a:solidFill>
                <a:latin typeface="Meiryo" panose="020B0604030504040204" pitchFamily="50" charset="-128"/>
              </a:rPr>
              <a:t>DMA </a:t>
            </a:r>
            <a:r>
              <a:rPr kumimoji="1" lang="ja-JP" altLang="en-US" sz="1600" b="1">
                <a:solidFill>
                  <a:srgbClr val="34D399"/>
                </a:solidFill>
                <a:latin typeface="Meiryo" panose="020B0604030504040204" pitchFamily="50" charset="-128"/>
              </a:rPr>
              <a:t>直結のメリット</a:t>
            </a:r>
            <a:r>
              <a:rPr kumimoji="1" lang="ja-JP" altLang="en-US" sz="1300" b="1">
                <a:solidFill>
                  <a:srgbClr val="F8FAFC"/>
                </a:solidFill>
                <a:latin typeface="Meiryo" panose="020B0604030504040204" pitchFamily="50" charset="-128"/>
              </a:rPr>
              <a:t>
ファイル記述子は </a:t>
            </a:r>
            <a:r>
              <a:rPr kumimoji="1" lang="en-US" altLang="ja-JP" sz="1300" b="1">
                <a:solidFill>
                  <a:srgbClr val="F8FAFC"/>
                </a:solidFill>
                <a:latin typeface="Meiryo" panose="020B0604030504040204" pitchFamily="50" charset="-128"/>
              </a:rPr>
              <a:t>Linux </a:t>
            </a:r>
            <a:r>
              <a:rPr kumimoji="1" lang="ja-JP" altLang="en-US" sz="1300" b="1">
                <a:solidFill>
                  <a:srgbClr val="F8FAFC"/>
                </a:solidFill>
                <a:latin typeface="Meiryo" panose="020B0604030504040204" pitchFamily="50" charset="-128"/>
              </a:rPr>
              <a:t>カーネルの </a:t>
            </a:r>
            <a:r>
              <a:rPr kumimoji="1" lang="en-US" altLang="ja-JP" sz="1300" b="1">
                <a:solidFill>
                  <a:srgbClr val="F8FAFC"/>
                </a:solidFill>
                <a:latin typeface="Meiryo" panose="020B0604030504040204" pitchFamily="50" charset="-128"/>
              </a:rPr>
              <a:t>DMA-BUF </a:t>
            </a:r>
            <a:r>
              <a:rPr kumimoji="1" lang="ja-JP" altLang="en-US" sz="1300" b="1">
                <a:solidFill>
                  <a:srgbClr val="F8FAFC"/>
                </a:solidFill>
                <a:latin typeface="Meiryo" panose="020B0604030504040204" pitchFamily="50" charset="-128"/>
              </a:rPr>
              <a:t>です。
カメラハードウェアが物理メモリへ直接書き込み、アプリケーションはそれを </a:t>
            </a:r>
            <a:r>
              <a:rPr kumimoji="1" lang="en-US" altLang="ja-JP" sz="1300" b="1">
                <a:solidFill>
                  <a:srgbClr val="F8FAFC"/>
                </a:solidFill>
                <a:latin typeface="Meiryo" panose="020B0604030504040204" pitchFamily="50" charset="-128"/>
              </a:rPr>
              <a:t>mmap </a:t>
            </a:r>
            <a:r>
              <a:rPr kumimoji="1" lang="ja-JP" altLang="en-US" sz="1300" b="1">
                <a:solidFill>
                  <a:srgbClr val="F8FAFC"/>
                </a:solidFill>
                <a:latin typeface="Meiryo" panose="020B0604030504040204" pitchFamily="50" charset="-128"/>
              </a:rPr>
              <a:t>で直接読み取るため、カーネルからユーザー空間へのコピーコストが完全にゼロになります。</a:t>
            </a:r>
          </a:p>
        </p:txBody>
      </p:sp>
    </p:spTree>
    <p:extLst>
      <p:ext uri="{BB962C8B-B14F-4D97-AF65-F5344CB8AC3E}">
        <p14:creationId xmlns:p14="http://schemas.microsoft.com/office/powerpoint/2010/main" val="35765813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B457C05-0CBE-5511-7655-3B5C84B8DDE3}"/>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3: LIBCAMERA (CAMLIBCAM)</a:t>
            </a:r>
            <a:r>
              <a:rPr kumimoji="1" lang="ja-JP" altLang="en-US" sz="2400" b="1">
                <a:solidFill>
                  <a:srgbClr val="38BDF8"/>
                </a:solidFill>
                <a:latin typeface="Meiryo" panose="020B0604030504040204" pitchFamily="50" charset="-128"/>
              </a:rPr>
              <a:t>
完了コールバック </a:t>
            </a:r>
            <a:r>
              <a:rPr kumimoji="1" lang="en-US" altLang="ja-JP" sz="2400" b="1">
                <a:solidFill>
                  <a:srgbClr val="38BDF8"/>
                </a:solidFill>
                <a:latin typeface="Meiryo" panose="020B0604030504040204" pitchFamily="50" charset="-128"/>
              </a:rPr>
              <a:t>(requestComplete) </a:t>
            </a:r>
            <a:r>
              <a:rPr kumimoji="1" lang="ja-JP" altLang="en-US" sz="2400" b="1">
                <a:solidFill>
                  <a:srgbClr val="38BDF8"/>
                </a:solidFill>
                <a:latin typeface="Meiryo" panose="020B0604030504040204" pitchFamily="50" charset="-128"/>
              </a:rPr>
              <a:t>と再利用</a:t>
            </a:r>
          </a:p>
        </p:txBody>
      </p:sp>
      <p:sp>
        <p:nvSpPr>
          <p:cNvPr id="3" name="正方形/長方形 2">
            <a:extLst>
              <a:ext uri="{FF2B5EF4-FFF2-40B4-BE49-F238E27FC236}">
                <a16:creationId xmlns:a16="http://schemas.microsoft.com/office/drawing/2014/main" id="{563D7050-D5C2-E9C2-2219-7FCAC8517508}"/>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コールバック内での処理</a:t>
            </a:r>
            <a:r>
              <a:rPr kumimoji="1" lang="en-US" altLang="ja-JP" sz="1300" b="1">
                <a:solidFill>
                  <a:srgbClr val="F8FAFC"/>
                </a:solidFill>
                <a:latin typeface="Meiryo" panose="020B0604030504040204" pitchFamily="50" charset="-128"/>
              </a:rPr>
              <a:t>
void CamLibcam::requestComplete(libcamera::Request* request) {
  if (request-&gt;status() == RequestCancelled) return;
  // </a:t>
            </a:r>
            <a:r>
              <a:rPr kumimoji="1" lang="ja-JP" altLang="en-US" sz="1300" b="1">
                <a:solidFill>
                  <a:srgbClr val="F8FAFC"/>
                </a:solidFill>
                <a:latin typeface="Meiryo" panose="020B0604030504040204" pitchFamily="50" charset="-128"/>
              </a:rPr>
              <a:t>完了バッファからアドレス取得
  </a:t>
            </a:r>
            <a:r>
              <a:rPr kumimoji="1" lang="en-US" altLang="ja-JP" sz="1300" b="1">
                <a:solidFill>
                  <a:srgbClr val="F8FAFC"/>
                </a:solidFill>
                <a:latin typeface="Meiryo" panose="020B0604030504040204" pitchFamily="50" charset="-128"/>
              </a:rPr>
              <a:t>const uint8_t* src = mappedBuffers[buffer][0].address;
  {
    std::lock_guard&lt;std::mutex&gt; lock(mtx);
    copyOrConvertFrame(image.data(), src);
    captured = true;
  }
  // ★ </a:t>
            </a:r>
            <a:r>
              <a:rPr kumimoji="1" lang="ja-JP" altLang="en-US" sz="1300" b="1">
                <a:solidFill>
                  <a:srgbClr val="F8FAFC"/>
                </a:solidFill>
                <a:latin typeface="Meiryo" panose="020B0604030504040204" pitchFamily="50" charset="-128"/>
              </a:rPr>
              <a:t>リクエストを再利用してカメラキューへ再投入！
  </a:t>
            </a:r>
            <a:r>
              <a:rPr kumimoji="1" lang="en-US" altLang="ja-JP" sz="1300" b="1">
                <a:solidFill>
                  <a:srgbClr val="F8FAFC"/>
                </a:solidFill>
                <a:latin typeface="Meiryo" panose="020B0604030504040204" pitchFamily="50" charset="-128"/>
              </a:rPr>
              <a:t>if (running) {
    request-&gt;reuse(Request::ReuseBuffers);
    camera-&gt;queueRequest(request);
  }
}</a:t>
            </a:r>
            <a:endParaRPr kumimoji="1" lang="ja-JP" altLang="en-US" sz="1300" b="1">
              <a:solidFill>
                <a:srgbClr val="F8FAFC"/>
              </a:solidFill>
              <a:latin typeface="Meiryo" panose="020B0604030504040204" pitchFamily="50" charset="-128"/>
            </a:endParaRPr>
          </a:p>
        </p:txBody>
      </p:sp>
      <p:sp>
        <p:nvSpPr>
          <p:cNvPr id="4" name="正方形/長方形 3">
            <a:extLst>
              <a:ext uri="{FF2B5EF4-FFF2-40B4-BE49-F238E27FC236}">
                <a16:creationId xmlns:a16="http://schemas.microsoft.com/office/drawing/2014/main" id="{BFCB5C24-3C94-94DE-FEBC-C4700B965CC9}"/>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4D399"/>
                </a:solidFill>
                <a:latin typeface="Meiryo" panose="020B0604030504040204" pitchFamily="50" charset="-128"/>
              </a:rPr>
              <a:t>リングバッファの循環ループ</a:t>
            </a:r>
            <a:r>
              <a:rPr kumimoji="1" lang="ja-JP" altLang="en-US" sz="1300" b="1">
                <a:solidFill>
                  <a:srgbClr val="F8FAFC"/>
                </a:solidFill>
                <a:latin typeface="Meiryo" panose="020B0604030504040204" pitchFamily="50" charset="-128"/>
              </a:rPr>
              <a:t>
・リクエストを使い捨てず、</a:t>
            </a:r>
            <a:r>
              <a:rPr kumimoji="1" lang="en-US" altLang="ja-JP" sz="1300" b="1">
                <a:solidFill>
                  <a:srgbClr val="F8FAFC"/>
                </a:solidFill>
                <a:latin typeface="Meiryo" panose="020B0604030504040204" pitchFamily="50" charset="-128"/>
              </a:rPr>
              <a:t>reuse() </a:t>
            </a:r>
            <a:r>
              <a:rPr kumimoji="1" lang="ja-JP" altLang="en-US" sz="1300" b="1">
                <a:solidFill>
                  <a:srgbClr val="F8FAFC"/>
                </a:solidFill>
                <a:latin typeface="Meiryo" panose="020B0604030504040204" pitchFamily="50" charset="-128"/>
              </a:rPr>
              <a:t>でバッファを保持したまま再利用。
・メモリ確保・解放オーバーヘッドがゼロ。
・</a:t>
            </a:r>
            <a:r>
              <a:rPr kumimoji="1" lang="en-US" altLang="ja-JP" sz="1300" b="1">
                <a:solidFill>
                  <a:srgbClr val="F8FAFC"/>
                </a:solidFill>
                <a:latin typeface="Meiryo" panose="020B0604030504040204" pitchFamily="50" charset="-128"/>
              </a:rPr>
              <a:t>3〜4 </a:t>
            </a:r>
            <a:r>
              <a:rPr kumimoji="1" lang="ja-JP" altLang="en-US" sz="1300" b="1">
                <a:solidFill>
                  <a:srgbClr val="F8FAFC"/>
                </a:solidFill>
                <a:latin typeface="Meiryo" panose="020B0604030504040204" pitchFamily="50" charset="-128"/>
              </a:rPr>
              <a:t>個のリクエストがハードウェアとアプリ間を永久に循環する。</a:t>
            </a:r>
          </a:p>
        </p:txBody>
      </p:sp>
    </p:spTree>
    <p:extLst>
      <p:ext uri="{BB962C8B-B14F-4D97-AF65-F5344CB8AC3E}">
        <p14:creationId xmlns:p14="http://schemas.microsoft.com/office/powerpoint/2010/main" val="15718020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7C60341-2948-C31E-532E-6168F0F9602D}"/>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3: LIBCAMERA (CAMLIBCAM)</a:t>
            </a:r>
            <a:r>
              <a:rPr kumimoji="1" lang="ja-JP" altLang="en-US" sz="2400" b="1">
                <a:solidFill>
                  <a:srgbClr val="38BDF8"/>
                </a:solidFill>
                <a:latin typeface="Meiryo" panose="020B0604030504040204" pitchFamily="50" charset="-128"/>
              </a:rPr>
              <a:t>
組込み向け最適化</a:t>
            </a:r>
            <a:r>
              <a:rPr kumimoji="1" lang="en-US" altLang="ja-JP" sz="2400" b="1">
                <a:solidFill>
                  <a:srgbClr val="38BDF8"/>
                </a:solidFill>
                <a:latin typeface="Meiryo" panose="020B0604030504040204" pitchFamily="50" charset="-128"/>
              </a:rPr>
              <a:t>: YUYV </a:t>
            </a:r>
            <a:r>
              <a:rPr kumimoji="1" lang="ja-JP" altLang="en-US" sz="2400" b="1">
                <a:solidFill>
                  <a:srgbClr val="38BDF8"/>
                </a:solidFill>
                <a:latin typeface="Meiryo" panose="020B0604030504040204" pitchFamily="50" charset="-128"/>
              </a:rPr>
              <a:t>整数演算展開</a:t>
            </a:r>
          </a:p>
        </p:txBody>
      </p:sp>
      <p:sp>
        <p:nvSpPr>
          <p:cNvPr id="3" name="正方形/長方形 2">
            <a:extLst>
              <a:ext uri="{FF2B5EF4-FFF2-40B4-BE49-F238E27FC236}">
                <a16:creationId xmlns:a16="http://schemas.microsoft.com/office/drawing/2014/main" id="{82F551AB-7534-7438-6822-50531A6585E7}"/>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ja-JP" altLang="en-US" sz="1600" b="1">
                <a:solidFill>
                  <a:srgbClr val="38BDF8"/>
                </a:solidFill>
                <a:latin typeface="Meiryo" panose="020B0604030504040204" pitchFamily="50" charset="-128"/>
              </a:rPr>
              <a:t>固定小数点ビットシフトによる高速変換</a:t>
            </a:r>
            <a:r>
              <a:rPr kumimoji="1" lang="en-US" altLang="ja-JP" sz="1300" b="1">
                <a:solidFill>
                  <a:srgbClr val="F8FAFC"/>
                </a:solidFill>
                <a:latin typeface="Meiryo" panose="020B0604030504040204" pitchFamily="50" charset="-128"/>
              </a:rPr>
              <a:t>
const int y0 = rowSrc[0] - 16;
const int u  = rowSrc[1] - 128;
const int y1 = rowSrc[2] - 16;
const int v  = rowSrc[3] - 128;
// </a:t>
            </a:r>
            <a:r>
              <a:rPr kumimoji="1" lang="ja-JP" altLang="en-US" sz="1300" b="1">
                <a:solidFill>
                  <a:srgbClr val="F8FAFC"/>
                </a:solidFill>
                <a:latin typeface="Meiryo" panose="020B0604030504040204" pitchFamily="50" charset="-128"/>
              </a:rPr>
              <a:t>浮動小数点を使わず </a:t>
            </a:r>
            <a:r>
              <a:rPr kumimoji="1" lang="en-US" altLang="ja-JP" sz="1300" b="1">
                <a:solidFill>
                  <a:srgbClr val="F8FAFC"/>
                </a:solidFill>
                <a:latin typeface="Meiryo" panose="020B0604030504040204" pitchFamily="50" charset="-128"/>
              </a:rPr>
              <a:t>32bit </a:t>
            </a:r>
            <a:r>
              <a:rPr kumimoji="1" lang="ja-JP" altLang="en-US" sz="1300" b="1">
                <a:solidFill>
                  <a:srgbClr val="F8FAFC"/>
                </a:solidFill>
                <a:latin typeface="Meiryo" panose="020B0604030504040204" pitchFamily="50" charset="-128"/>
              </a:rPr>
              <a:t>整数乗算と </a:t>
            </a:r>
            <a:r>
              <a:rPr kumimoji="1" lang="en-US" altLang="ja-JP" sz="1300" b="1">
                <a:solidFill>
                  <a:srgbClr val="F8FAFC"/>
                </a:solidFill>
                <a:latin typeface="Meiryo" panose="020B0604030504040204" pitchFamily="50" charset="-128"/>
              </a:rPr>
              <a:t>&gt;&gt; 8 </a:t>
            </a:r>
            <a:r>
              <a:rPr kumimoji="1" lang="ja-JP" altLang="en-US" sz="1300" b="1">
                <a:solidFill>
                  <a:srgbClr val="F8FAFC"/>
                </a:solidFill>
                <a:latin typeface="Meiryo" panose="020B0604030504040204" pitchFamily="50" charset="-128"/>
              </a:rPr>
              <a:t>で高速展開
</a:t>
            </a:r>
            <a:r>
              <a:rPr kumimoji="1" lang="en-US" altLang="ja-JP" sz="1300" b="1">
                <a:solidFill>
                  <a:srgbClr val="F8FAFC"/>
                </a:solidFill>
                <a:latin typeface="Meiryo" panose="020B0604030504040204" pitchFamily="50" charset="-128"/>
              </a:rPr>
              <a:t>rowDst[0] = std::clamp((298 * y0 + 516 * u + 128) &gt;&gt; 8, 0, 255); // B
rowDst[1] = std::clamp((298 * y0 - 100 * u - 208 * v + 128) &gt;&gt; 8, 0, 255); // G
rowDst[2] = std::clamp((298 * y0 + 409 * v + 128) &gt;&gt; 8, 0, 255); // R
rowDst[3] = 255; // A</a:t>
            </a:r>
            <a:endParaRPr kumimoji="1" lang="ja-JP" altLang="en-US" sz="1300" b="1">
              <a:solidFill>
                <a:srgbClr val="F8FAFC"/>
              </a:solidFill>
              <a:latin typeface="Meiryo" panose="020B0604030504040204" pitchFamily="50" charset="-128"/>
            </a:endParaRPr>
          </a:p>
        </p:txBody>
      </p:sp>
      <p:sp>
        <p:nvSpPr>
          <p:cNvPr id="4" name="正方形/長方形 3">
            <a:extLst>
              <a:ext uri="{FF2B5EF4-FFF2-40B4-BE49-F238E27FC236}">
                <a16:creationId xmlns:a16="http://schemas.microsoft.com/office/drawing/2014/main" id="{21571433-32CE-1FFC-0E85-524F419ED1E3}"/>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4D399"/>
                </a:solidFill>
                <a:latin typeface="Meiryo" panose="020B0604030504040204" pitchFamily="50" charset="-128"/>
              </a:rPr>
              <a:t>ARM </a:t>
            </a:r>
            <a:r>
              <a:rPr kumimoji="1" lang="ja-JP" altLang="en-US" sz="1600" b="1">
                <a:solidFill>
                  <a:srgbClr val="34D399"/>
                </a:solidFill>
                <a:latin typeface="Meiryo" panose="020B0604030504040204" pitchFamily="50" charset="-128"/>
              </a:rPr>
              <a:t>コンパイラ最適化との親和性</a:t>
            </a:r>
            <a:r>
              <a:rPr kumimoji="1" lang="ja-JP" altLang="en-US" sz="1300" b="1">
                <a:solidFill>
                  <a:srgbClr val="F8FAFC"/>
                </a:solidFill>
                <a:latin typeface="Meiryo" panose="020B0604030504040204" pitchFamily="50" charset="-128"/>
              </a:rPr>
              <a:t>
浮動小数点演算を完全に排除することで、</a:t>
            </a:r>
            <a:r>
              <a:rPr kumimoji="1" lang="en-US" altLang="ja-JP" sz="1300" b="1">
                <a:solidFill>
                  <a:srgbClr val="F8FAFC"/>
                </a:solidFill>
                <a:latin typeface="Meiryo" panose="020B0604030504040204" pitchFamily="50" charset="-128"/>
              </a:rPr>
              <a:t>GCC / Clang </a:t>
            </a:r>
            <a:r>
              <a:rPr kumimoji="1" lang="ja-JP" altLang="en-US" sz="1300" b="1">
                <a:solidFill>
                  <a:srgbClr val="F8FAFC"/>
                </a:solidFill>
                <a:latin typeface="Meiryo" panose="020B0604030504040204" pitchFamily="50" charset="-128"/>
              </a:rPr>
              <a:t>が </a:t>
            </a:r>
            <a:r>
              <a:rPr kumimoji="1" lang="en-US" altLang="ja-JP" sz="1300" b="1">
                <a:solidFill>
                  <a:srgbClr val="F8FAFC"/>
                </a:solidFill>
                <a:latin typeface="Meiryo" panose="020B0604030504040204" pitchFamily="50" charset="-128"/>
              </a:rPr>
              <a:t>ARM NEON SIMD </a:t>
            </a:r>
            <a:r>
              <a:rPr kumimoji="1" lang="ja-JP" altLang="en-US" sz="1300" b="1">
                <a:solidFill>
                  <a:srgbClr val="F8FAFC"/>
                </a:solidFill>
                <a:latin typeface="Meiryo" panose="020B0604030504040204" pitchFamily="50" charset="-128"/>
              </a:rPr>
              <a:t>命令へ自動ベクトル化しやすい素直なコードになっています。</a:t>
            </a:r>
          </a:p>
        </p:txBody>
      </p:sp>
    </p:spTree>
    <p:extLst>
      <p:ext uri="{BB962C8B-B14F-4D97-AF65-F5344CB8AC3E}">
        <p14:creationId xmlns:p14="http://schemas.microsoft.com/office/powerpoint/2010/main" val="24685062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CA19DFE-9716-F872-01E5-5F367AF97994}"/>
              </a:ext>
            </a:extLst>
          </p:cNvPr>
          <p:cNvSpPr txBox="1"/>
          <p:nvPr/>
        </p:nvSpPr>
        <p:spPr>
          <a:xfrm>
            <a:off x="1016000" y="2032000"/>
            <a:ext cx="10160000" cy="2123658"/>
          </a:xfrm>
          <a:prstGeom prst="rect">
            <a:avLst/>
          </a:prstGeom>
          <a:noFill/>
        </p:spPr>
        <p:txBody>
          <a:bodyPr vert="horz" wrap="square" rtlCol="0">
            <a:spAutoFit/>
          </a:bodyPr>
          <a:lstStyle/>
          <a:p>
            <a:pPr algn="ctr"/>
            <a:r>
              <a:rPr kumimoji="1" lang="en-US" altLang="ja-JP" sz="1600" b="1">
                <a:solidFill>
                  <a:srgbClr val="34D399"/>
                </a:solidFill>
                <a:latin typeface="Meiryo" panose="020B0604030504040204" pitchFamily="50" charset="-128"/>
              </a:rPr>
              <a:t>Part 4</a:t>
            </a:r>
            <a:r>
              <a:rPr kumimoji="1" lang="ja-JP" altLang="en-US" sz="3400" b="1">
                <a:solidFill>
                  <a:srgbClr val="F8FAFC"/>
                </a:solidFill>
                <a:latin typeface="Meiryo" panose="020B0604030504040204" pitchFamily="50" charset="-128"/>
              </a:rPr>
              <a:t>
キャプチャバックエンドの比較まとめ </a:t>
            </a:r>
            <a:r>
              <a:rPr kumimoji="1" lang="en-US" altLang="ja-JP" sz="3400" b="1">
                <a:solidFill>
                  <a:srgbClr val="F8FAFC"/>
                </a:solidFill>
                <a:latin typeface="Meiryo" panose="020B0604030504040204" pitchFamily="50" charset="-128"/>
              </a:rPr>
              <a:t>&amp;
</a:t>
            </a:r>
            <a:r>
              <a:rPr kumimoji="1" lang="ja-JP" altLang="en-US" sz="3400" b="1">
                <a:solidFill>
                  <a:srgbClr val="F8FAFC"/>
                </a:solidFill>
                <a:latin typeface="Meiryo" panose="020B0604030504040204" pitchFamily="50" charset="-128"/>
              </a:rPr>
              <a:t>トラブルシューティング</a:t>
            </a:r>
            <a:r>
              <a:rPr kumimoji="1" lang="ja-JP" altLang="en-US" sz="1500" b="1">
                <a:solidFill>
                  <a:srgbClr val="38BDF8"/>
                </a:solidFill>
                <a:latin typeface="Meiryo" panose="020B0604030504040204" pitchFamily="50" charset="-128"/>
              </a:rPr>
              <a:t>
</a:t>
            </a:r>
            <a:r>
              <a:rPr kumimoji="1" lang="en-US" altLang="ja-JP" sz="1500" b="1">
                <a:solidFill>
                  <a:srgbClr val="38BDF8"/>
                </a:solidFill>
                <a:latin typeface="Meiryo" panose="020B0604030504040204" pitchFamily="50" charset="-128"/>
              </a:rPr>
              <a:t>CamCv vs CamMf vs CamLibcam / </a:t>
            </a:r>
            <a:r>
              <a:rPr kumimoji="1" lang="ja-JP" altLang="en-US" sz="1500" b="1">
                <a:solidFill>
                  <a:srgbClr val="38BDF8"/>
                </a:solidFill>
                <a:latin typeface="Meiryo" panose="020B0604030504040204" pitchFamily="50" charset="-128"/>
              </a:rPr>
              <a:t>現場でのノウハウ</a:t>
            </a:r>
          </a:p>
        </p:txBody>
      </p:sp>
    </p:spTree>
    <p:extLst>
      <p:ext uri="{BB962C8B-B14F-4D97-AF65-F5344CB8AC3E}">
        <p14:creationId xmlns:p14="http://schemas.microsoft.com/office/powerpoint/2010/main" val="444114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BF6920F-1CD5-B26C-7403-722042FE6090}"/>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4: SUMMARY &amp; COMPARISON</a:t>
            </a:r>
            <a:r>
              <a:rPr kumimoji="1" lang="ja-JP" altLang="en-US" sz="2400" b="1">
                <a:solidFill>
                  <a:srgbClr val="38BDF8"/>
                </a:solidFill>
                <a:latin typeface="Meiryo" panose="020B0604030504040204" pitchFamily="50" charset="-128"/>
              </a:rPr>
              <a:t>
キャプチャバックエンド総合比較</a:t>
            </a:r>
          </a:p>
        </p:txBody>
      </p:sp>
      <p:sp>
        <p:nvSpPr>
          <p:cNvPr id="3" name="正方形/長方形 2">
            <a:extLst>
              <a:ext uri="{FF2B5EF4-FFF2-40B4-BE49-F238E27FC236}">
                <a16:creationId xmlns:a16="http://schemas.microsoft.com/office/drawing/2014/main" id="{D090AED2-DC02-90BD-323C-32FB75A6ACD7}"/>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8BDF8"/>
                </a:solidFill>
                <a:latin typeface="Meiryo" panose="020B0604030504040204" pitchFamily="50" charset="-128"/>
              </a:rPr>
              <a:t>Media Foundation (CamMf)</a:t>
            </a:r>
            <a:r>
              <a:rPr kumimoji="1" lang="ja-JP" altLang="en-US" sz="1300" b="1">
                <a:solidFill>
                  <a:srgbClr val="F8FAFC"/>
                </a:solidFill>
                <a:latin typeface="Meiryo" panose="020B0604030504040204" pitchFamily="50" charset="-128"/>
              </a:rPr>
              <a:t>
・ターゲット</a:t>
            </a:r>
            <a:r>
              <a:rPr kumimoji="1" lang="en-US" altLang="ja-JP" sz="1300" b="1">
                <a:solidFill>
                  <a:srgbClr val="F8FAFC"/>
                </a:solidFill>
                <a:latin typeface="Meiryo" panose="020B0604030504040204" pitchFamily="50" charset="-128"/>
              </a:rPr>
              <a:t>: Windows 10/11
</a:t>
            </a:r>
            <a:r>
              <a:rPr kumimoji="1" lang="ja-JP" altLang="en-US" sz="1300" b="1">
                <a:solidFill>
                  <a:srgbClr val="F8FAFC"/>
                </a:solidFill>
                <a:latin typeface="Meiryo" panose="020B0604030504040204" pitchFamily="50" charset="-128"/>
              </a:rPr>
              <a:t>・</a:t>
            </a:r>
            <a:r>
              <a:rPr kumimoji="1" lang="en-US" altLang="ja-JP" sz="1300" b="1">
                <a:solidFill>
                  <a:srgbClr val="F8FAFC"/>
                </a:solidFill>
                <a:latin typeface="Meiryo" panose="020B0604030504040204" pitchFamily="50" charset="-128"/>
              </a:rPr>
              <a:t>API: </a:t>
            </a:r>
            <a:r>
              <a:rPr kumimoji="1" lang="ja-JP" altLang="en-US" sz="1300" b="1">
                <a:solidFill>
                  <a:srgbClr val="F8FAFC"/>
                </a:solidFill>
                <a:latin typeface="Meiryo" panose="020B0604030504040204" pitchFamily="50" charset="-128"/>
              </a:rPr>
              <a:t>低水準 </a:t>
            </a:r>
            <a:r>
              <a:rPr kumimoji="1" lang="en-US" altLang="ja-JP" sz="1300" b="1">
                <a:solidFill>
                  <a:srgbClr val="F8FAFC"/>
                </a:solidFill>
                <a:latin typeface="Meiryo" panose="020B0604030504040204" pitchFamily="50" charset="-128"/>
              </a:rPr>
              <a:t>COM / MFT
</a:t>
            </a:r>
            <a:r>
              <a:rPr kumimoji="1" lang="ja-JP" altLang="en-US" sz="1300" b="1">
                <a:solidFill>
                  <a:srgbClr val="F8FAFC"/>
                </a:solidFill>
                <a:latin typeface="Meiryo" panose="020B0604030504040204" pitchFamily="50" charset="-128"/>
              </a:rPr>
              <a:t>・レイテンシ</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極小 </a:t>
            </a:r>
            <a:r>
              <a:rPr kumimoji="1" lang="en-US" altLang="ja-JP" sz="1300" b="1">
                <a:solidFill>
                  <a:srgbClr val="F8FAFC"/>
                </a:solidFill>
                <a:latin typeface="Meiryo" panose="020B0604030504040204" pitchFamily="50" charset="-128"/>
              </a:rPr>
              <a:t>(CODECAPI_AVLowLatencyMode)
</a:t>
            </a:r>
            <a:r>
              <a:rPr kumimoji="1" lang="ja-JP" altLang="en-US" sz="1300" b="1">
                <a:solidFill>
                  <a:srgbClr val="F8FAFC"/>
                </a:solidFill>
                <a:latin typeface="Meiryo" panose="020B0604030504040204" pitchFamily="50" charset="-128"/>
              </a:rPr>
              <a:t>・ハードウェア支援</a:t>
            </a:r>
            <a:r>
              <a:rPr kumimoji="1" lang="en-US" altLang="ja-JP" sz="1300" b="1">
                <a:solidFill>
                  <a:srgbClr val="F8FAFC"/>
                </a:solidFill>
                <a:latin typeface="Meiryo" panose="020B0604030504040204" pitchFamily="50" charset="-128"/>
              </a:rPr>
              <a:t>: DXVA / GPU </a:t>
            </a:r>
            <a:r>
              <a:rPr kumimoji="1" lang="ja-JP" altLang="en-US" sz="1300" b="1">
                <a:solidFill>
                  <a:srgbClr val="F8FAFC"/>
                </a:solidFill>
                <a:latin typeface="Meiryo" panose="020B0604030504040204" pitchFamily="50" charset="-128"/>
              </a:rPr>
              <a:t>デコーダ活用
・メモリ管理</a:t>
            </a:r>
            <a:r>
              <a:rPr kumimoji="1" lang="en-US" altLang="ja-JP" sz="1300" b="1">
                <a:solidFill>
                  <a:srgbClr val="F8FAFC"/>
                </a:solidFill>
                <a:latin typeface="Meiryo" panose="020B0604030504040204" pitchFamily="50" charset="-128"/>
              </a:rPr>
              <a:t>: 64B </a:t>
            </a:r>
            <a:r>
              <a:rPr kumimoji="1" lang="ja-JP" altLang="en-US" sz="1300" b="1">
                <a:solidFill>
                  <a:srgbClr val="F8FAFC"/>
                </a:solidFill>
                <a:latin typeface="Meiryo" panose="020B0604030504040204" pitchFamily="50" charset="-128"/>
              </a:rPr>
              <a:t>アラインバッファ
・用途</a:t>
            </a:r>
            <a:r>
              <a:rPr kumimoji="1" lang="en-US" altLang="ja-JP" sz="1300" b="1">
                <a:solidFill>
                  <a:srgbClr val="F8FAFC"/>
                </a:solidFill>
                <a:latin typeface="Meiryo" panose="020B0604030504040204" pitchFamily="50" charset="-128"/>
              </a:rPr>
              <a:t>: Windows PC </a:t>
            </a:r>
            <a:r>
              <a:rPr kumimoji="1" lang="ja-JP" altLang="en-US" sz="1300" b="1">
                <a:solidFill>
                  <a:srgbClr val="F8FAFC"/>
                </a:solidFill>
                <a:latin typeface="Meiryo" panose="020B0604030504040204" pitchFamily="50" charset="-128"/>
              </a:rPr>
              <a:t>での超低遅延リアルタイム較正</a:t>
            </a:r>
          </a:p>
        </p:txBody>
      </p:sp>
      <p:sp>
        <p:nvSpPr>
          <p:cNvPr id="4" name="正方形/長方形 3">
            <a:extLst>
              <a:ext uri="{FF2B5EF4-FFF2-40B4-BE49-F238E27FC236}">
                <a16:creationId xmlns:a16="http://schemas.microsoft.com/office/drawing/2014/main" id="{299009BD-B96B-F8F1-5C58-2A5D20D4ECE4}"/>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4D399"/>
                </a:solidFill>
                <a:latin typeface="Meiryo" panose="020B0604030504040204" pitchFamily="50" charset="-128"/>
              </a:rPr>
              <a:t>libcamera (CamLibcam)</a:t>
            </a:r>
            <a:r>
              <a:rPr kumimoji="1" lang="ja-JP" altLang="en-US" sz="1300" b="1">
                <a:solidFill>
                  <a:srgbClr val="F8FAFC"/>
                </a:solidFill>
                <a:latin typeface="Meiryo" panose="020B0604030504040204" pitchFamily="50" charset="-128"/>
              </a:rPr>
              <a:t>
・ターゲット</a:t>
            </a:r>
            <a:r>
              <a:rPr kumimoji="1" lang="en-US" altLang="ja-JP" sz="1300" b="1">
                <a:solidFill>
                  <a:srgbClr val="F8FAFC"/>
                </a:solidFill>
                <a:latin typeface="Meiryo" panose="020B0604030504040204" pitchFamily="50" charset="-128"/>
              </a:rPr>
              <a:t>: Linux / Raspberry Pi 4/5
</a:t>
            </a:r>
            <a:r>
              <a:rPr kumimoji="1" lang="ja-JP" altLang="en-US" sz="1300" b="1">
                <a:solidFill>
                  <a:srgbClr val="F8FAFC"/>
                </a:solidFill>
                <a:latin typeface="Meiryo" panose="020B0604030504040204" pitchFamily="50" charset="-128"/>
              </a:rPr>
              <a:t>・</a:t>
            </a:r>
            <a:r>
              <a:rPr kumimoji="1" lang="en-US" altLang="ja-JP" sz="1300" b="1">
                <a:solidFill>
                  <a:srgbClr val="F8FAFC"/>
                </a:solidFill>
                <a:latin typeface="Meiryo" panose="020B0604030504040204" pitchFamily="50" charset="-128"/>
              </a:rPr>
              <a:t>API: </a:t>
            </a:r>
            <a:r>
              <a:rPr kumimoji="1" lang="ja-JP" altLang="en-US" sz="1300" b="1">
                <a:solidFill>
                  <a:srgbClr val="F8FAFC"/>
                </a:solidFill>
                <a:latin typeface="Meiryo" panose="020B0604030504040204" pitchFamily="50" charset="-128"/>
              </a:rPr>
              <a:t>低水準 </a:t>
            </a:r>
            <a:r>
              <a:rPr kumimoji="1" lang="en-US" altLang="ja-JP" sz="1300" b="1">
                <a:solidFill>
                  <a:srgbClr val="F8FAFC"/>
                </a:solidFill>
                <a:latin typeface="Meiryo" panose="020B0604030504040204" pitchFamily="50" charset="-128"/>
              </a:rPr>
              <a:t>libcamera C++ API
</a:t>
            </a:r>
            <a:r>
              <a:rPr kumimoji="1" lang="ja-JP" altLang="en-US" sz="1300" b="1">
                <a:solidFill>
                  <a:srgbClr val="F8FAFC"/>
                </a:solidFill>
                <a:latin typeface="Meiryo" panose="020B0604030504040204" pitchFamily="50" charset="-128"/>
              </a:rPr>
              <a:t>・レイテンシ</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極小 </a:t>
            </a:r>
            <a:r>
              <a:rPr kumimoji="1" lang="en-US" altLang="ja-JP" sz="1300" b="1">
                <a:solidFill>
                  <a:srgbClr val="F8FAFC"/>
                </a:solidFill>
                <a:latin typeface="Meiryo" panose="020B0604030504040204" pitchFamily="50" charset="-128"/>
              </a:rPr>
              <a:t>(DMA </a:t>
            </a:r>
            <a:r>
              <a:rPr kumimoji="1" lang="ja-JP" altLang="en-US" sz="1300" b="1">
                <a:solidFill>
                  <a:srgbClr val="F8FAFC"/>
                </a:solidFill>
                <a:latin typeface="Meiryo" panose="020B0604030504040204" pitchFamily="50" charset="-128"/>
              </a:rPr>
              <a:t>直結キューイング</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・ハードウェア支援</a:t>
            </a:r>
            <a:r>
              <a:rPr kumimoji="1" lang="en-US" altLang="ja-JP" sz="1300" b="1">
                <a:solidFill>
                  <a:srgbClr val="F8FAFC"/>
                </a:solidFill>
                <a:latin typeface="Meiryo" panose="020B0604030504040204" pitchFamily="50" charset="-128"/>
              </a:rPr>
              <a:t>: SoC ISP </a:t>
            </a:r>
            <a:r>
              <a:rPr kumimoji="1" lang="ja-JP" altLang="en-US" sz="1300" b="1">
                <a:solidFill>
                  <a:srgbClr val="F8FAFC"/>
                </a:solidFill>
                <a:latin typeface="Meiryo" panose="020B0604030504040204" pitchFamily="50" charset="-128"/>
              </a:rPr>
              <a:t>ハードウェア直結
・メモリ管理</a:t>
            </a:r>
            <a:r>
              <a:rPr kumimoji="1" lang="en-US" altLang="ja-JP" sz="1300" b="1">
                <a:solidFill>
                  <a:srgbClr val="F8FAFC"/>
                </a:solidFill>
                <a:latin typeface="Meiryo" panose="020B0604030504040204" pitchFamily="50" charset="-128"/>
              </a:rPr>
              <a:t>: DMA-BUF + mmap (</a:t>
            </a:r>
            <a:r>
              <a:rPr kumimoji="1" lang="ja-JP" altLang="en-US" sz="1300" b="1">
                <a:solidFill>
                  <a:srgbClr val="F8FAFC"/>
                </a:solidFill>
                <a:latin typeface="Meiryo" panose="020B0604030504040204" pitchFamily="50" charset="-128"/>
              </a:rPr>
              <a:t>ゼロコピー</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・用途</a:t>
            </a:r>
            <a:r>
              <a:rPr kumimoji="1" lang="en-US" altLang="ja-JP" sz="1300" b="1">
                <a:solidFill>
                  <a:srgbClr val="F8FAFC"/>
                </a:solidFill>
                <a:latin typeface="Meiryo" panose="020B0604030504040204" pitchFamily="50" charset="-128"/>
              </a:rPr>
              <a:t>: </a:t>
            </a:r>
            <a:r>
              <a:rPr kumimoji="1" lang="ja-JP" altLang="en-US" sz="1300" b="1">
                <a:solidFill>
                  <a:srgbClr val="F8FAFC"/>
                </a:solidFill>
                <a:latin typeface="Meiryo" panose="020B0604030504040204" pitchFamily="50" charset="-128"/>
              </a:rPr>
              <a:t>組込み・自律ロボット・エッジ環境</a:t>
            </a:r>
          </a:p>
        </p:txBody>
      </p:sp>
    </p:spTree>
    <p:extLst>
      <p:ext uri="{BB962C8B-B14F-4D97-AF65-F5344CB8AC3E}">
        <p14:creationId xmlns:p14="http://schemas.microsoft.com/office/powerpoint/2010/main" val="23615676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E36F1B4-860A-8E01-E8FB-E05CDF7EF9FD}"/>
              </a:ext>
            </a:extLst>
          </p:cNvPr>
          <p:cNvSpPr txBox="1"/>
          <p:nvPr/>
        </p:nvSpPr>
        <p:spPr>
          <a:xfrm>
            <a:off x="635000" y="317500"/>
            <a:ext cx="10922000" cy="738664"/>
          </a:xfrm>
          <a:prstGeom prst="rect">
            <a:avLst/>
          </a:prstGeom>
          <a:noFill/>
        </p:spPr>
        <p:txBody>
          <a:bodyPr vert="horz" lIns="0" tIns="0" rIns="0" bIns="0" rtlCol="0">
            <a:spAutoFit/>
          </a:bodyPr>
          <a:lstStyle/>
          <a:p>
            <a:r>
              <a:rPr kumimoji="1" lang="en-US" altLang="ja-JP" sz="1100" b="1">
                <a:solidFill>
                  <a:srgbClr val="34D399"/>
                </a:solidFill>
                <a:latin typeface="Meiryo" panose="020B0604030504040204" pitchFamily="50" charset="-128"/>
              </a:rPr>
              <a:t>PART 4: SUMMARY &amp; COMPARISON</a:t>
            </a:r>
            <a:r>
              <a:rPr kumimoji="1" lang="ja-JP" altLang="en-US" sz="2400" b="1">
                <a:solidFill>
                  <a:srgbClr val="38BDF8"/>
                </a:solidFill>
                <a:latin typeface="Meiryo" panose="020B0604030504040204" pitchFamily="50" charset="-128"/>
              </a:rPr>
              <a:t>
よくある質問とトラブルシューティング</a:t>
            </a:r>
          </a:p>
        </p:txBody>
      </p:sp>
      <p:sp>
        <p:nvSpPr>
          <p:cNvPr id="3" name="正方形/長方形 2">
            <a:extLst>
              <a:ext uri="{FF2B5EF4-FFF2-40B4-BE49-F238E27FC236}">
                <a16:creationId xmlns:a16="http://schemas.microsoft.com/office/drawing/2014/main" id="{6BAAEA9C-6481-EEC1-EB07-0FD63BED68FE}"/>
              </a:ext>
            </a:extLst>
          </p:cNvPr>
          <p:cNvSpPr/>
          <p:nvPr/>
        </p:nvSpPr>
        <p:spPr>
          <a:xfrm>
            <a:off x="6350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8BDF8"/>
                </a:solidFill>
                <a:latin typeface="Meiryo" panose="020B0604030504040204" pitchFamily="50" charset="-128"/>
              </a:rPr>
              <a:t>Q1. </a:t>
            </a:r>
            <a:r>
              <a:rPr kumimoji="1" lang="ja-JP" altLang="en-US" sz="1600" b="1">
                <a:solidFill>
                  <a:srgbClr val="38BDF8"/>
                </a:solidFill>
                <a:latin typeface="Meiryo" panose="020B0604030504040204" pitchFamily="50" charset="-128"/>
              </a:rPr>
              <a:t>自動取得が反応しない</a:t>
            </a:r>
            <a:r>
              <a:rPr kumimoji="1" lang="ja-JP" altLang="en-US" sz="1300" b="1">
                <a:solidFill>
                  <a:srgbClr val="F8FAFC"/>
                </a:solidFill>
                <a:latin typeface="Meiryo" panose="020B0604030504040204" pitchFamily="50" charset="-128"/>
              </a:rPr>
              <a:t>
・コーナー数が </a:t>
            </a:r>
            <a:r>
              <a:rPr kumimoji="1" lang="en-US" altLang="ja-JP" sz="1300" b="1">
                <a:solidFill>
                  <a:srgbClr val="F8FAFC"/>
                </a:solidFill>
                <a:latin typeface="Meiryo" panose="020B0604030504040204" pitchFamily="50" charset="-128"/>
              </a:rPr>
              <a:t>6 </a:t>
            </a:r>
            <a:r>
              <a:rPr kumimoji="1" lang="ja-JP" altLang="en-US" sz="1300" b="1">
                <a:solidFill>
                  <a:srgbClr val="F8FAFC"/>
                </a:solidFill>
                <a:latin typeface="Meiryo" panose="020B0604030504040204" pitchFamily="50" charset="-128"/>
              </a:rPr>
              <a:t>点未満になっていませんか？（ボード全体を画面内に収める）
・平均変位が </a:t>
            </a:r>
            <a:r>
              <a:rPr kumimoji="1" lang="en-US" altLang="ja-JP" sz="1300" b="1">
                <a:solidFill>
                  <a:srgbClr val="F8FAFC"/>
                </a:solidFill>
                <a:latin typeface="Meiryo" panose="020B0604030504040204" pitchFamily="50" charset="-128"/>
              </a:rPr>
              <a:t>2.0px </a:t>
            </a:r>
            <a:r>
              <a:rPr kumimoji="1" lang="ja-JP" altLang="en-US" sz="1300" b="1">
                <a:solidFill>
                  <a:srgbClr val="F8FAFC"/>
                </a:solidFill>
                <a:latin typeface="Meiryo" panose="020B0604030504040204" pitchFamily="50" charset="-128"/>
              </a:rPr>
              <a:t>を超えていませんか？（机に置くか両手でしっかりホールド）
・直前の標本と構図が近すぎませんか？（位置・距離・傾きのいずれかを大きく変える）</a:t>
            </a:r>
          </a:p>
        </p:txBody>
      </p:sp>
      <p:sp>
        <p:nvSpPr>
          <p:cNvPr id="4" name="正方形/長方形 3">
            <a:extLst>
              <a:ext uri="{FF2B5EF4-FFF2-40B4-BE49-F238E27FC236}">
                <a16:creationId xmlns:a16="http://schemas.microsoft.com/office/drawing/2014/main" id="{8AFBCC01-6B92-9C52-F576-410779F8BB90}"/>
              </a:ext>
            </a:extLst>
          </p:cNvPr>
          <p:cNvSpPr/>
          <p:nvPr/>
        </p:nvSpPr>
        <p:spPr>
          <a:xfrm>
            <a:off x="6286500" y="1270000"/>
            <a:ext cx="5270500" cy="4572000"/>
          </a:xfrm>
          <a:prstGeom prst="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Ins="190500" bIns="190500" rtlCol="0" anchor="ctr"/>
          <a:lstStyle/>
          <a:p>
            <a:pPr algn="ctr"/>
            <a:r>
              <a:rPr kumimoji="1" lang="en-US" altLang="ja-JP" sz="1600" b="1">
                <a:solidFill>
                  <a:srgbClr val="34D399"/>
                </a:solidFill>
                <a:latin typeface="Meiryo" panose="020B0604030504040204" pitchFamily="50" charset="-128"/>
              </a:rPr>
              <a:t>Q2. </a:t>
            </a:r>
            <a:r>
              <a:rPr kumimoji="1" lang="ja-JP" altLang="en-US" sz="1600" b="1">
                <a:solidFill>
                  <a:srgbClr val="34D399"/>
                </a:solidFill>
                <a:latin typeface="Meiryo" panose="020B0604030504040204" pitchFamily="50" charset="-128"/>
              </a:rPr>
              <a:t>再投影誤差が小さくならない</a:t>
            </a:r>
            <a:r>
              <a:rPr kumimoji="1" lang="ja-JP" altLang="en-US" sz="1300" b="1">
                <a:solidFill>
                  <a:srgbClr val="F8FAFC"/>
                </a:solidFill>
                <a:latin typeface="Meiryo" panose="020B0604030504040204" pitchFamily="50" charset="-128"/>
              </a:rPr>
              <a:t>
・画面四隅に見切れさせた標本が不足していませんか？（</a:t>
            </a:r>
            <a:r>
              <a:rPr kumimoji="1" lang="en-US" altLang="ja-JP" sz="1300" b="1">
                <a:solidFill>
                  <a:srgbClr val="F8FAFC"/>
                </a:solidFill>
                <a:latin typeface="Meiryo" panose="020B0604030504040204" pitchFamily="50" charset="-128"/>
              </a:rPr>
              <a:t>ChArUco </a:t>
            </a:r>
            <a:r>
              <a:rPr kumimoji="1" lang="ja-JP" altLang="en-US" sz="1300" b="1">
                <a:solidFill>
                  <a:srgbClr val="F8FAFC"/>
                </a:solidFill>
                <a:latin typeface="Meiryo" panose="020B0604030504040204" pitchFamily="50" charset="-128"/>
              </a:rPr>
              <a:t>の強みを活かして周辺部を攻める）
・至近距離（大）と遠距離（小）の差をつけていますか？
・ボードを </a:t>
            </a:r>
            <a:r>
              <a:rPr kumimoji="1" lang="en-US" altLang="ja-JP" sz="1300" b="1">
                <a:solidFill>
                  <a:srgbClr val="F8FAFC"/>
                </a:solidFill>
                <a:latin typeface="Meiryo" panose="020B0604030504040204" pitchFamily="50" charset="-128"/>
              </a:rPr>
              <a:t>30</a:t>
            </a:r>
            <a:r>
              <a:rPr kumimoji="1" lang="ja-JP" altLang="en-US" sz="1300" b="1">
                <a:solidFill>
                  <a:srgbClr val="F8FAFC"/>
                </a:solidFill>
                <a:latin typeface="Meiryo" panose="020B0604030504040204" pitchFamily="50" charset="-128"/>
              </a:rPr>
              <a:t>度程度しっかり傾けていますか？</a:t>
            </a:r>
          </a:p>
        </p:txBody>
      </p:sp>
    </p:spTree>
    <p:extLst>
      <p:ext uri="{BB962C8B-B14F-4D97-AF65-F5344CB8AC3E}">
        <p14:creationId xmlns:p14="http://schemas.microsoft.com/office/powerpoint/2010/main" val="1759604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0F1A"/>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FAF3825-5251-566A-FCE6-3D2FDE550969}"/>
              </a:ext>
            </a:extLst>
          </p:cNvPr>
          <p:cNvSpPr txBox="1"/>
          <p:nvPr/>
        </p:nvSpPr>
        <p:spPr>
          <a:xfrm>
            <a:off x="1016000" y="1778000"/>
            <a:ext cx="10160000" cy="2339102"/>
          </a:xfrm>
          <a:prstGeom prst="rect">
            <a:avLst/>
          </a:prstGeom>
          <a:noFill/>
        </p:spPr>
        <p:txBody>
          <a:bodyPr vert="horz" wrap="square" rtlCol="0">
            <a:spAutoFit/>
          </a:bodyPr>
          <a:lstStyle/>
          <a:p>
            <a:pPr algn="ctr"/>
            <a:r>
              <a:rPr kumimoji="1" lang="ja-JP" altLang="en-US" sz="4000" b="1">
                <a:solidFill>
                  <a:srgbClr val="38BDF8"/>
                </a:solidFill>
                <a:latin typeface="Meiryo" panose="020B0604030504040204" pitchFamily="50" charset="-128"/>
              </a:rPr>
              <a:t>まとめ </a:t>
            </a:r>
            <a:r>
              <a:rPr kumimoji="1" lang="en-US" altLang="ja-JP" sz="4000" b="1">
                <a:solidFill>
                  <a:srgbClr val="38BDF8"/>
                </a:solidFill>
                <a:latin typeface="Meiryo" panose="020B0604030504040204" pitchFamily="50" charset="-128"/>
              </a:rPr>
              <a:t>&amp; </a:t>
            </a:r>
            <a:r>
              <a:rPr kumimoji="1" lang="ja-JP" altLang="en-US" sz="4000" b="1">
                <a:solidFill>
                  <a:srgbClr val="38BDF8"/>
                </a:solidFill>
                <a:latin typeface="Meiryo" panose="020B0604030504040204" pitchFamily="50" charset="-128"/>
              </a:rPr>
              <a:t>質疑応答</a:t>
            </a:r>
            <a:r>
              <a:rPr kumimoji="1" lang="ja-JP" altLang="en-US" sz="2200" b="1">
                <a:solidFill>
                  <a:srgbClr val="F8FAFC"/>
                </a:solidFill>
                <a:latin typeface="Meiryo" panose="020B0604030504040204" pitchFamily="50" charset="-128"/>
              </a:rPr>
              <a:t>
本日の重要ポイント</a:t>
            </a:r>
            <a:r>
              <a:rPr kumimoji="1" lang="ja-JP" altLang="en-US" sz="1400" b="1">
                <a:solidFill>
                  <a:srgbClr val="94A3B8"/>
                </a:solidFill>
                <a:latin typeface="Meiryo" panose="020B0604030504040204" pitchFamily="50" charset="-128"/>
              </a:rPr>
              <a:t>
</a:t>
            </a:r>
            <a:r>
              <a:rPr kumimoji="1" lang="en-US" altLang="ja-JP" sz="1400" b="1">
                <a:solidFill>
                  <a:srgbClr val="94A3B8"/>
                </a:solidFill>
                <a:latin typeface="Meiryo" panose="020B0604030504040204" pitchFamily="50" charset="-128"/>
              </a:rPr>
              <a:t>1. ChArUco </a:t>
            </a:r>
            <a:r>
              <a:rPr kumimoji="1" lang="ja-JP" altLang="en-US" sz="1400" b="1">
                <a:solidFill>
                  <a:srgbClr val="94A3B8"/>
                </a:solidFill>
                <a:latin typeface="Meiryo" panose="020B0604030504040204" pitchFamily="50" charset="-128"/>
              </a:rPr>
              <a:t>標本自動取得</a:t>
            </a:r>
            <a:r>
              <a:rPr kumimoji="1" lang="en-US" altLang="ja-JP" sz="1400" b="1">
                <a:solidFill>
                  <a:srgbClr val="94A3B8"/>
                </a:solidFill>
                <a:latin typeface="Meiryo" panose="020B0604030504040204" pitchFamily="50" charset="-128"/>
              </a:rPr>
              <a:t>: </a:t>
            </a:r>
            <a:r>
              <a:rPr kumimoji="1" lang="ja-JP" altLang="en-US" sz="1400" b="1">
                <a:solidFill>
                  <a:srgbClr val="94A3B8"/>
                </a:solidFill>
                <a:latin typeface="Meiryo" panose="020B0604030504040204" pitchFamily="50" charset="-128"/>
              </a:rPr>
              <a:t>変位追跡と統計モーメントにより、ワンマンでも最高精度の較正を実現
</a:t>
            </a:r>
            <a:r>
              <a:rPr kumimoji="1" lang="en-US" altLang="ja-JP" sz="1400" b="1">
                <a:solidFill>
                  <a:srgbClr val="94A3B8"/>
                </a:solidFill>
                <a:latin typeface="Meiryo" panose="020B0604030504040204" pitchFamily="50" charset="-128"/>
              </a:rPr>
              <a:t>2. Media Foundation (CamMf): MFT </a:t>
            </a:r>
            <a:r>
              <a:rPr kumimoji="1" lang="ja-JP" altLang="en-US" sz="1400" b="1">
                <a:solidFill>
                  <a:srgbClr val="94A3B8"/>
                </a:solidFill>
                <a:latin typeface="Meiryo" panose="020B0604030504040204" pitchFamily="50" charset="-128"/>
              </a:rPr>
              <a:t>直接制御と低遅延設定で </a:t>
            </a:r>
            <a:r>
              <a:rPr kumimoji="1" lang="en-US" altLang="ja-JP" sz="1400" b="1">
                <a:solidFill>
                  <a:srgbClr val="94A3B8"/>
                </a:solidFill>
                <a:latin typeface="Meiryo" panose="020B0604030504040204" pitchFamily="50" charset="-128"/>
              </a:rPr>
              <a:t>Windows </a:t>
            </a:r>
            <a:r>
              <a:rPr kumimoji="1" lang="ja-JP" altLang="en-US" sz="1400" b="1">
                <a:solidFill>
                  <a:srgbClr val="94A3B8"/>
                </a:solidFill>
                <a:latin typeface="Meiryo" panose="020B0604030504040204" pitchFamily="50" charset="-128"/>
              </a:rPr>
              <a:t>の極限性能を引き出す
</a:t>
            </a:r>
            <a:r>
              <a:rPr kumimoji="1" lang="en-US" altLang="ja-JP" sz="1400" b="1">
                <a:solidFill>
                  <a:srgbClr val="94A3B8"/>
                </a:solidFill>
                <a:latin typeface="Meiryo" panose="020B0604030504040204" pitchFamily="50" charset="-128"/>
              </a:rPr>
              <a:t>3. libcamera (CamLibcam): DMA </a:t>
            </a:r>
            <a:r>
              <a:rPr kumimoji="1" lang="ja-JP" altLang="en-US" sz="1400" b="1">
                <a:solidFill>
                  <a:srgbClr val="94A3B8"/>
                </a:solidFill>
                <a:latin typeface="Meiryo" panose="020B0604030504040204" pitchFamily="50" charset="-128"/>
              </a:rPr>
              <a:t>バッファ </a:t>
            </a:r>
            <a:r>
              <a:rPr kumimoji="1" lang="en-US" altLang="ja-JP" sz="1400" b="1">
                <a:solidFill>
                  <a:srgbClr val="94A3B8"/>
                </a:solidFill>
                <a:latin typeface="Meiryo" panose="020B0604030504040204" pitchFamily="50" charset="-128"/>
              </a:rPr>
              <a:t>mmap </a:t>
            </a:r>
            <a:r>
              <a:rPr kumimoji="1" lang="ja-JP" altLang="en-US" sz="1400" b="1">
                <a:solidFill>
                  <a:srgbClr val="94A3B8"/>
                </a:solidFill>
                <a:latin typeface="Meiryo" panose="020B0604030504040204" pitchFamily="50" charset="-128"/>
              </a:rPr>
              <a:t>とリクエスト再利用で組込み </a:t>
            </a:r>
            <a:r>
              <a:rPr kumimoji="1" lang="en-US" altLang="ja-JP" sz="1400" b="1">
                <a:solidFill>
                  <a:srgbClr val="94A3B8"/>
                </a:solidFill>
                <a:latin typeface="Meiryo" panose="020B0604030504040204" pitchFamily="50" charset="-128"/>
              </a:rPr>
              <a:t>Linux </a:t>
            </a:r>
            <a:r>
              <a:rPr kumimoji="1" lang="ja-JP" altLang="en-US" sz="1400" b="1">
                <a:solidFill>
                  <a:srgbClr val="94A3B8"/>
                </a:solidFill>
                <a:latin typeface="Meiryo" panose="020B0604030504040204" pitchFamily="50" charset="-128"/>
              </a:rPr>
              <a:t>のゼロコピーを達成
ご清聴ありがとうございました。</a:t>
            </a:r>
          </a:p>
        </p:txBody>
      </p:sp>
    </p:spTree>
    <p:extLst>
      <p:ext uri="{BB962C8B-B14F-4D97-AF65-F5344CB8AC3E}">
        <p14:creationId xmlns:p14="http://schemas.microsoft.com/office/powerpoint/2010/main" val="153155780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4960</Words>
  <Application>Microsoft Office PowerPoint</Application>
  <PresentationFormat>ユーザー設定</PresentationFormat>
  <Paragraphs>146</Paragraphs>
  <Slides>32</Slides>
  <Notes>32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32</vt:i4>
      </vt:variant>
    </vt:vector>
  </HeadingPairs>
  <TitlesOfParts>
    <vt:vector size="37" baseType="lpstr">
      <vt:lpstr>Meiryo</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床井　浩平</dc:creator>
  <cp:lastModifiedBy>床井　浩平</cp:lastModifiedBy>
  <cp:revision>1</cp:revision>
  <dcterms:created xsi:type="dcterms:W3CDTF">2026-09-21T22:44:57Z</dcterms:created>
  <dcterms:modified xsi:type="dcterms:W3CDTF">2026-09-21T22:44:57Z</dcterms:modified>
</cp:coreProperties>
</file>